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5" r:id="rId2"/>
    <p:sldId id="310" r:id="rId3"/>
    <p:sldId id="320" r:id="rId4"/>
    <p:sldId id="324" r:id="rId5"/>
    <p:sldId id="321" r:id="rId6"/>
    <p:sldId id="325" r:id="rId7"/>
    <p:sldId id="326" r:id="rId8"/>
    <p:sldId id="327" r:id="rId9"/>
    <p:sldId id="328" r:id="rId10"/>
    <p:sldId id="322" r:id="rId11"/>
    <p:sldId id="329" r:id="rId12"/>
    <p:sldId id="323" r:id="rId13"/>
    <p:sldId id="331" r:id="rId14"/>
    <p:sldId id="332" r:id="rId15"/>
    <p:sldId id="333" r:id="rId16"/>
    <p:sldId id="337" r:id="rId17"/>
    <p:sldId id="334" r:id="rId18"/>
    <p:sldId id="336" r:id="rId19"/>
    <p:sldId id="318" r:id="rId20"/>
    <p:sldId id="330" r:id="rId21"/>
  </p:sldIdLst>
  <p:sldSz cx="12188825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29" autoAdjust="0"/>
  </p:normalViewPr>
  <p:slideViewPr>
    <p:cSldViewPr showGuides="1">
      <p:cViewPr>
        <p:scale>
          <a:sx n="122" d="100"/>
          <a:sy n="122" d="100"/>
        </p:scale>
        <p:origin x="-120" y="-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10/23/2018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10/23/2018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10/23/2018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10/23/2018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10/23/2018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academiacomerciala.ro/cursuri/Management/An%20II/Managementul%20calitatii/MANAGEMENTUL%20CALITATII.pdf" TargetMode="External"/><Relationship Id="rId3" Type="http://schemas.openxmlformats.org/officeDocument/2006/relationships/hyperlink" Target="http://www.businessmanagementideas.com/management/quality-circles/quality-circles-q-c-meaning-objectives-and-benefits/6302" TargetMode="External"/><Relationship Id="rId7" Type="http://schemas.openxmlformats.org/officeDocument/2006/relationships/hyperlink" Target="https://www.coursehero.com/file/p2dl7sk/Cercurile-de-calitate-Utilizarea-cercurilor-de-calitate-pentru-muncitori/" TargetMode="External"/><Relationship Id="rId2" Type="http://schemas.openxmlformats.org/officeDocument/2006/relationships/hyperlink" Target="https://www.inc.com/encyclopedia/quality-circles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books.google.ro/books?id=-PNqDAAAQBAJ&amp;pg=PT293&amp;lpg=PT293&amp;dq=cercurile+calitatii&amp;source=bl&amp;ots=-USSGFy1Vw&amp;sig=5zij8HhcR0hIWWxY296lHUsa0Cg&amp;hl=ro&amp;sa=X&amp;ved=0ahUKEwim3ubtzcTYAhVLOpoKHb22DPQQ6AEIXTAJ#v=onepage&amp;q=cercurile%20calitatii&amp;f=false" TargetMode="External"/><Relationship Id="rId5" Type="http://schemas.openxmlformats.org/officeDocument/2006/relationships/hyperlink" Target="http://www.ghidmanagement.ro/resurse/Rolul+cercurilor+calitatii" TargetMode="External"/><Relationship Id="rId4" Type="http://schemas.openxmlformats.org/officeDocument/2006/relationships/hyperlink" Target="https://en.wikipedia.org/wiki/Quality_circle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360612" y="3387805"/>
            <a:ext cx="8229600" cy="1219200"/>
          </a:xfrm>
        </p:spPr>
        <p:txBody>
          <a:bodyPr/>
          <a:lstStyle/>
          <a:p>
            <a:r>
              <a:rPr lang="ro-RO">
                <a:latin typeface="Algerian" panose="04020705040A02060702" pitchFamily="82" charset="0"/>
              </a:rPr>
              <a:t>                         </a:t>
            </a:r>
            <a:endParaRPr lang="it-IT" dirty="0">
              <a:latin typeface="Algerian" panose="04020705040A02060702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2EFF68F-EA03-49D1-B49C-312C91D96435}"/>
              </a:ext>
            </a:extLst>
          </p:cNvPr>
          <p:cNvSpPr/>
          <p:nvPr/>
        </p:nvSpPr>
        <p:spPr>
          <a:xfrm>
            <a:off x="379412" y="1752600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b="1" spc="50" dirty="0" err="1">
                <a:ln w="9525" cmpd="sng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1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Cercuri</a:t>
            </a:r>
            <a:r>
              <a:rPr lang="en-US" sz="7200" b="1" spc="50" dirty="0">
                <a:ln w="9525" cmpd="sng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1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 de </a:t>
            </a:r>
            <a:r>
              <a:rPr lang="en-US" sz="7200" b="1" spc="50" dirty="0" err="1">
                <a:ln w="9525" cmpd="sng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1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calitate</a:t>
            </a:r>
            <a:endParaRPr lang="en-US" sz="7200" b="1" spc="50" dirty="0">
              <a:ln w="9525" cmpd="sng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10000"/>
                </a:schemeClr>
              </a:solidFill>
              <a:effectLst>
                <a:glow rad="38100">
                  <a:schemeClr val="accent1">
                    <a:alpha val="40000"/>
                  </a:schemeClr>
                </a:glow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3200" dirty="0" err="1"/>
              <a:t>Condiţiile</a:t>
            </a:r>
            <a:r>
              <a:rPr lang="fr-FR" sz="3200" dirty="0"/>
              <a:t> care au </a:t>
            </a:r>
            <a:r>
              <a:rPr lang="fr-FR" sz="3200" dirty="0" err="1"/>
              <a:t>determinat</a:t>
            </a:r>
            <a:r>
              <a:rPr lang="fr-FR" sz="3200" dirty="0"/>
              <a:t> </a:t>
            </a:r>
            <a:r>
              <a:rPr lang="fr-FR" sz="3200" dirty="0" err="1"/>
              <a:t>apariţia</a:t>
            </a:r>
            <a:r>
              <a:rPr lang="fr-FR" sz="3200" dirty="0"/>
              <a:t> </a:t>
            </a:r>
            <a:r>
              <a:rPr lang="fr-FR" sz="3200" dirty="0" err="1"/>
              <a:t>cercurilor</a:t>
            </a:r>
            <a:r>
              <a:rPr lang="fr-FR" sz="3200" dirty="0"/>
              <a:t> de </a:t>
            </a:r>
            <a:r>
              <a:rPr lang="fr-FR" sz="3200" dirty="0" err="1"/>
              <a:t>calitate</a:t>
            </a:r>
            <a:r>
              <a:rPr lang="fr-FR" sz="32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Apariţia</a:t>
            </a:r>
            <a:r>
              <a:rPr lang="en-US" sz="3200" dirty="0"/>
              <a:t> </a:t>
            </a:r>
            <a:r>
              <a:rPr lang="en-US" sz="3200" dirty="0" err="1"/>
              <a:t>cercurilor</a:t>
            </a:r>
            <a:r>
              <a:rPr lang="en-US" sz="3200" dirty="0"/>
              <a:t> de </a:t>
            </a:r>
            <a:r>
              <a:rPr lang="en-US" sz="3200" dirty="0" err="1"/>
              <a:t>calitate</a:t>
            </a:r>
            <a:r>
              <a:rPr lang="en-US" sz="32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Obiectivele</a:t>
            </a:r>
            <a:r>
              <a:rPr lang="en-US" sz="3200" dirty="0"/>
              <a:t> </a:t>
            </a:r>
            <a:r>
              <a:rPr lang="en-US" sz="3200" dirty="0" err="1"/>
              <a:t>actuale</a:t>
            </a:r>
            <a:r>
              <a:rPr lang="en-US" sz="3200" dirty="0"/>
              <a:t> </a:t>
            </a:r>
            <a:r>
              <a:rPr lang="en-US" sz="3200" dirty="0" err="1"/>
              <a:t>şi</a:t>
            </a:r>
            <a:r>
              <a:rPr lang="en-US" sz="3200" dirty="0"/>
              <a:t> </a:t>
            </a:r>
            <a:r>
              <a:rPr lang="en-US" sz="3200" dirty="0" err="1"/>
              <a:t>avantajele</a:t>
            </a:r>
            <a:r>
              <a:rPr lang="en-US" sz="3200" dirty="0"/>
              <a:t> </a:t>
            </a:r>
            <a:r>
              <a:rPr lang="en-US" sz="3200" dirty="0" err="1"/>
              <a:t>cercurilor</a:t>
            </a:r>
            <a:r>
              <a:rPr lang="en-US" sz="3200" dirty="0"/>
              <a:t> de </a:t>
            </a:r>
            <a:r>
              <a:rPr lang="en-US" sz="3200" dirty="0" err="1"/>
              <a:t>calitate</a:t>
            </a:r>
            <a:r>
              <a:rPr lang="en-US" sz="32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Calitatea</a:t>
            </a:r>
            <a:r>
              <a:rPr lang="en-US" sz="3200" dirty="0"/>
              <a:t> de </a:t>
            </a:r>
            <a:r>
              <a:rPr lang="en-US" sz="3200" dirty="0" err="1"/>
              <a:t>membru</a:t>
            </a:r>
            <a:r>
              <a:rPr lang="en-US" sz="3200" dirty="0"/>
              <a:t> </a:t>
            </a:r>
            <a:r>
              <a:rPr lang="en-US" sz="3200" dirty="0" err="1"/>
              <a:t>şi</a:t>
            </a:r>
            <a:r>
              <a:rPr lang="en-US" sz="3200" dirty="0"/>
              <a:t> </a:t>
            </a:r>
            <a:r>
              <a:rPr lang="en-US" sz="3200" dirty="0" err="1"/>
              <a:t>problematica</a:t>
            </a:r>
            <a:r>
              <a:rPr lang="en-US" sz="3200" dirty="0"/>
              <a:t> </a:t>
            </a:r>
            <a:r>
              <a:rPr lang="en-US" sz="3200" dirty="0" err="1"/>
              <a:t>actuală</a:t>
            </a:r>
            <a:r>
              <a:rPr lang="en-US" sz="3200" dirty="0"/>
              <a:t> a </a:t>
            </a:r>
            <a:r>
              <a:rPr lang="en-US" sz="3200" dirty="0" err="1"/>
              <a:t>cercurilor</a:t>
            </a:r>
            <a:r>
              <a:rPr lang="en-US" sz="3200" dirty="0"/>
              <a:t> de </a:t>
            </a:r>
            <a:r>
              <a:rPr lang="en-US" sz="3200" dirty="0" err="1"/>
              <a:t>calitate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Concluzie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Bibliografie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fr-FR" b="1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9666525-B012-4185-8E02-D9A8ED49244E}"/>
              </a:ext>
            </a:extLst>
          </p:cNvPr>
          <p:cNvSpPr/>
          <p:nvPr/>
        </p:nvSpPr>
        <p:spPr>
          <a:xfrm>
            <a:off x="1674812" y="838200"/>
            <a:ext cx="26404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Cuprins</a:t>
            </a:r>
            <a:r>
              <a:rPr lang="en-US" sz="5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793630-3073-4E86-ACDC-ECD278AB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7212" y="1143000"/>
            <a:ext cx="6551613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Peter Drucker, in </a:t>
            </a:r>
            <a:r>
              <a:rPr lang="en-US" dirty="0" err="1"/>
              <a:t>anii</a:t>
            </a:r>
            <a:r>
              <a:rPr lang="en-US" dirty="0"/>
              <a:t> 40,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care 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managementului</a:t>
            </a:r>
            <a:r>
              <a:rPr lang="en-US" dirty="0"/>
              <a:t> </a:t>
            </a:r>
            <a:r>
              <a:rPr lang="en-US" dirty="0" err="1"/>
              <a:t>consacrarea</a:t>
            </a:r>
            <a:r>
              <a:rPr lang="en-US" dirty="0"/>
              <a:t> </a:t>
            </a:r>
            <a:r>
              <a:rPr lang="en-US" dirty="0" err="1"/>
              <a:t>ştinţifică</a:t>
            </a:r>
            <a:r>
              <a:rPr lang="en-US" dirty="0"/>
              <a:t> de </a:t>
            </a:r>
            <a:r>
              <a:rPr lang="en-US" dirty="0" err="1"/>
              <a:t>azi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                 Drucker a </a:t>
            </a:r>
            <a:r>
              <a:rPr lang="en-US" dirty="0" err="1"/>
              <a:t>observat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,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salariaţii</a:t>
            </a:r>
            <a:r>
              <a:rPr lang="en-US" dirty="0"/>
              <a:t> nu </a:t>
            </a:r>
            <a:r>
              <a:rPr lang="en-US" dirty="0" err="1"/>
              <a:t>erau</a:t>
            </a:r>
            <a:r>
              <a:rPr lang="en-US" dirty="0"/>
              <a:t> </a:t>
            </a:r>
            <a:r>
              <a:rPr lang="en-US" dirty="0" err="1"/>
              <a:t>motivaţi</a:t>
            </a:r>
            <a:r>
              <a:rPr lang="en-US" dirty="0"/>
              <a:t>, nu </a:t>
            </a:r>
            <a:r>
              <a:rPr lang="en-US" dirty="0" err="1"/>
              <a:t>erau</a:t>
            </a:r>
            <a:r>
              <a:rPr lang="en-US" dirty="0"/>
              <a:t> </a:t>
            </a:r>
            <a:r>
              <a:rPr lang="en-US" dirty="0" err="1"/>
              <a:t>antrenaţi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atingerea</a:t>
            </a:r>
            <a:r>
              <a:rPr lang="en-US" dirty="0"/>
              <a:t> </a:t>
            </a:r>
            <a:r>
              <a:rPr lang="en-US" dirty="0" err="1"/>
              <a:t>obiectivelor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fundamentale</a:t>
            </a:r>
            <a:r>
              <a:rPr lang="en-US" dirty="0"/>
              <a:t> ale </a:t>
            </a:r>
            <a:r>
              <a:rPr lang="en-US" dirty="0" err="1"/>
              <a:t>companiilor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Oamenilor</a:t>
            </a:r>
            <a:r>
              <a:rPr lang="en-US" dirty="0"/>
              <a:t> nu li se </a:t>
            </a:r>
            <a:r>
              <a:rPr lang="en-US" dirty="0" err="1"/>
              <a:t>dădeau</a:t>
            </a:r>
            <a:r>
              <a:rPr lang="en-US" dirty="0"/>
              <a:t> </a:t>
            </a:r>
            <a:r>
              <a:rPr lang="en-US" dirty="0" err="1"/>
              <a:t>ţeluri</a:t>
            </a:r>
            <a:r>
              <a:rPr lang="en-US" dirty="0"/>
              <a:t> morale, nu li se </a:t>
            </a:r>
            <a:r>
              <a:rPr lang="en-US" dirty="0" err="1"/>
              <a:t>cerea</a:t>
            </a:r>
            <a:r>
              <a:rPr lang="en-US" dirty="0"/>
              <a:t> </a:t>
            </a:r>
            <a:r>
              <a:rPr lang="en-US" dirty="0" err="1"/>
              <a:t>părerea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aceştia</a:t>
            </a:r>
            <a:r>
              <a:rPr lang="en-US" dirty="0"/>
              <a:t> nu se </a:t>
            </a:r>
            <a:r>
              <a:rPr lang="en-US" dirty="0" err="1"/>
              <a:t>implicau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activitatea</a:t>
            </a:r>
            <a:r>
              <a:rPr lang="en-US" dirty="0"/>
              <a:t> </a:t>
            </a:r>
            <a:r>
              <a:rPr lang="en-US" dirty="0" err="1"/>
              <a:t>companiei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	El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care a </a:t>
            </a:r>
            <a:r>
              <a:rPr lang="en-US" dirty="0" err="1"/>
              <a:t>sugerat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management precum </a:t>
            </a:r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angajările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viaţă</a:t>
            </a:r>
            <a:r>
              <a:rPr lang="en-US" dirty="0"/>
              <a:t>, care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respinse</a:t>
            </a:r>
            <a:r>
              <a:rPr lang="en-US" dirty="0"/>
              <a:t> la </a:t>
            </a:r>
            <a:r>
              <a:rPr lang="en-US" dirty="0" err="1"/>
              <a:t>momentul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americani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preluate</a:t>
            </a:r>
            <a:r>
              <a:rPr lang="en-US" dirty="0"/>
              <a:t> cu </a:t>
            </a:r>
            <a:r>
              <a:rPr lang="en-US" dirty="0" err="1"/>
              <a:t>succes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japonezi</a:t>
            </a:r>
            <a:r>
              <a:rPr lang="en-US" dirty="0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5989515-C6AE-4813-BDE4-27CB0A963C98}"/>
              </a:ext>
            </a:extLst>
          </p:cNvPr>
          <p:cNvSpPr/>
          <p:nvPr/>
        </p:nvSpPr>
        <p:spPr>
          <a:xfrm>
            <a:off x="-27612" y="152400"/>
            <a:ext cx="122344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1.Condiţiile care au </a:t>
            </a:r>
            <a:r>
              <a:rPr lang="fr-FR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determinat</a:t>
            </a:r>
            <a:r>
              <a:rPr lang="fr-FR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r>
              <a:rPr lang="fr-FR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apariţia</a:t>
            </a:r>
            <a:r>
              <a:rPr lang="fr-FR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r>
              <a:rPr lang="fr-FR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cercurilor</a:t>
            </a:r>
            <a:r>
              <a:rPr lang="fr-FR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de </a:t>
            </a:r>
            <a:r>
              <a:rPr lang="fr-FR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calitate</a:t>
            </a:r>
            <a:r>
              <a:rPr lang="fr-FR" sz="5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lang="en-US" sz="5400" b="1" cap="none" spc="0" dirty="0">
              <a:ln w="12700" cmpd="sng">
                <a:solidFill>
                  <a:schemeClr val="tx1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A90FAFD-6573-4BDF-BF57-167D55478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0"/>
            <a:ext cx="5721658" cy="3505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8144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DC0394-C562-4110-852C-2D912410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53" y="533400"/>
            <a:ext cx="7010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După</a:t>
            </a:r>
            <a:r>
              <a:rPr lang="en-US" dirty="0"/>
              <a:t> 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Război</a:t>
            </a:r>
            <a:r>
              <a:rPr lang="en-US" dirty="0"/>
              <a:t> Mondial, </a:t>
            </a:r>
            <a:r>
              <a:rPr lang="en-US" dirty="0" err="1"/>
              <a:t>Japonia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o </a:t>
            </a:r>
            <a:r>
              <a:rPr lang="en-US" dirty="0" err="1"/>
              <a:t>economie</a:t>
            </a:r>
            <a:r>
              <a:rPr lang="en-US" dirty="0"/>
              <a:t> </a:t>
            </a:r>
            <a:r>
              <a:rPr lang="en-US" dirty="0" err="1"/>
              <a:t>funcţională</a:t>
            </a:r>
            <a:r>
              <a:rPr lang="en-US" dirty="0"/>
              <a:t>,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realizate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ţară</a:t>
            </a:r>
            <a:r>
              <a:rPr lang="en-US" dirty="0"/>
              <a:t> </a:t>
            </a:r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renumele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produse</a:t>
            </a:r>
            <a:r>
              <a:rPr lang="en-US" dirty="0"/>
              <a:t> de </a:t>
            </a:r>
            <a:r>
              <a:rPr lang="en-US" dirty="0" err="1"/>
              <a:t>proastă</a:t>
            </a:r>
            <a:r>
              <a:rPr lang="en-US" dirty="0"/>
              <a:t> </a:t>
            </a:r>
            <a:r>
              <a:rPr lang="en-US" dirty="0" err="1"/>
              <a:t>calitate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Preocuparea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schimbarea</a:t>
            </a:r>
            <a:r>
              <a:rPr lang="en-US" dirty="0"/>
              <a:t> </a:t>
            </a:r>
            <a:r>
              <a:rPr lang="en-US" dirty="0" err="1"/>
              <a:t>acestei</a:t>
            </a:r>
            <a:r>
              <a:rPr lang="en-US" dirty="0"/>
              <a:t> </a:t>
            </a:r>
            <a:r>
              <a:rPr lang="en-US" dirty="0" err="1"/>
              <a:t>imagini</a:t>
            </a:r>
            <a:r>
              <a:rPr lang="en-US" dirty="0"/>
              <a:t> a </a:t>
            </a:r>
            <a:r>
              <a:rPr lang="en-US" dirty="0" err="1"/>
              <a:t>produselor</a:t>
            </a:r>
            <a:r>
              <a:rPr lang="en-US" dirty="0"/>
              <a:t> Made </a:t>
            </a:r>
            <a:r>
              <a:rPr lang="en-US" dirty="0" err="1"/>
              <a:t>în</a:t>
            </a:r>
            <a:r>
              <a:rPr lang="en-US" dirty="0"/>
              <a:t> Japan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luată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serios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a </a:t>
            </a:r>
            <a:r>
              <a:rPr lang="en-US" dirty="0" err="1"/>
              <a:t>devenit</a:t>
            </a:r>
            <a:r>
              <a:rPr lang="en-US" dirty="0"/>
              <a:t> </a:t>
            </a:r>
            <a:r>
              <a:rPr lang="en-US" dirty="0" err="1"/>
              <a:t>preocuparea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</a:t>
            </a:r>
            <a:r>
              <a:rPr lang="en-US" dirty="0" err="1"/>
              <a:t>unu</a:t>
            </a:r>
            <a:r>
              <a:rPr lang="en-US" dirty="0"/>
              <a:t> a </a:t>
            </a:r>
            <a:r>
              <a:rPr lang="en-US" dirty="0" err="1"/>
              <a:t>industriei</a:t>
            </a:r>
            <a:r>
              <a:rPr lang="en-US" dirty="0"/>
              <a:t> </a:t>
            </a:r>
            <a:r>
              <a:rPr lang="en-US" dirty="0" err="1"/>
              <a:t>japoneze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lang="en-US" dirty="0" err="1"/>
              <a:t>Soluţia</a:t>
            </a:r>
            <a:r>
              <a:rPr lang="en-US" dirty="0"/>
              <a:t> a </a:t>
            </a:r>
            <a:r>
              <a:rPr lang="en-US" dirty="0" err="1"/>
              <a:t>venit</a:t>
            </a:r>
            <a:r>
              <a:rPr lang="en-US" dirty="0"/>
              <a:t> din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comunităţii</a:t>
            </a:r>
            <a:r>
              <a:rPr lang="en-US" dirty="0"/>
              <a:t> </a:t>
            </a:r>
            <a:r>
              <a:rPr lang="en-US" dirty="0" err="1"/>
              <a:t>ştiinţifice</a:t>
            </a:r>
            <a:r>
              <a:rPr lang="en-US" dirty="0"/>
              <a:t> care a </a:t>
            </a:r>
            <a:r>
              <a:rPr lang="en-US" dirty="0" err="1"/>
              <a:t>propus</a:t>
            </a:r>
            <a:r>
              <a:rPr lang="en-US" dirty="0"/>
              <a:t>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concepte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proceduri</a:t>
            </a:r>
            <a:r>
              <a:rPr lang="en-US" dirty="0"/>
              <a:t> </a:t>
            </a:r>
            <a:r>
              <a:rPr lang="en-US" dirty="0" err="1"/>
              <a:t>solide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demararea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acţiuni</a:t>
            </a:r>
            <a:r>
              <a:rPr lang="en-US" dirty="0"/>
              <a:t> </a:t>
            </a:r>
            <a:r>
              <a:rPr lang="en-US" dirty="0" err="1"/>
              <a:t>susţinute</a:t>
            </a:r>
            <a:r>
              <a:rPr lang="en-US" dirty="0"/>
              <a:t> de </a:t>
            </a:r>
            <a:r>
              <a:rPr lang="en-US" dirty="0" err="1"/>
              <a:t>schimbare</a:t>
            </a:r>
            <a:r>
              <a:rPr lang="en-US" dirty="0"/>
              <a:t> a </a:t>
            </a:r>
            <a:r>
              <a:rPr lang="en-US" dirty="0" err="1"/>
              <a:t>mentalităţii</a:t>
            </a:r>
            <a:r>
              <a:rPr lang="en-US" dirty="0"/>
              <a:t> </a:t>
            </a:r>
            <a:r>
              <a:rPr lang="en-US" dirty="0" err="1"/>
              <a:t>oamenilor</a:t>
            </a:r>
            <a:r>
              <a:rPr lang="en-US" dirty="0"/>
              <a:t>. </a:t>
            </a:r>
            <a:r>
              <a:rPr lang="en-US" dirty="0" err="1"/>
              <a:t>Concret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s-au </a:t>
            </a:r>
            <a:r>
              <a:rPr lang="en-US" dirty="0" err="1"/>
              <a:t>concretizat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numesc</a:t>
            </a:r>
            <a:r>
              <a:rPr lang="en-US" dirty="0"/>
              <a:t> </a:t>
            </a:r>
            <a:r>
              <a:rPr lang="en-US" i="1" u="sng" dirty="0" err="1"/>
              <a:t>cercuri</a:t>
            </a:r>
            <a:r>
              <a:rPr lang="en-US" i="1" u="sng" dirty="0"/>
              <a:t> de </a:t>
            </a:r>
            <a:r>
              <a:rPr lang="en-US" i="1" u="sng" dirty="0" err="1"/>
              <a:t>calitate</a:t>
            </a:r>
            <a:r>
              <a:rPr lang="en-US" i="1" u="sng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474011B-8B88-4445-876B-EDAB045B7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612" y="914400"/>
            <a:ext cx="4724400" cy="4267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1134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DEEB37-2467-43B4-ACE5-B48FC313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828800"/>
            <a:ext cx="624840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b="1" dirty="0"/>
              <a:t>	</a:t>
            </a:r>
            <a:r>
              <a:rPr lang="en-US" b="1" dirty="0"/>
              <a:t>Kaoru Ishikawa (1915 -1989) </a:t>
            </a:r>
            <a:r>
              <a:rPr lang="ro-RO" dirty="0"/>
              <a:t>- </a:t>
            </a:r>
            <a:r>
              <a:rPr lang="en-US" dirty="0"/>
              <a:t>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părintele</a:t>
            </a:r>
            <a:r>
              <a:rPr lang="en-US" dirty="0"/>
              <a:t> </a:t>
            </a:r>
            <a:r>
              <a:rPr lang="en-US" dirty="0" err="1"/>
              <a:t>cercurilor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.</a:t>
            </a:r>
          </a:p>
          <a:p>
            <a:r>
              <a:rPr lang="ro-RO" dirty="0"/>
              <a:t>Î</a:t>
            </a:r>
            <a:r>
              <a:rPr lang="en-US" dirty="0"/>
              <a:t>n 1962 a </a:t>
            </a:r>
            <a:r>
              <a:rPr lang="en-US" dirty="0" err="1"/>
              <a:t>înfiinţat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cerc</a:t>
            </a:r>
            <a:r>
              <a:rPr lang="en-US" dirty="0"/>
              <a:t> la Nippon Telegraph and Telephone Public Corporation. </a:t>
            </a:r>
            <a:endParaRPr lang="ro-RO" dirty="0"/>
          </a:p>
          <a:p>
            <a:r>
              <a:rPr lang="en-US" dirty="0" err="1"/>
              <a:t>Apărute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industria</a:t>
            </a:r>
            <a:r>
              <a:rPr lang="en-US" dirty="0"/>
              <a:t> </a:t>
            </a:r>
            <a:r>
              <a:rPr lang="en-US" dirty="0" err="1"/>
              <a:t>japoneză</a:t>
            </a:r>
            <a:r>
              <a:rPr lang="en-US" dirty="0"/>
              <a:t>, </a:t>
            </a:r>
            <a:r>
              <a:rPr lang="en-US" dirty="0" err="1"/>
              <a:t>acestea</a:t>
            </a:r>
            <a:r>
              <a:rPr lang="en-US" dirty="0"/>
              <a:t> s-au </a:t>
            </a:r>
            <a:r>
              <a:rPr lang="en-US" dirty="0" err="1"/>
              <a:t>răspândit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la </a:t>
            </a:r>
            <a:r>
              <a:rPr lang="en-US" dirty="0" err="1"/>
              <a:t>bănci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comercianţi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exportate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întreaga</a:t>
            </a:r>
            <a:r>
              <a:rPr lang="en-US" dirty="0"/>
              <a:t> </a:t>
            </a:r>
            <a:r>
              <a:rPr lang="en-US" dirty="0" err="1"/>
              <a:t>lume</a:t>
            </a:r>
            <a:r>
              <a:rPr lang="ro-RO" dirty="0"/>
              <a:t>.</a:t>
            </a:r>
          </a:p>
          <a:p>
            <a:r>
              <a:rPr lang="en-US" dirty="0"/>
              <a:t>Natura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acestor</a:t>
            </a:r>
            <a:r>
              <a:rPr lang="en-US" dirty="0"/>
              <a:t> </a:t>
            </a:r>
            <a:r>
              <a:rPr lang="en-US" dirty="0" err="1"/>
              <a:t>cercuri</a:t>
            </a:r>
            <a:r>
              <a:rPr lang="en-US" dirty="0"/>
              <a:t> ale </a:t>
            </a:r>
            <a:r>
              <a:rPr lang="en-US" dirty="0" err="1"/>
              <a:t>calităţii</a:t>
            </a:r>
            <a:r>
              <a:rPr lang="en-US" dirty="0"/>
              <a:t> </a:t>
            </a:r>
            <a:r>
              <a:rPr lang="en-US" dirty="0" err="1"/>
              <a:t>diferă</a:t>
            </a:r>
            <a:r>
              <a:rPr lang="en-US" dirty="0"/>
              <a:t> de la o </a:t>
            </a:r>
            <a:r>
              <a:rPr lang="en-US" dirty="0" err="1"/>
              <a:t>organizaţie</a:t>
            </a:r>
            <a:r>
              <a:rPr lang="en-US" dirty="0"/>
              <a:t> la </a:t>
            </a:r>
            <a:r>
              <a:rPr lang="en-US" dirty="0" err="1"/>
              <a:t>alta.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EFBC918-8E38-4668-80E5-89C464075DF1}"/>
              </a:ext>
            </a:extLst>
          </p:cNvPr>
          <p:cNvSpPr/>
          <p:nvPr/>
        </p:nvSpPr>
        <p:spPr>
          <a:xfrm>
            <a:off x="1370012" y="304800"/>
            <a:ext cx="70791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2.Apariţia </a:t>
            </a:r>
            <a:r>
              <a:rPr lang="en-US" sz="40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cercurilor</a:t>
            </a:r>
            <a:r>
              <a:rPr lang="en-US" sz="40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de </a:t>
            </a:r>
            <a:r>
              <a:rPr lang="en-US" sz="40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calitate</a:t>
            </a:r>
            <a:r>
              <a:rPr lang="en-US" sz="40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784103D-F4A2-43B1-88C4-6D8A5B47D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212" y="1219200"/>
            <a:ext cx="4572000" cy="457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4069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A94F4F-C936-481F-A371-1189DAB73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12" y="152400"/>
            <a:ext cx="11201400" cy="2590801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	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Japonia</a:t>
            </a:r>
            <a:r>
              <a:rPr lang="en-US" dirty="0"/>
              <a:t>, un </a:t>
            </a:r>
            <a:r>
              <a:rPr lang="en-US" dirty="0" err="1"/>
              <a:t>cerc</a:t>
            </a:r>
            <a:r>
              <a:rPr lang="en-US" dirty="0"/>
              <a:t> al </a:t>
            </a:r>
            <a:r>
              <a:rPr lang="en-US" dirty="0" err="1"/>
              <a:t>calităţii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format din 5-10 </a:t>
            </a:r>
            <a:r>
              <a:rPr lang="en-US" dirty="0" err="1"/>
              <a:t>voluntari</a:t>
            </a:r>
            <a:r>
              <a:rPr lang="en-US" dirty="0"/>
              <a:t> din </a:t>
            </a:r>
            <a:r>
              <a:rPr lang="en-US" dirty="0" err="1"/>
              <a:t>acelaşi</a:t>
            </a:r>
            <a:r>
              <a:rPr lang="en-US" dirty="0"/>
              <a:t> atelier, care se </a:t>
            </a:r>
            <a:r>
              <a:rPr lang="en-US" dirty="0" err="1"/>
              <a:t>întrunesc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</a:t>
            </a:r>
            <a:r>
              <a:rPr lang="en-US" dirty="0" err="1"/>
              <a:t>regulat</a:t>
            </a:r>
            <a:r>
              <a:rPr lang="en-US" dirty="0"/>
              <a:t>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coordonaţi</a:t>
            </a:r>
            <a:r>
              <a:rPr lang="en-US" dirty="0"/>
              <a:t> de un </a:t>
            </a:r>
            <a:r>
              <a:rPr lang="en-US" dirty="0" err="1"/>
              <a:t>maistru</a:t>
            </a:r>
            <a:r>
              <a:rPr lang="en-US" dirty="0"/>
              <a:t>, </a:t>
            </a:r>
            <a:r>
              <a:rPr lang="en-US" dirty="0" err="1"/>
              <a:t>maistru</a:t>
            </a:r>
            <a:r>
              <a:rPr lang="en-US" dirty="0"/>
              <a:t> </a:t>
            </a:r>
            <a:r>
              <a:rPr lang="en-US" dirty="0" err="1"/>
              <a:t>ajutor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chi</a:t>
            </a:r>
            <a:r>
              <a:rPr lang="pt-BR" dirty="0"/>
              <a:t>ar de unul din muncitori</a:t>
            </a:r>
            <a:r>
              <a:rPr lang="ro-RO" dirty="0"/>
              <a:t> și</a:t>
            </a:r>
            <a:r>
              <a:rPr lang="it-IT" dirty="0"/>
              <a:t> îşi propun să rezolve orice problemă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real</a:t>
            </a:r>
            <a:r>
              <a:rPr lang="ro-RO" dirty="0"/>
              <a:t>ă.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 err="1"/>
              <a:t>Odată</a:t>
            </a:r>
            <a:r>
              <a:rPr lang="en-US" dirty="0"/>
              <a:t> </a:t>
            </a:r>
            <a:r>
              <a:rPr lang="en-US" dirty="0" err="1"/>
              <a:t>acceptată</a:t>
            </a:r>
            <a:r>
              <a:rPr lang="en-US" dirty="0"/>
              <a:t> o </a:t>
            </a:r>
            <a:r>
              <a:rPr lang="en-US" dirty="0" err="1"/>
              <a:t>soluţie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era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aplicată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, </a:t>
            </a:r>
            <a:r>
              <a:rPr lang="en-US" dirty="0" err="1"/>
              <a:t>beneficiind</a:t>
            </a:r>
            <a:r>
              <a:rPr lang="en-US" dirty="0"/>
              <a:t> de </a:t>
            </a:r>
            <a:r>
              <a:rPr lang="en-US" dirty="0" err="1"/>
              <a:t>sprijinul</a:t>
            </a:r>
            <a:r>
              <a:rPr lang="en-US" dirty="0"/>
              <a:t> </a:t>
            </a:r>
            <a:r>
              <a:rPr lang="en-US" dirty="0" err="1"/>
              <a:t>managementului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CF8634-F43F-4E0A-9DE7-50DD8087F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12" y="2133601"/>
            <a:ext cx="8534400" cy="4724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672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443279-E515-4A09-B700-5B4C0CE8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2" y="1371600"/>
            <a:ext cx="5334000" cy="5867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Obiectivele</a:t>
            </a:r>
            <a:r>
              <a:rPr lang="en-US" dirty="0"/>
              <a:t> </a:t>
            </a:r>
            <a:r>
              <a:rPr lang="en-US" dirty="0" err="1"/>
              <a:t>iniţiale</a:t>
            </a:r>
            <a:r>
              <a:rPr lang="en-US" dirty="0"/>
              <a:t> ale </a:t>
            </a:r>
            <a:r>
              <a:rPr lang="en-US" dirty="0" err="1"/>
              <a:t>cercurilor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: </a:t>
            </a:r>
            <a:endParaRPr lang="ro-RO" dirty="0"/>
          </a:p>
          <a:p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contribuie</a:t>
            </a:r>
            <a:r>
              <a:rPr lang="en-US" dirty="0"/>
              <a:t> la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întreprinderii</a:t>
            </a:r>
            <a:endParaRPr lang="ro-RO" dirty="0"/>
          </a:p>
          <a:p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respecte</a:t>
            </a:r>
            <a:r>
              <a:rPr lang="en-US" dirty="0"/>
              <a:t> </a:t>
            </a:r>
            <a:r>
              <a:rPr lang="en-US" dirty="0" err="1"/>
              <a:t>relaţiile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dezvolte</a:t>
            </a:r>
            <a:r>
              <a:rPr lang="en-US" dirty="0"/>
              <a:t> un </a:t>
            </a:r>
            <a:r>
              <a:rPr lang="en-US" dirty="0" err="1"/>
              <a:t>mediu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satisfacţii</a:t>
            </a:r>
            <a:r>
              <a:rPr lang="en-US" dirty="0"/>
              <a:t> ale </a:t>
            </a:r>
            <a:r>
              <a:rPr lang="en-US" dirty="0" err="1"/>
              <a:t>slujbei</a:t>
            </a:r>
            <a:endParaRPr lang="ro-RO" dirty="0"/>
          </a:p>
          <a:p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instaleze</a:t>
            </a:r>
            <a:r>
              <a:rPr lang="en-US" dirty="0"/>
              <a:t> </a:t>
            </a:r>
            <a:r>
              <a:rPr lang="en-US" dirty="0" err="1"/>
              <a:t>capabilităţile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din </a:t>
            </a:r>
            <a:r>
              <a:rPr lang="en-US" dirty="0" err="1"/>
              <a:t>plin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folosească</a:t>
            </a:r>
            <a:r>
              <a:rPr lang="en-US" dirty="0"/>
              <a:t> </a:t>
            </a:r>
            <a:r>
              <a:rPr lang="en-US" dirty="0" err="1"/>
              <a:t>potenţialul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infinit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8C6C066-D95F-4661-B0BF-443FF0A11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12" y="1752600"/>
            <a:ext cx="6057900" cy="36703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75092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109F241E-D926-4B82-8BB0-5899F281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685800"/>
            <a:ext cx="7924799" cy="5334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dirty="0"/>
              <a:t>	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politică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a </a:t>
            </a:r>
            <a:r>
              <a:rPr lang="en-US" dirty="0" err="1"/>
              <a:t>devenit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scurt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un mod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o </a:t>
            </a:r>
            <a:r>
              <a:rPr lang="en-US" dirty="0" err="1"/>
              <a:t>filozofie</a:t>
            </a:r>
            <a:r>
              <a:rPr lang="en-US" dirty="0"/>
              <a:t> de </a:t>
            </a:r>
            <a:r>
              <a:rPr lang="en-US" dirty="0" err="1"/>
              <a:t>viaţă</a:t>
            </a:r>
            <a:r>
              <a:rPr lang="en-US" dirty="0"/>
              <a:t>, </a:t>
            </a:r>
            <a:r>
              <a:rPr lang="en-US" dirty="0" err="1"/>
              <a:t>cucerind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en-US" dirty="0"/>
              <a:t> </a:t>
            </a:r>
            <a:r>
              <a:rPr lang="en-US" dirty="0" err="1"/>
              <a:t>întreaga</a:t>
            </a:r>
            <a:r>
              <a:rPr lang="en-US" dirty="0"/>
              <a:t> </a:t>
            </a:r>
            <a:r>
              <a:rPr lang="en-US" dirty="0" err="1"/>
              <a:t>economie</a:t>
            </a:r>
            <a:r>
              <a:rPr lang="en-US" dirty="0"/>
              <a:t> </a:t>
            </a:r>
            <a:r>
              <a:rPr lang="en-US" dirty="0" err="1"/>
              <a:t>japoneză</a:t>
            </a:r>
            <a:r>
              <a:rPr lang="en-US" dirty="0"/>
              <a:t>.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/>
              <a:t> </a:t>
            </a:r>
            <a:r>
              <a:rPr lang="en-US" dirty="0" err="1"/>
              <a:t>Noutatea</a:t>
            </a:r>
            <a:r>
              <a:rPr lang="en-US" dirty="0"/>
              <a:t> </a:t>
            </a:r>
            <a:r>
              <a:rPr lang="en-US" dirty="0" err="1"/>
              <a:t>adusă</a:t>
            </a:r>
            <a:r>
              <a:rPr lang="en-US" dirty="0"/>
              <a:t> de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cercuri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era </a:t>
            </a:r>
            <a:r>
              <a:rPr lang="en-US" dirty="0" err="1"/>
              <a:t>aceea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problemele</a:t>
            </a:r>
            <a:r>
              <a:rPr lang="en-US" dirty="0"/>
              <a:t> </a:t>
            </a:r>
            <a:r>
              <a:rPr lang="en-US" dirty="0" err="1"/>
              <a:t>erau</a:t>
            </a:r>
            <a:r>
              <a:rPr lang="en-US" dirty="0"/>
              <a:t> </a:t>
            </a:r>
            <a:r>
              <a:rPr lang="en-US" dirty="0" err="1"/>
              <a:t>discutate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care se </a:t>
            </a:r>
            <a:r>
              <a:rPr lang="en-US" dirty="0" err="1"/>
              <a:t>confruntau</a:t>
            </a:r>
            <a:r>
              <a:rPr lang="en-US" dirty="0"/>
              <a:t> direct cu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care </a:t>
            </a:r>
            <a:r>
              <a:rPr lang="en-US" dirty="0" err="1"/>
              <a:t>erau</a:t>
            </a:r>
            <a:r>
              <a:rPr lang="en-US" dirty="0"/>
              <a:t> implicit </a:t>
            </a:r>
            <a:r>
              <a:rPr lang="en-US" dirty="0" err="1"/>
              <a:t>investiţi</a:t>
            </a:r>
            <a:r>
              <a:rPr lang="en-US" dirty="0"/>
              <a:t> cu </a:t>
            </a:r>
            <a:r>
              <a:rPr lang="en-US" dirty="0" err="1"/>
              <a:t>autoritatea</a:t>
            </a:r>
            <a:r>
              <a:rPr lang="en-US" dirty="0"/>
              <a:t> </a:t>
            </a:r>
            <a:r>
              <a:rPr lang="en-US" dirty="0" err="1"/>
              <a:t>morală</a:t>
            </a:r>
            <a:r>
              <a:rPr lang="en-US" dirty="0"/>
              <a:t> de a le </a:t>
            </a:r>
            <a:r>
              <a:rPr lang="en-US" dirty="0" err="1"/>
              <a:t>rezolva</a:t>
            </a:r>
            <a:r>
              <a:rPr lang="en-US" dirty="0"/>
              <a:t>.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en-US" dirty="0"/>
              <a:t> s-a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voie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care </a:t>
            </a:r>
            <a:r>
              <a:rPr lang="en-US" dirty="0" err="1"/>
              <a:t>muncesc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relaţie</a:t>
            </a:r>
            <a:r>
              <a:rPr lang="en-US" dirty="0"/>
              <a:t> </a:t>
            </a:r>
            <a:r>
              <a:rPr lang="en-US" dirty="0" err="1"/>
              <a:t>directă</a:t>
            </a:r>
            <a:r>
              <a:rPr lang="en-US" dirty="0"/>
              <a:t> cu </a:t>
            </a:r>
            <a:r>
              <a:rPr lang="en-US" dirty="0" err="1"/>
              <a:t>maşinil</a:t>
            </a:r>
            <a:r>
              <a:rPr lang="ro-RO" dirty="0"/>
              <a:t>e,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îşi</a:t>
            </a:r>
            <a:r>
              <a:rPr lang="en-US" dirty="0"/>
              <a:t> </a:t>
            </a:r>
            <a:r>
              <a:rPr lang="en-US" dirty="0" err="1"/>
              <a:t>spună</a:t>
            </a:r>
            <a:r>
              <a:rPr lang="en-US" dirty="0"/>
              <a:t> </a:t>
            </a:r>
            <a:r>
              <a:rPr lang="en-US" dirty="0" err="1"/>
              <a:t>opinia</a:t>
            </a:r>
            <a:r>
              <a:rPr lang="en-US" dirty="0"/>
              <a:t>,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rezolve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, </a:t>
            </a:r>
            <a:r>
              <a:rPr lang="en-US" dirty="0" err="1"/>
              <a:t>acelor</a:t>
            </a:r>
            <a:r>
              <a:rPr lang="en-US" dirty="0"/>
              <a:t> </a:t>
            </a:r>
            <a:r>
              <a:rPr lang="en-US" dirty="0" err="1"/>
              <a:t>oameni</a:t>
            </a:r>
            <a:r>
              <a:rPr lang="en-US" dirty="0"/>
              <a:t> </a:t>
            </a:r>
            <a:r>
              <a:rPr lang="en-US" dirty="0" err="1"/>
              <a:t>cărora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general nu li se </a:t>
            </a:r>
            <a:r>
              <a:rPr lang="en-US" dirty="0" err="1"/>
              <a:t>acorda</a:t>
            </a:r>
            <a:r>
              <a:rPr lang="en-US" dirty="0"/>
              <a:t> </a:t>
            </a:r>
            <a:r>
              <a:rPr lang="en-US" dirty="0" err="1"/>
              <a:t>atenţie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nimeni</a:t>
            </a:r>
            <a:r>
              <a:rPr lang="en-US" dirty="0"/>
              <a:t> nu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ca </a:t>
            </a:r>
            <a:r>
              <a:rPr lang="en-US" dirty="0" err="1"/>
              <a:t>specialişti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muncă</a:t>
            </a:r>
            <a:r>
              <a:rPr lang="en-US" dirty="0"/>
              <a:t>. </a:t>
            </a:r>
            <a:r>
              <a:rPr lang="ro-RO" dirty="0"/>
              <a:t>	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preocuparea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propriul</a:t>
            </a:r>
            <a:r>
              <a:rPr lang="en-US" dirty="0"/>
              <a:t> </a:t>
            </a:r>
            <a:r>
              <a:rPr lang="en-US" dirty="0" err="1"/>
              <a:t>spaţiu</a:t>
            </a:r>
            <a:r>
              <a:rPr lang="en-US" dirty="0"/>
              <a:t> de </a:t>
            </a:r>
            <a:r>
              <a:rPr lang="en-US" dirty="0" err="1"/>
              <a:t>muncă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muncitor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responsabilizat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relaţie</a:t>
            </a:r>
            <a:r>
              <a:rPr lang="en-US" dirty="0"/>
              <a:t> cu </a:t>
            </a:r>
            <a:r>
              <a:rPr lang="en-US" dirty="0" err="1"/>
              <a:t>produsul</a:t>
            </a:r>
            <a:r>
              <a:rPr lang="en-US" dirty="0"/>
              <a:t> final,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ro-RO" dirty="0"/>
              <a:t>el </a:t>
            </a:r>
            <a:r>
              <a:rPr lang="en-US" dirty="0"/>
              <a:t>a </a:t>
            </a:r>
            <a:r>
              <a:rPr lang="en-US" dirty="0" err="1"/>
              <a:t>devenit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un </a:t>
            </a:r>
            <a:r>
              <a:rPr lang="en-US" dirty="0" err="1"/>
              <a:t>controlor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al </a:t>
            </a:r>
            <a:r>
              <a:rPr lang="en-US" dirty="0" err="1"/>
              <a:t>propriei</a:t>
            </a:r>
            <a:r>
              <a:rPr lang="en-US" dirty="0"/>
              <a:t> </a:t>
            </a:r>
            <a:r>
              <a:rPr lang="en-US" dirty="0" err="1"/>
              <a:t>secvenţe</a:t>
            </a:r>
            <a:r>
              <a:rPr lang="en-US" dirty="0"/>
              <a:t> productive.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7850B82-C7ED-4D1E-9CD9-9FF22E84D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275" y="990600"/>
            <a:ext cx="3638550" cy="36614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7830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4D95BAD9-78B2-4AA4-97B0-7CD6F268A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304800"/>
            <a:ext cx="9134391" cy="41148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ro-RO" dirty="0"/>
              <a:t>	</a:t>
            </a:r>
            <a:r>
              <a:rPr lang="en-US" dirty="0" err="1"/>
              <a:t>Succesul</a:t>
            </a:r>
            <a:r>
              <a:rPr lang="en-US" dirty="0"/>
              <a:t> </a:t>
            </a:r>
            <a:r>
              <a:rPr lang="en-US" dirty="0" err="1"/>
              <a:t>acestor</a:t>
            </a:r>
            <a:r>
              <a:rPr lang="en-US" dirty="0"/>
              <a:t> </a:t>
            </a:r>
            <a:r>
              <a:rPr lang="en-US" dirty="0" err="1"/>
              <a:t>cercuri</a:t>
            </a:r>
            <a:r>
              <a:rPr lang="en-US" dirty="0"/>
              <a:t> ale </a:t>
            </a:r>
            <a:r>
              <a:rPr lang="en-US" dirty="0" err="1"/>
              <a:t>calit</a:t>
            </a:r>
            <a:r>
              <a:rPr lang="ro-RO" dirty="0"/>
              <a:t>ăț</a:t>
            </a:r>
            <a:r>
              <a:rPr lang="en-US" dirty="0"/>
              <a:t>ii din </a:t>
            </a:r>
            <a:r>
              <a:rPr lang="en-US" dirty="0" err="1"/>
              <a:t>Japonia</a:t>
            </a:r>
            <a:r>
              <a:rPr lang="en-US" dirty="0"/>
              <a:t> au </a:t>
            </a:r>
            <a:r>
              <a:rPr lang="en-US" dirty="0" err="1"/>
              <a:t>avut</a:t>
            </a:r>
            <a:r>
              <a:rPr lang="en-US" dirty="0"/>
              <a:t> </a:t>
            </a:r>
            <a:r>
              <a:rPr lang="en-US" dirty="0" err="1"/>
              <a:t>ecou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lumea</a:t>
            </a:r>
            <a:r>
              <a:rPr lang="en-US" dirty="0"/>
              <a:t> occidental</a:t>
            </a:r>
            <a:r>
              <a:rPr lang="ro-RO" dirty="0"/>
              <a:t>ă</a:t>
            </a:r>
            <a:r>
              <a:rPr lang="en-US" dirty="0"/>
              <a:t>. Cur</a:t>
            </a:r>
            <a:r>
              <a:rPr lang="ro-RO" dirty="0"/>
              <a:t>â</a:t>
            </a:r>
            <a:r>
              <a:rPr lang="en-US" dirty="0" err="1"/>
              <a:t>nd</a:t>
            </a:r>
            <a:r>
              <a:rPr lang="en-US" dirty="0"/>
              <a:t> s-au </a:t>
            </a:r>
            <a:r>
              <a:rPr lang="en-US" dirty="0" err="1"/>
              <a:t>ridicat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, ca de </a:t>
            </a:r>
            <a:r>
              <a:rPr lang="en-US" dirty="0" err="1"/>
              <a:t>exemplu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    De cate </a:t>
            </a:r>
            <a:r>
              <a:rPr lang="en-US" dirty="0" err="1"/>
              <a:t>ori</a:t>
            </a:r>
            <a:r>
              <a:rPr lang="en-US" dirty="0"/>
              <a:t> se </a:t>
            </a:r>
            <a:r>
              <a:rPr lang="en-US" dirty="0" err="1"/>
              <a:t>reunesc</a:t>
            </a:r>
            <a:r>
              <a:rPr lang="en-US" dirty="0"/>
              <a:t>? (o data </a:t>
            </a:r>
            <a:r>
              <a:rPr lang="en-US" dirty="0" err="1"/>
              <a:t>pe</a:t>
            </a:r>
            <a:r>
              <a:rPr lang="en-US" dirty="0"/>
              <a:t> s</a:t>
            </a:r>
            <a:r>
              <a:rPr lang="ro-RO" dirty="0"/>
              <a:t>ă</a:t>
            </a:r>
            <a:r>
              <a:rPr lang="en-US" dirty="0" err="1"/>
              <a:t>pt</a:t>
            </a:r>
            <a:r>
              <a:rPr lang="ro-RO" dirty="0"/>
              <a:t>ă</a:t>
            </a:r>
            <a:r>
              <a:rPr lang="en-US" dirty="0"/>
              <a:t>m</a:t>
            </a:r>
            <a:r>
              <a:rPr lang="ro-RO" dirty="0"/>
              <a:t>â</a:t>
            </a:r>
            <a:r>
              <a:rPr lang="en-US" dirty="0"/>
              <a:t>n</a:t>
            </a:r>
            <a:r>
              <a:rPr lang="ro-RO" dirty="0"/>
              <a:t>ă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-    C</a:t>
            </a:r>
            <a:r>
              <a:rPr lang="ro-RO" dirty="0"/>
              <a:t>â</a:t>
            </a:r>
            <a:r>
              <a:rPr lang="en-US" dirty="0"/>
              <a:t>t </a:t>
            </a:r>
            <a:r>
              <a:rPr lang="en-US" dirty="0" err="1"/>
              <a:t>dureaza</a:t>
            </a:r>
            <a:r>
              <a:rPr lang="en-US" dirty="0"/>
              <a:t> o </a:t>
            </a:r>
            <a:r>
              <a:rPr lang="en-US" dirty="0" err="1"/>
              <a:t>reuniune</a:t>
            </a:r>
            <a:r>
              <a:rPr lang="en-US" dirty="0"/>
              <a:t>? ( in </a:t>
            </a:r>
            <a:r>
              <a:rPr lang="en-US" dirty="0" err="1"/>
              <a:t>jur</a:t>
            </a:r>
            <a:r>
              <a:rPr lang="en-US" dirty="0"/>
              <a:t> de 1 or</a:t>
            </a:r>
            <a:r>
              <a:rPr lang="ro-RO" dirty="0"/>
              <a:t>ă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    </a:t>
            </a:r>
            <a:r>
              <a:rPr lang="en-US" dirty="0" err="1"/>
              <a:t>Reuniunea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organizat</a:t>
            </a:r>
            <a:r>
              <a:rPr lang="ro-RO" dirty="0"/>
              <a:t>ă</a:t>
            </a:r>
            <a:r>
              <a:rPr lang="en-US" dirty="0"/>
              <a:t> in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programului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? (da)</a:t>
            </a:r>
            <a:br>
              <a:rPr lang="en-US" dirty="0"/>
            </a:br>
            <a:r>
              <a:rPr lang="en-US" dirty="0"/>
              <a:t>-    Cum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renumera</a:t>
            </a:r>
            <a:r>
              <a:rPr lang="ro-RO" dirty="0"/>
              <a:t>ț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</a:t>
            </a:r>
            <a:r>
              <a:rPr lang="en-US" dirty="0" err="1"/>
              <a:t>cercului</a:t>
            </a:r>
            <a:r>
              <a:rPr lang="en-US" dirty="0"/>
              <a:t> </a:t>
            </a:r>
            <a:r>
              <a:rPr lang="en-US" dirty="0" err="1"/>
              <a:t>calit</a:t>
            </a:r>
            <a:r>
              <a:rPr lang="ro-RO" dirty="0"/>
              <a:t>ăț</a:t>
            </a:r>
            <a:r>
              <a:rPr lang="en-US" dirty="0"/>
              <a:t>ii? (</a:t>
            </a:r>
            <a:r>
              <a:rPr lang="en-US" dirty="0" err="1"/>
              <a:t>salariul</a:t>
            </a:r>
            <a:r>
              <a:rPr lang="en-US" dirty="0"/>
              <a:t> normal)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59D4EC9-5063-4916-BFA9-C5702B11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812" y="2819400"/>
            <a:ext cx="5219700" cy="3914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985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C94054-5D6B-40FF-8817-6DA558C80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2" y="1295400"/>
            <a:ext cx="9134391" cy="4114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b="1" u="sng" dirty="0" err="1"/>
              <a:t>obiectivele</a:t>
            </a:r>
            <a:r>
              <a:rPr lang="en-US" dirty="0"/>
              <a:t> </a:t>
            </a:r>
            <a:r>
              <a:rPr lang="en-US" dirty="0" err="1"/>
              <a:t>urmărite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menţionăm</a:t>
            </a:r>
            <a:r>
              <a:rPr lang="en-US" dirty="0"/>
              <a:t>: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un program </a:t>
            </a:r>
            <a:r>
              <a:rPr lang="en-US" dirty="0" err="1"/>
              <a:t>direcţionat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oameni</a:t>
            </a:r>
            <a:r>
              <a:rPr lang="en-US" dirty="0"/>
              <a:t> are ca </a:t>
            </a:r>
            <a:r>
              <a:rPr lang="en-US" dirty="0" err="1"/>
              <a:t>obiectiv</a:t>
            </a:r>
            <a:r>
              <a:rPr lang="en-US" dirty="0"/>
              <a:t> </a:t>
            </a:r>
            <a:r>
              <a:rPr lang="en-US" dirty="0" err="1"/>
              <a:t>prioritar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relaţiilor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comunicării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indivizi</a:t>
            </a:r>
            <a:r>
              <a:rPr lang="en-US" dirty="0"/>
              <a:t>.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conştientizează</a:t>
            </a:r>
            <a:r>
              <a:rPr lang="en-US" dirty="0"/>
              <a:t> </a:t>
            </a:r>
            <a:r>
              <a:rPr lang="en-US" dirty="0" err="1"/>
              <a:t>muncitorilor</a:t>
            </a:r>
            <a:r>
              <a:rPr lang="en-US" dirty="0"/>
              <a:t> </a:t>
            </a:r>
            <a:r>
              <a:rPr lang="en-US" dirty="0" err="1"/>
              <a:t>responsabilităţile</a:t>
            </a:r>
            <a:r>
              <a:rPr lang="en-US" dirty="0"/>
              <a:t> care le </a:t>
            </a:r>
            <a:r>
              <a:rPr lang="en-US" dirty="0" err="1"/>
              <a:t>revin</a:t>
            </a:r>
            <a:r>
              <a:rPr lang="en-US" dirty="0"/>
              <a:t> </a:t>
            </a:r>
            <a:r>
              <a:rPr lang="en-US" dirty="0" err="1"/>
              <a:t>faţă</a:t>
            </a:r>
            <a:r>
              <a:rPr lang="en-US" dirty="0"/>
              <a:t> de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producţiei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realizate</a:t>
            </a:r>
            <a:r>
              <a:rPr lang="en-US" dirty="0"/>
              <a:t>.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creează</a:t>
            </a:r>
            <a:r>
              <a:rPr lang="en-US" dirty="0"/>
              <a:t> un </a:t>
            </a:r>
            <a:r>
              <a:rPr lang="en-US" dirty="0" err="1"/>
              <a:t>cadru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ideile</a:t>
            </a:r>
            <a:r>
              <a:rPr lang="en-US" dirty="0"/>
              <a:t> </a:t>
            </a:r>
            <a:r>
              <a:rPr lang="en-US" dirty="0" err="1"/>
              <a:t>vizând</a:t>
            </a:r>
            <a:r>
              <a:rPr lang="en-US" dirty="0"/>
              <a:t> </a:t>
            </a:r>
            <a:r>
              <a:rPr lang="en-US" dirty="0" err="1"/>
              <a:t>ameliorările</a:t>
            </a:r>
            <a:r>
              <a:rPr lang="en-US" dirty="0"/>
              <a:t> pot fi </a:t>
            </a:r>
            <a:r>
              <a:rPr lang="en-US" dirty="0" err="1"/>
              <a:t>enunţate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materializate</a:t>
            </a:r>
            <a:r>
              <a:rPr lang="en-US" dirty="0"/>
              <a:t>.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dezvoltă</a:t>
            </a:r>
            <a:r>
              <a:rPr lang="en-US" dirty="0"/>
              <a:t> la </a:t>
            </a:r>
            <a:r>
              <a:rPr lang="en-US" dirty="0" err="1"/>
              <a:t>muncitori</a:t>
            </a:r>
            <a:r>
              <a:rPr lang="en-US" dirty="0"/>
              <a:t> </a:t>
            </a:r>
            <a:r>
              <a:rPr lang="en-US" dirty="0" err="1"/>
              <a:t>aptitudinile</a:t>
            </a:r>
            <a:r>
              <a:rPr lang="en-US" dirty="0"/>
              <a:t> de </a:t>
            </a:r>
            <a:r>
              <a:rPr lang="en-US" dirty="0" err="1"/>
              <a:t>comandament</a:t>
            </a:r>
            <a:r>
              <a:rPr lang="en-US" dirty="0"/>
              <a:t> interior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responsabilizează</a:t>
            </a:r>
            <a:r>
              <a:rPr lang="en-US" dirty="0"/>
              <a:t> </a:t>
            </a:r>
            <a:r>
              <a:rPr lang="en-US" dirty="0" err="1"/>
              <a:t>faţă</a:t>
            </a:r>
            <a:r>
              <a:rPr lang="en-US" dirty="0"/>
              <a:t> de </a:t>
            </a:r>
            <a:r>
              <a:rPr lang="en-US" dirty="0" err="1"/>
              <a:t>întreprindere</a:t>
            </a:r>
            <a:r>
              <a:rPr lang="en-US" dirty="0"/>
              <a:t>.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dezvoltă</a:t>
            </a:r>
            <a:r>
              <a:rPr lang="en-US" dirty="0"/>
              <a:t> </a:t>
            </a:r>
            <a:r>
              <a:rPr lang="en-US" dirty="0" err="1"/>
              <a:t>aptitudini</a:t>
            </a:r>
            <a:r>
              <a:rPr lang="en-US" dirty="0"/>
              <a:t> de instructor care pot fi </a:t>
            </a:r>
            <a:r>
              <a:rPr lang="en-US" dirty="0" err="1"/>
              <a:t>valorificate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colectivele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, </a:t>
            </a:r>
            <a:r>
              <a:rPr lang="en-US" dirty="0" err="1"/>
              <a:t>măsurând</a:t>
            </a:r>
            <a:r>
              <a:rPr lang="en-US" dirty="0"/>
              <a:t> </a:t>
            </a:r>
            <a:r>
              <a:rPr lang="en-US" dirty="0" err="1"/>
              <a:t>productivitatea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6C71131-4D11-4BE6-9F8E-639AED5738F1}"/>
              </a:ext>
            </a:extLst>
          </p:cNvPr>
          <p:cNvSpPr/>
          <p:nvPr/>
        </p:nvSpPr>
        <p:spPr>
          <a:xfrm>
            <a:off x="505419" y="381000"/>
            <a:ext cx="111683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3.Obiectivele </a:t>
            </a:r>
            <a:r>
              <a:rPr lang="en-US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actuale</a:t>
            </a:r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n-US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şi</a:t>
            </a:r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n-US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avantajele</a:t>
            </a:r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n-US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cercurilor</a:t>
            </a:r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de </a:t>
            </a:r>
            <a:r>
              <a:rPr lang="en-US" sz="36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calitate</a:t>
            </a:r>
            <a:r>
              <a:rPr lang="en-US" sz="36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243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E5BDD5-17B4-4A65-93A0-C43746EA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5" y="304800"/>
            <a:ext cx="12038013" cy="6096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b="1" dirty="0"/>
              <a:t>	</a:t>
            </a:r>
            <a:r>
              <a:rPr lang="en-US" b="1" u="sng" dirty="0" err="1"/>
              <a:t>Avantajele</a:t>
            </a:r>
            <a:r>
              <a:rPr lang="en-US" b="1" u="sng" dirty="0"/>
              <a:t> </a:t>
            </a:r>
            <a:r>
              <a:rPr lang="en-US" dirty="0" err="1"/>
              <a:t>cercurilor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multiple: </a:t>
            </a:r>
            <a:endParaRPr lang="ro-RO" dirty="0"/>
          </a:p>
          <a:p>
            <a:r>
              <a:rPr lang="en-US" dirty="0"/>
              <a:t>se </a:t>
            </a:r>
            <a:r>
              <a:rPr lang="en-US" dirty="0" err="1"/>
              <a:t>realizează</a:t>
            </a:r>
            <a:r>
              <a:rPr lang="en-US" dirty="0"/>
              <a:t> un </a:t>
            </a:r>
            <a:r>
              <a:rPr lang="en-US" dirty="0" err="1"/>
              <a:t>climat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muncitori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muncitori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direcţiune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înţelegeri</a:t>
            </a:r>
            <a:r>
              <a:rPr lang="en-US" dirty="0"/>
              <a:t> </a:t>
            </a:r>
            <a:r>
              <a:rPr lang="en-US" dirty="0" err="1"/>
              <a:t>mutuale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colaborări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/>
              <a:t> se </a:t>
            </a:r>
            <a:r>
              <a:rPr lang="en-US" dirty="0" err="1"/>
              <a:t>creează</a:t>
            </a:r>
            <a:r>
              <a:rPr lang="en-US" dirty="0"/>
              <a:t> o stare de spirit </a:t>
            </a:r>
            <a:r>
              <a:rPr lang="en-US" dirty="0" err="1"/>
              <a:t>propice</a:t>
            </a:r>
            <a:r>
              <a:rPr lang="en-US" dirty="0"/>
              <a:t> </a:t>
            </a:r>
            <a:r>
              <a:rPr lang="en-US" dirty="0" err="1"/>
              <a:t>implicării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activităţile</a:t>
            </a:r>
            <a:r>
              <a:rPr lang="en-US" dirty="0"/>
              <a:t> </a:t>
            </a:r>
            <a:r>
              <a:rPr lang="en-US" dirty="0" err="1"/>
              <a:t>decizionale</a:t>
            </a:r>
            <a:r>
              <a:rPr lang="en-US" dirty="0"/>
              <a:t>, se </a:t>
            </a:r>
            <a:r>
              <a:rPr lang="en-US" dirty="0" err="1"/>
              <a:t>realizează</a:t>
            </a:r>
            <a:r>
              <a:rPr lang="en-US" dirty="0"/>
              <a:t> un </a:t>
            </a:r>
            <a:r>
              <a:rPr lang="en-US" dirty="0" err="1"/>
              <a:t>cadru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părerile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ascultate</a:t>
            </a:r>
            <a:r>
              <a:rPr lang="en-US" dirty="0"/>
              <a:t> </a:t>
            </a:r>
            <a:r>
              <a:rPr lang="en-US" dirty="0" err="1"/>
              <a:t>dând</a:t>
            </a:r>
            <a:r>
              <a:rPr lang="en-US" dirty="0"/>
              <a:t> </a:t>
            </a:r>
            <a:r>
              <a:rPr lang="en-US" dirty="0" err="1"/>
              <a:t>importanţă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 </a:t>
            </a:r>
            <a:r>
              <a:rPr lang="en-US" dirty="0" err="1"/>
              <a:t>depuse</a:t>
            </a:r>
            <a:endParaRPr lang="ro-RO" dirty="0"/>
          </a:p>
          <a:p>
            <a:r>
              <a:rPr lang="en-US" dirty="0" err="1"/>
              <a:t>operatorii</a:t>
            </a:r>
            <a:r>
              <a:rPr lang="en-US" dirty="0"/>
              <a:t> au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cunoaşte</a:t>
            </a:r>
            <a:r>
              <a:rPr lang="en-US" dirty="0"/>
              <a:t> </a:t>
            </a:r>
            <a:r>
              <a:rPr lang="en-US" dirty="0" err="1"/>
              <a:t>problemele</a:t>
            </a:r>
            <a:r>
              <a:rPr lang="en-US" dirty="0"/>
              <a:t> legate de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, </a:t>
            </a:r>
            <a:r>
              <a:rPr lang="en-US" dirty="0" err="1"/>
              <a:t>consecinţele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implică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/>
              <a:t>se </a:t>
            </a:r>
            <a:r>
              <a:rPr lang="en-US" dirty="0" err="1"/>
              <a:t>creează</a:t>
            </a:r>
            <a:r>
              <a:rPr lang="en-US" dirty="0"/>
              <a:t> un </a:t>
            </a:r>
            <a:r>
              <a:rPr lang="en-US" dirty="0" err="1"/>
              <a:t>cadru</a:t>
            </a:r>
            <a:r>
              <a:rPr lang="en-US" dirty="0"/>
              <a:t> de </a:t>
            </a:r>
            <a:r>
              <a:rPr lang="en-US" dirty="0" err="1"/>
              <a:t>cooperare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întrajutorare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 err="1"/>
              <a:t>creează</a:t>
            </a:r>
            <a:r>
              <a:rPr lang="en-US" dirty="0"/>
              <a:t> un </a:t>
            </a:r>
            <a:r>
              <a:rPr lang="en-US" dirty="0" err="1"/>
              <a:t>climat</a:t>
            </a:r>
            <a:r>
              <a:rPr lang="en-US" dirty="0"/>
              <a:t> de </a:t>
            </a:r>
            <a:r>
              <a:rPr lang="en-US" dirty="0" err="1"/>
              <a:t>încredere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operatori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maiştri</a:t>
            </a:r>
            <a:r>
              <a:rPr lang="en-US" dirty="0"/>
              <a:t> care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bază</a:t>
            </a:r>
            <a:r>
              <a:rPr lang="en-US" dirty="0"/>
              <a:t> </a:t>
            </a:r>
            <a:r>
              <a:rPr lang="en-US" dirty="0" err="1"/>
              <a:t>stabilă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de </a:t>
            </a:r>
            <a:r>
              <a:rPr lang="en-US" dirty="0" err="1"/>
              <a:t>perfecţionare</a:t>
            </a:r>
            <a:r>
              <a:rPr lang="en-US" dirty="0"/>
              <a:t> de </a:t>
            </a:r>
            <a:r>
              <a:rPr lang="en-US" dirty="0" err="1"/>
              <a:t>lungă</a:t>
            </a:r>
            <a:r>
              <a:rPr lang="en-US" dirty="0"/>
              <a:t> </a:t>
            </a:r>
            <a:r>
              <a:rPr lang="en-US" dirty="0" err="1"/>
              <a:t>durată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au o </a:t>
            </a:r>
            <a:r>
              <a:rPr lang="en-US" dirty="0" err="1"/>
              <a:t>influenţă</a:t>
            </a:r>
            <a:r>
              <a:rPr lang="en-US" dirty="0"/>
              <a:t> </a:t>
            </a:r>
            <a:r>
              <a:rPr lang="en-US" dirty="0" err="1"/>
              <a:t>pozitivă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dinamicii</a:t>
            </a:r>
            <a:r>
              <a:rPr lang="en-US" dirty="0"/>
              <a:t> </a:t>
            </a:r>
            <a:r>
              <a:rPr lang="en-US" dirty="0" err="1"/>
              <a:t>productivităţii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,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măsură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optimizeze</a:t>
            </a:r>
            <a:r>
              <a:rPr lang="en-US" dirty="0"/>
              <a:t> </a:t>
            </a:r>
            <a:r>
              <a:rPr lang="en-US" dirty="0" err="1"/>
              <a:t>tehnologia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de </a:t>
            </a:r>
            <a:r>
              <a:rPr lang="en-US" dirty="0" err="1"/>
              <a:t>muncă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metodă</a:t>
            </a:r>
            <a:r>
              <a:rPr lang="en-US" dirty="0"/>
              <a:t> de </a:t>
            </a:r>
            <a:r>
              <a:rPr lang="en-US" dirty="0" err="1"/>
              <a:t>combatere</a:t>
            </a:r>
            <a:r>
              <a:rPr lang="en-US" dirty="0"/>
              <a:t> a </a:t>
            </a:r>
            <a:r>
              <a:rPr lang="en-US" dirty="0" err="1"/>
              <a:t>absenteismului</a:t>
            </a:r>
            <a:r>
              <a:rPr lang="en-US" dirty="0"/>
              <a:t>, </a:t>
            </a:r>
            <a:r>
              <a:rPr lang="en-US" dirty="0" err="1"/>
              <a:t>implicând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responsabilizând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perfecţionarea</a:t>
            </a:r>
            <a:r>
              <a:rPr lang="en-US" dirty="0"/>
              <a:t> </a:t>
            </a:r>
            <a:r>
              <a:rPr lang="en-US" dirty="0" err="1"/>
              <a:t>calităţii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. .  </a:t>
            </a:r>
          </a:p>
        </p:txBody>
      </p:sp>
    </p:spTree>
    <p:extLst>
      <p:ext uri="{BB962C8B-B14F-4D97-AF65-F5344CB8AC3E}">
        <p14:creationId xmlns:p14="http://schemas.microsoft.com/office/powerpoint/2010/main" val="103943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F60155-56DA-4E9C-9A54-B18E3301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104900"/>
            <a:ext cx="6400800" cy="47244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64CBEB-8E3A-470E-9DA8-1FD660D9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3" y="1028699"/>
            <a:ext cx="5867400" cy="48006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o-RO" b="1" dirty="0"/>
              <a:t>	</a:t>
            </a:r>
            <a:r>
              <a:rPr lang="en-US" b="1" dirty="0"/>
              <a:t>Ce</a:t>
            </a:r>
            <a:r>
              <a:rPr lang="ro-RO" b="1" dirty="0"/>
              <a:t> îi</a:t>
            </a:r>
            <a:r>
              <a:rPr lang="en-US" b="1" dirty="0"/>
              <a:t> </a:t>
            </a:r>
            <a:r>
              <a:rPr lang="en-US" b="1" dirty="0" err="1"/>
              <a:t>revine</a:t>
            </a:r>
            <a:r>
              <a:rPr lang="en-US" b="1" dirty="0"/>
              <a:t>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membru</a:t>
            </a:r>
            <a:r>
              <a:rPr lang="en-US" b="1" dirty="0"/>
              <a:t> al </a:t>
            </a:r>
            <a:r>
              <a:rPr lang="en-US" b="1" dirty="0" err="1"/>
              <a:t>cercului</a:t>
            </a:r>
            <a:r>
              <a:rPr lang="en-US" b="1" dirty="0"/>
              <a:t> de </a:t>
            </a:r>
            <a:r>
              <a:rPr lang="en-US" b="1" dirty="0" err="1"/>
              <a:t>calitate</a:t>
            </a:r>
            <a:r>
              <a:rPr lang="en-US" b="1" dirty="0"/>
              <a:t>?</a:t>
            </a:r>
            <a:endParaRPr lang="ro-RO" b="1" dirty="0"/>
          </a:p>
          <a:p>
            <a:r>
              <a:rPr lang="en-US" dirty="0" err="1"/>
              <a:t>satisfacţia</a:t>
            </a:r>
            <a:r>
              <a:rPr lang="en-US" dirty="0"/>
              <a:t> de a </a:t>
            </a:r>
            <a:r>
              <a:rPr lang="en-US" dirty="0" err="1"/>
              <a:t>lucra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echipă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se </a:t>
            </a:r>
            <a:r>
              <a:rPr lang="en-US" dirty="0" err="1"/>
              <a:t>recunoaşte</a:t>
            </a:r>
            <a:r>
              <a:rPr lang="en-US" dirty="0"/>
              <a:t> </a:t>
            </a:r>
            <a:r>
              <a:rPr lang="en-US" dirty="0" err="1"/>
              <a:t>capabilitatea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de a </a:t>
            </a:r>
            <a:r>
              <a:rPr lang="en-US" dirty="0" err="1"/>
              <a:t>participa</a:t>
            </a:r>
            <a:r>
              <a:rPr lang="en-US" dirty="0"/>
              <a:t> la </a:t>
            </a:r>
            <a:r>
              <a:rPr lang="en-US" dirty="0" err="1"/>
              <a:t>adoptarea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ro-RO" dirty="0"/>
              <a:t> </a:t>
            </a:r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ro-RO" dirty="0"/>
              <a:t>importante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colectivul</a:t>
            </a:r>
            <a:r>
              <a:rPr lang="en-US" dirty="0"/>
              <a:t> de </a:t>
            </a:r>
            <a:r>
              <a:rPr lang="en-US" dirty="0" err="1"/>
              <a:t>muncă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 err="1"/>
              <a:t>mulţumirea</a:t>
            </a:r>
            <a:r>
              <a:rPr lang="en-US" dirty="0"/>
              <a:t> de a fi </a:t>
            </a:r>
            <a:r>
              <a:rPr lang="en-US" dirty="0" err="1"/>
              <a:t>recunoscut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întreaga</a:t>
            </a:r>
            <a:r>
              <a:rPr lang="en-US" dirty="0"/>
              <a:t> </a:t>
            </a:r>
            <a:r>
              <a:rPr lang="en-US" dirty="0" err="1"/>
              <a:t>echipă</a:t>
            </a:r>
            <a:r>
              <a:rPr lang="en-US" dirty="0"/>
              <a:t> a </a:t>
            </a:r>
            <a:r>
              <a:rPr lang="en-US" dirty="0" err="1"/>
              <a:t>cercului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motivată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susţinută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aprecierile</a:t>
            </a:r>
            <a:r>
              <a:rPr lang="en-US" dirty="0"/>
              <a:t> </a:t>
            </a:r>
            <a:r>
              <a:rPr lang="en-US" dirty="0" err="1"/>
              <a:t>pozitive</a:t>
            </a:r>
            <a:r>
              <a:rPr lang="en-US" dirty="0"/>
              <a:t> ale </a:t>
            </a:r>
            <a:r>
              <a:rPr lang="en-US" dirty="0" err="1"/>
              <a:t>directorilor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celorlalţi</a:t>
            </a:r>
            <a:r>
              <a:rPr lang="en-US" dirty="0"/>
              <a:t> </a:t>
            </a:r>
            <a:r>
              <a:rPr lang="en-US" dirty="0" err="1"/>
              <a:t>conducători</a:t>
            </a:r>
            <a:r>
              <a:rPr lang="en-US" dirty="0"/>
              <a:t>. </a:t>
            </a:r>
            <a:endParaRPr lang="ro-RO" dirty="0"/>
          </a:p>
          <a:p>
            <a:r>
              <a:rPr lang="ro-RO" dirty="0"/>
              <a:t> </a:t>
            </a:r>
            <a:r>
              <a:rPr lang="en-US" dirty="0" err="1"/>
              <a:t>recompensele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sub </a:t>
            </a:r>
            <a:r>
              <a:rPr lang="en-US" dirty="0" err="1"/>
              <a:t>formă</a:t>
            </a:r>
            <a:r>
              <a:rPr lang="en-US" dirty="0"/>
              <a:t> de </a:t>
            </a:r>
            <a:r>
              <a:rPr lang="en-US" dirty="0" err="1"/>
              <a:t>premii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susţinerea</a:t>
            </a:r>
            <a:r>
              <a:rPr lang="en-US" dirty="0"/>
              <a:t> </a:t>
            </a:r>
            <a:r>
              <a:rPr lang="en-US" dirty="0" err="1"/>
              <a:t>materială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simpozioane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întâlniri</a:t>
            </a:r>
            <a:r>
              <a:rPr lang="en-US" dirty="0"/>
              <a:t> de </a:t>
            </a:r>
            <a:r>
              <a:rPr lang="en-US" dirty="0" err="1"/>
              <a:t>lucru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9E7E79-55CC-4E98-8578-78375966B476}"/>
              </a:ext>
            </a:extLst>
          </p:cNvPr>
          <p:cNvSpPr/>
          <p:nvPr/>
        </p:nvSpPr>
        <p:spPr>
          <a:xfrm>
            <a:off x="-116578" y="381000"/>
            <a:ext cx="1241237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4.Calitatea de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membru</a:t>
            </a:r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şi</a:t>
            </a:r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problematica</a:t>
            </a:r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actuală</a:t>
            </a:r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a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cercurilor</a:t>
            </a:r>
            <a:r>
              <a:rPr lang="en-US" sz="32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de </a:t>
            </a:r>
            <a:r>
              <a:rPr lang="en-US" sz="3200" b="1" cap="none" spc="0" dirty="0" err="1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calitate</a:t>
            </a:r>
            <a:endParaRPr lang="en-US" sz="3200" b="1" cap="none" spc="0" dirty="0">
              <a:ln w="12700" cmpd="sng">
                <a:solidFill>
                  <a:schemeClr val="tx1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485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0F93A854-8F2D-4864-9906-E14C2EDC3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52400"/>
            <a:ext cx="9134391" cy="6705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	</a:t>
            </a:r>
            <a:r>
              <a:rPr lang="en-US" dirty="0"/>
              <a:t>O </a:t>
            </a:r>
            <a:r>
              <a:rPr lang="en-US" dirty="0" err="1"/>
              <a:t>statistică</a:t>
            </a:r>
            <a:r>
              <a:rPr lang="en-US" dirty="0"/>
              <a:t> </a:t>
            </a:r>
            <a:r>
              <a:rPr lang="en-US" dirty="0" err="1"/>
              <a:t>realizată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Japonia</a:t>
            </a:r>
            <a:r>
              <a:rPr lang="en-US" dirty="0"/>
              <a:t> </a:t>
            </a:r>
            <a:r>
              <a:rPr lang="ro-RO" dirty="0"/>
              <a:t>(</a:t>
            </a:r>
            <a:r>
              <a:rPr lang="en-US" dirty="0"/>
              <a:t>Courtois, 2001</a:t>
            </a:r>
            <a:r>
              <a:rPr lang="ro-RO" dirty="0"/>
              <a:t>)</a:t>
            </a:r>
            <a:r>
              <a:rPr lang="en-US" dirty="0"/>
              <a:t> </a:t>
            </a:r>
            <a:r>
              <a:rPr lang="en-US" dirty="0" err="1"/>
              <a:t>evidenţiază</a:t>
            </a:r>
            <a:r>
              <a:rPr lang="en-US" dirty="0"/>
              <a:t> </a:t>
            </a:r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dezbătute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:</a:t>
            </a:r>
            <a:endParaRPr lang="ro-RO" dirty="0"/>
          </a:p>
          <a:p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: 42%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preţul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: 22%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eficacitatea</a:t>
            </a:r>
            <a:r>
              <a:rPr lang="en-US" dirty="0"/>
              <a:t> </a:t>
            </a:r>
            <a:r>
              <a:rPr lang="en-US" dirty="0" err="1"/>
              <a:t>întreprinderii</a:t>
            </a:r>
            <a:r>
              <a:rPr lang="en-US" dirty="0"/>
              <a:t>: 9%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infrastructură</a:t>
            </a:r>
            <a:r>
              <a:rPr lang="en-US" dirty="0"/>
              <a:t>: 7%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controlul</a:t>
            </a:r>
            <a:r>
              <a:rPr lang="en-US" dirty="0"/>
              <a:t> operational: 7%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: 5% </a:t>
            </a:r>
            <a:endParaRPr lang="ro-RO" dirty="0"/>
          </a:p>
          <a:p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: 5%</a:t>
            </a:r>
            <a:endParaRPr lang="ro-RO" dirty="0"/>
          </a:p>
          <a:p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starea</a:t>
            </a:r>
            <a:r>
              <a:rPr lang="en-US" dirty="0"/>
              <a:t> de spirit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echipă</a:t>
            </a:r>
            <a:r>
              <a:rPr lang="en-US" dirty="0"/>
              <a:t>: 4%</a:t>
            </a:r>
            <a:endParaRPr lang="ro-RO" dirty="0"/>
          </a:p>
          <a:p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legate de </a:t>
            </a:r>
            <a:r>
              <a:rPr lang="en-US" dirty="0" err="1"/>
              <a:t>conducători</a:t>
            </a:r>
            <a:r>
              <a:rPr lang="en-US" dirty="0"/>
              <a:t>: 4% </a:t>
            </a:r>
            <a:endParaRPr lang="ro-RO" dirty="0"/>
          </a:p>
          <a:p>
            <a:r>
              <a:rPr lang="en-US" dirty="0" err="1"/>
              <a:t>Altele</a:t>
            </a:r>
            <a:r>
              <a:rPr lang="en-US" dirty="0"/>
              <a:t>: 4%</a:t>
            </a:r>
          </a:p>
        </p:txBody>
      </p:sp>
    </p:spTree>
    <p:extLst>
      <p:ext uri="{BB962C8B-B14F-4D97-AF65-F5344CB8AC3E}">
        <p14:creationId xmlns:p14="http://schemas.microsoft.com/office/powerpoint/2010/main" val="85902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9E506545-F3AA-4B2F-ABE7-01F5BF2CB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698500"/>
            <a:ext cx="11277599" cy="213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instrumente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de </a:t>
            </a:r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a)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celei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urgente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momentul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- se </a:t>
            </a:r>
            <a:r>
              <a:rPr lang="en-US" dirty="0" err="1"/>
              <a:t>utilizează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creative de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brainstormingului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16C43BC-0604-4D90-8AE6-BD9B0572B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12" y="2667000"/>
            <a:ext cx="7848600" cy="3492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63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65A95E-62FD-4304-8256-CF56690A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04800"/>
            <a:ext cx="9525000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cercul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se </a:t>
            </a:r>
            <a:r>
              <a:rPr lang="en-US" dirty="0" err="1"/>
              <a:t>utilizează</a:t>
            </a:r>
            <a:r>
              <a:rPr lang="en-US" dirty="0"/>
              <a:t> date </a:t>
            </a:r>
            <a:r>
              <a:rPr lang="en-US" dirty="0" err="1"/>
              <a:t>sistematizate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investigare</a:t>
            </a:r>
            <a:r>
              <a:rPr lang="en-US" dirty="0"/>
              <a:t> </a:t>
            </a:r>
            <a:r>
              <a:rPr lang="en-US" dirty="0" err="1"/>
              <a:t>mnemotehnică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cauză</a:t>
            </a:r>
            <a:r>
              <a:rPr lang="en-US" dirty="0"/>
              <a:t> </a:t>
            </a:r>
            <a:r>
              <a:rPr lang="en-US" dirty="0" err="1"/>
              <a:t>efect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Pareto; </a:t>
            </a:r>
          </a:p>
          <a:p>
            <a:pPr lvl="1"/>
            <a:r>
              <a:rPr lang="en-US" dirty="0" err="1"/>
              <a:t>foi</a:t>
            </a:r>
            <a:r>
              <a:rPr lang="en-US" dirty="0"/>
              <a:t> de </a:t>
            </a:r>
            <a:r>
              <a:rPr lang="en-US" dirty="0" err="1"/>
              <a:t>analiză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histograme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diagrame</a:t>
            </a:r>
            <a:r>
              <a:rPr lang="en-US" dirty="0"/>
              <a:t> de </a:t>
            </a:r>
            <a:r>
              <a:rPr lang="en-US" dirty="0" err="1"/>
              <a:t>dispersii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fişe</a:t>
            </a:r>
            <a:r>
              <a:rPr lang="en-US" dirty="0"/>
              <a:t> de control; </a:t>
            </a:r>
          </a:p>
          <a:p>
            <a:pPr lvl="1"/>
            <a:r>
              <a:rPr lang="en-US" dirty="0" err="1"/>
              <a:t>experimentarea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eşantionarea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8AC40D-362A-459D-8496-84BA19635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353" y="1828800"/>
            <a:ext cx="6489459" cy="39474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2874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E32784D8-D6C0-480C-9B02-46D7D48C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57200"/>
            <a:ext cx="9134391" cy="548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soluţiei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se </a:t>
            </a:r>
            <a:r>
              <a:rPr lang="en-US" dirty="0" err="1"/>
              <a:t>utilizează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diagrama</a:t>
            </a:r>
            <a:r>
              <a:rPr lang="en-US" dirty="0"/>
              <a:t> Pareto; </a:t>
            </a:r>
          </a:p>
          <a:p>
            <a:pPr lvl="1"/>
            <a:r>
              <a:rPr lang="en-US" dirty="0" err="1"/>
              <a:t>fişe</a:t>
            </a:r>
            <a:r>
              <a:rPr lang="en-US" dirty="0"/>
              <a:t> de control; </a:t>
            </a:r>
          </a:p>
          <a:p>
            <a:pPr lvl="1"/>
            <a:r>
              <a:rPr lang="en-US" dirty="0" err="1"/>
              <a:t>eşantionarea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prezentarea</a:t>
            </a:r>
            <a:r>
              <a:rPr lang="en-US" dirty="0"/>
              <a:t> </a:t>
            </a:r>
            <a:r>
              <a:rPr lang="en-US" dirty="0" err="1"/>
              <a:t>raportului</a:t>
            </a:r>
            <a:r>
              <a:rPr lang="en-US" dirty="0"/>
              <a:t> la </a:t>
            </a:r>
            <a:r>
              <a:rPr lang="en-US" dirty="0" err="1"/>
              <a:t>direcţiune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histograma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diagrama</a:t>
            </a:r>
            <a:r>
              <a:rPr lang="en-US" dirty="0"/>
              <a:t> Pareto; </a:t>
            </a:r>
          </a:p>
          <a:p>
            <a:pPr lvl="1"/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dispersii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grafice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cauză-efect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E5BECC6-1B95-42D3-88B9-000C7DCDD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12" y="2895600"/>
            <a:ext cx="6457950" cy="37077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702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65A95E-62FD-4304-8256-CF56690A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685800"/>
            <a:ext cx="99060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Cercurile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pot </a:t>
            </a:r>
            <a:r>
              <a:rPr lang="en-US" dirty="0" err="1"/>
              <a:t>cunoaşte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eşecuri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ales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condiţiile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care: </a:t>
            </a:r>
          </a:p>
          <a:p>
            <a:r>
              <a:rPr lang="en-US" dirty="0" err="1"/>
              <a:t>acţiunile</a:t>
            </a:r>
            <a:r>
              <a:rPr lang="en-US" dirty="0"/>
              <a:t> </a:t>
            </a:r>
            <a:r>
              <a:rPr lang="en-US" dirty="0" err="1"/>
              <a:t>demarate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susţinute</a:t>
            </a:r>
            <a:r>
              <a:rPr lang="en-US" dirty="0"/>
              <a:t> de </a:t>
            </a:r>
            <a:r>
              <a:rPr lang="en-US" dirty="0" err="1"/>
              <a:t>executiv</a:t>
            </a:r>
            <a:r>
              <a:rPr lang="en-US" dirty="0"/>
              <a:t>;</a:t>
            </a:r>
          </a:p>
          <a:p>
            <a:r>
              <a:rPr lang="en-US" dirty="0" err="1"/>
              <a:t>responsabilii</a:t>
            </a:r>
            <a:r>
              <a:rPr lang="en-US" dirty="0"/>
              <a:t> </a:t>
            </a:r>
            <a:r>
              <a:rPr lang="en-US" dirty="0" err="1"/>
              <a:t>cercurilor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nu au </a:t>
            </a:r>
            <a:r>
              <a:rPr lang="en-US" dirty="0" err="1"/>
              <a:t>aptitudinile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formarea</a:t>
            </a:r>
            <a:r>
              <a:rPr lang="en-US" dirty="0"/>
              <a:t> </a:t>
            </a:r>
            <a:r>
              <a:rPr lang="en-US" dirty="0" err="1"/>
              <a:t>necesară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conducător</a:t>
            </a:r>
            <a:r>
              <a:rPr lang="en-US" dirty="0"/>
              <a:t> de </a:t>
            </a:r>
            <a:r>
              <a:rPr lang="en-US" dirty="0" err="1"/>
              <a:t>grup</a:t>
            </a:r>
            <a:r>
              <a:rPr lang="en-US" dirty="0"/>
              <a:t>; </a:t>
            </a:r>
          </a:p>
          <a:p>
            <a:r>
              <a:rPr lang="en-US" dirty="0" err="1"/>
              <a:t>obiectivele</a:t>
            </a:r>
            <a:r>
              <a:rPr lang="en-US" dirty="0"/>
              <a:t> </a:t>
            </a:r>
            <a:r>
              <a:rPr lang="en-US" dirty="0" err="1"/>
              <a:t>propuse</a:t>
            </a:r>
            <a:r>
              <a:rPr lang="en-US" dirty="0"/>
              <a:t> 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realiste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obţinute</a:t>
            </a:r>
            <a:r>
              <a:rPr lang="en-US" dirty="0"/>
              <a:t> nu se </a:t>
            </a:r>
            <a:r>
              <a:rPr lang="en-US" dirty="0" err="1"/>
              <a:t>încadrează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optim</a:t>
            </a:r>
            <a:r>
              <a:rPr lang="en-US" dirty="0"/>
              <a:t>; </a:t>
            </a:r>
          </a:p>
          <a:p>
            <a:r>
              <a:rPr lang="en-US" dirty="0"/>
              <a:t>se </a:t>
            </a:r>
            <a:r>
              <a:rPr lang="en-US" dirty="0" err="1"/>
              <a:t>abordează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nelegate</a:t>
            </a:r>
            <a:r>
              <a:rPr lang="en-US" dirty="0"/>
              <a:t> de </a:t>
            </a:r>
            <a:r>
              <a:rPr lang="en-US" dirty="0" err="1"/>
              <a:t>munca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</a:t>
            </a:r>
            <a:r>
              <a:rPr lang="en-US" dirty="0" err="1"/>
              <a:t>cercului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; </a:t>
            </a:r>
          </a:p>
          <a:p>
            <a:r>
              <a:rPr lang="en-US" dirty="0"/>
              <a:t>nu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corespunzător</a:t>
            </a:r>
            <a:r>
              <a:rPr lang="en-US" dirty="0"/>
              <a:t> </a:t>
            </a:r>
            <a:r>
              <a:rPr lang="en-US" dirty="0" err="1"/>
              <a:t>ideile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soluţiile</a:t>
            </a:r>
            <a:r>
              <a:rPr lang="en-US" dirty="0"/>
              <a:t> </a:t>
            </a:r>
            <a:r>
              <a:rPr lang="en-US" dirty="0" err="1"/>
              <a:t>propuse</a:t>
            </a:r>
            <a:r>
              <a:rPr lang="en-US" dirty="0"/>
              <a:t>; </a:t>
            </a:r>
          </a:p>
          <a:p>
            <a:r>
              <a:rPr lang="en-US" dirty="0" err="1"/>
              <a:t>absenţa</a:t>
            </a:r>
            <a:r>
              <a:rPr lang="en-US" dirty="0"/>
              <a:t> </a:t>
            </a:r>
            <a:r>
              <a:rPr lang="en-US" dirty="0" err="1"/>
              <a:t>recunoaşterii</a:t>
            </a:r>
            <a:r>
              <a:rPr lang="en-US" dirty="0"/>
              <a:t> </a:t>
            </a:r>
            <a:r>
              <a:rPr lang="en-US" dirty="0" err="1"/>
              <a:t>meritelor</a:t>
            </a:r>
            <a:r>
              <a:rPr lang="en-US" dirty="0"/>
              <a:t> </a:t>
            </a:r>
            <a:r>
              <a:rPr lang="en-US" dirty="0" err="1"/>
              <a:t>cercului</a:t>
            </a:r>
            <a:r>
              <a:rPr lang="en-US" dirty="0"/>
              <a:t>; </a:t>
            </a:r>
          </a:p>
          <a:p>
            <a:r>
              <a:rPr lang="en-US" dirty="0" err="1"/>
              <a:t>existenţa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organisme</a:t>
            </a:r>
            <a:r>
              <a:rPr lang="en-US" dirty="0"/>
              <a:t> care </a:t>
            </a:r>
            <a:r>
              <a:rPr lang="en-US" dirty="0" err="1"/>
              <a:t>neagă</a:t>
            </a:r>
            <a:r>
              <a:rPr lang="en-US" dirty="0"/>
              <a:t> </a:t>
            </a:r>
            <a:r>
              <a:rPr lang="en-US" dirty="0" err="1"/>
              <a:t>eficienţa</a:t>
            </a:r>
            <a:r>
              <a:rPr lang="en-US" dirty="0"/>
              <a:t> </a:t>
            </a:r>
            <a:r>
              <a:rPr lang="en-US" dirty="0" err="1"/>
              <a:t>cercurilor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874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5F81A3-92A4-4B87-9B6C-CCB23803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75730"/>
            <a:ext cx="11049000" cy="578153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ro-RO" dirty="0"/>
          </a:p>
          <a:p>
            <a:r>
              <a:rPr lang="ro-RO" sz="5500" dirty="0"/>
              <a:t>C</a:t>
            </a:r>
            <a:r>
              <a:rPr lang="en-US" sz="5500" dirty="0" err="1"/>
              <a:t>ercurile</a:t>
            </a:r>
            <a:r>
              <a:rPr lang="en-US" sz="5500" dirty="0"/>
              <a:t> de </a:t>
            </a:r>
            <a:r>
              <a:rPr lang="en-US" sz="5500" dirty="0" err="1"/>
              <a:t>calitate</a:t>
            </a:r>
            <a:r>
              <a:rPr lang="en-US" sz="5500" dirty="0"/>
              <a:t> nu se </a:t>
            </a:r>
            <a:r>
              <a:rPr lang="en-US" sz="5500" dirty="0" err="1"/>
              <a:t>limitează</a:t>
            </a:r>
            <a:r>
              <a:rPr lang="en-US" sz="5500" dirty="0"/>
              <a:t> </a:t>
            </a:r>
            <a:r>
              <a:rPr lang="en-US" sz="5500" dirty="0" err="1"/>
              <a:t>doar</a:t>
            </a:r>
            <a:r>
              <a:rPr lang="en-US" sz="5500" dirty="0"/>
              <a:t> la </a:t>
            </a:r>
            <a:r>
              <a:rPr lang="en-US" sz="5500" dirty="0" err="1"/>
              <a:t>firmele</a:t>
            </a:r>
            <a:r>
              <a:rPr lang="en-US" sz="5500" dirty="0"/>
              <a:t> </a:t>
            </a:r>
            <a:r>
              <a:rPr lang="en-US" sz="5500" dirty="0" err="1"/>
              <a:t>producătoare</a:t>
            </a:r>
            <a:endParaRPr lang="ro-RO" sz="5500" dirty="0"/>
          </a:p>
          <a:p>
            <a:r>
              <a:rPr lang="ro-RO" sz="5500" dirty="0"/>
              <a:t>Acestea se aplică pentru o varietate de organizații în care există posibilități de soluționare, pe bază de grup, a problemelor legate de muncă </a:t>
            </a:r>
          </a:p>
          <a:p>
            <a:r>
              <a:rPr lang="ro-RO" sz="5500" dirty="0"/>
              <a:t>Cercurile de calitate sunt relevante pentru fabrici, firme , școli, spitale, universități, instituții de cercetare, bănci, birouri guvernamentale etc. </a:t>
            </a:r>
          </a:p>
          <a:p>
            <a:r>
              <a:rPr lang="ro-RO" sz="5500" dirty="0"/>
              <a:t>Cu toții știm ca a</a:t>
            </a:r>
            <a:r>
              <a:rPr lang="en-US" sz="5500" dirty="0"/>
              <a:t> produce bine </a:t>
            </a:r>
            <a:r>
              <a:rPr lang="en-US" sz="5500" dirty="0" err="1"/>
              <a:t>şi</a:t>
            </a:r>
            <a:r>
              <a:rPr lang="en-US" sz="5500" dirty="0"/>
              <a:t> de </a:t>
            </a:r>
            <a:r>
              <a:rPr lang="en-US" sz="5500" dirty="0" err="1"/>
              <a:t>calitate</a:t>
            </a:r>
            <a:r>
              <a:rPr lang="en-US" sz="5500" dirty="0"/>
              <a:t> </a:t>
            </a:r>
            <a:r>
              <a:rPr lang="en-US" sz="5500" dirty="0" err="1"/>
              <a:t>este</a:t>
            </a:r>
            <a:r>
              <a:rPr lang="en-US" sz="5500" dirty="0"/>
              <a:t> </a:t>
            </a:r>
            <a:r>
              <a:rPr lang="en-US" sz="5500" dirty="0" err="1"/>
              <a:t>astăzi</a:t>
            </a:r>
            <a:r>
              <a:rPr lang="en-US" sz="5500" dirty="0"/>
              <a:t> o </a:t>
            </a:r>
            <a:r>
              <a:rPr lang="en-US" sz="5500" dirty="0" err="1"/>
              <a:t>cerinţă</a:t>
            </a:r>
            <a:r>
              <a:rPr lang="en-US" sz="5500" dirty="0"/>
              <a:t> </a:t>
            </a:r>
            <a:r>
              <a:rPr lang="en-US" sz="5500" dirty="0" err="1"/>
              <a:t>importantă</a:t>
            </a:r>
            <a:r>
              <a:rPr lang="en-US" sz="5500" dirty="0"/>
              <a:t> </a:t>
            </a:r>
            <a:r>
              <a:rPr lang="ro-RO" sz="5500" dirty="0"/>
              <a:t> în întreaga lume.</a:t>
            </a:r>
          </a:p>
          <a:p>
            <a:r>
              <a:rPr lang="ro-RO" sz="5500" dirty="0"/>
              <a:t>În România p</a:t>
            </a:r>
            <a:r>
              <a:rPr lang="en-US" sz="5500" dirty="0" err="1"/>
              <a:t>reocuparea</a:t>
            </a:r>
            <a:r>
              <a:rPr lang="en-US" sz="5500" dirty="0"/>
              <a:t> </a:t>
            </a:r>
            <a:r>
              <a:rPr lang="en-US" sz="5500" dirty="0" err="1"/>
              <a:t>pentru</a:t>
            </a:r>
            <a:r>
              <a:rPr lang="en-US" sz="5500" dirty="0"/>
              <a:t> </a:t>
            </a:r>
            <a:r>
              <a:rPr lang="en-US" sz="5500" dirty="0" err="1"/>
              <a:t>calitate</a:t>
            </a:r>
            <a:r>
              <a:rPr lang="en-US" sz="5500" dirty="0"/>
              <a:t> </a:t>
            </a:r>
            <a:r>
              <a:rPr lang="en-US" sz="5500" dirty="0" err="1"/>
              <a:t>este</a:t>
            </a:r>
            <a:r>
              <a:rPr lang="en-US" sz="5500" dirty="0"/>
              <a:t> </a:t>
            </a:r>
            <a:r>
              <a:rPr lang="en-US" sz="5500" dirty="0" err="1"/>
              <a:t>desigur</a:t>
            </a:r>
            <a:r>
              <a:rPr lang="en-US" sz="5500" dirty="0"/>
              <a:t> </a:t>
            </a:r>
            <a:r>
              <a:rPr lang="en-US" sz="5500" dirty="0" err="1"/>
              <a:t>în</a:t>
            </a:r>
            <a:r>
              <a:rPr lang="en-US" sz="5500" dirty="0"/>
              <a:t> </a:t>
            </a:r>
            <a:r>
              <a:rPr lang="en-US" sz="5500" dirty="0" err="1"/>
              <a:t>creştere</a:t>
            </a:r>
            <a:r>
              <a:rPr lang="en-US" sz="5500" dirty="0"/>
              <a:t>. </a:t>
            </a:r>
            <a:r>
              <a:rPr lang="en-US" sz="5500" dirty="0" err="1"/>
              <a:t>Implementarea</a:t>
            </a:r>
            <a:r>
              <a:rPr lang="en-US" sz="5500" dirty="0"/>
              <a:t> </a:t>
            </a:r>
            <a:r>
              <a:rPr lang="en-US" sz="5500" dirty="0" err="1"/>
              <a:t>unor</a:t>
            </a:r>
            <a:r>
              <a:rPr lang="en-US" sz="5500" dirty="0"/>
              <a:t> </a:t>
            </a:r>
            <a:r>
              <a:rPr lang="en-US" sz="5500" dirty="0" err="1"/>
              <a:t>standarde</a:t>
            </a:r>
            <a:r>
              <a:rPr lang="en-US" sz="5500" dirty="0"/>
              <a:t> ISO </a:t>
            </a:r>
            <a:r>
              <a:rPr lang="en-US" sz="5500" dirty="0" err="1"/>
              <a:t>este</a:t>
            </a:r>
            <a:r>
              <a:rPr lang="en-US" sz="5500" dirty="0"/>
              <a:t> </a:t>
            </a:r>
            <a:r>
              <a:rPr lang="en-US" sz="5500" dirty="0" err="1"/>
              <a:t>chiar</a:t>
            </a:r>
            <a:r>
              <a:rPr lang="en-US" sz="5500" dirty="0"/>
              <a:t> o </a:t>
            </a:r>
            <a:r>
              <a:rPr lang="en-US" sz="5500" dirty="0" err="1"/>
              <a:t>necesitate</a:t>
            </a:r>
            <a:r>
              <a:rPr lang="en-US" sz="5500" dirty="0"/>
              <a:t> </a:t>
            </a:r>
            <a:r>
              <a:rPr lang="en-US" sz="5500" dirty="0" err="1"/>
              <a:t>pentru</a:t>
            </a:r>
            <a:r>
              <a:rPr lang="en-US" sz="5500" dirty="0"/>
              <a:t> </a:t>
            </a:r>
            <a:r>
              <a:rPr lang="en-US" sz="5500" dirty="0" err="1"/>
              <a:t>că</a:t>
            </a:r>
            <a:r>
              <a:rPr lang="en-US" sz="5500" dirty="0"/>
              <a:t> </a:t>
            </a:r>
            <a:r>
              <a:rPr lang="en-US" sz="5500" dirty="0" err="1"/>
              <a:t>doar</a:t>
            </a:r>
            <a:r>
              <a:rPr lang="en-US" sz="5500" dirty="0"/>
              <a:t> </a:t>
            </a:r>
            <a:r>
              <a:rPr lang="en-US" sz="5500" dirty="0" err="1"/>
              <a:t>produsele</a:t>
            </a:r>
            <a:r>
              <a:rPr lang="en-US" sz="5500" dirty="0"/>
              <a:t> certificate pot fi </a:t>
            </a:r>
            <a:r>
              <a:rPr lang="en-US" sz="5500" dirty="0" err="1"/>
              <a:t>exportate</a:t>
            </a:r>
            <a:r>
              <a:rPr lang="en-US" sz="5500" dirty="0"/>
              <a:t> </a:t>
            </a:r>
            <a:r>
              <a:rPr lang="en-US" sz="5500" dirty="0" err="1"/>
              <a:t>şi</a:t>
            </a:r>
            <a:r>
              <a:rPr lang="en-US" sz="5500" dirty="0"/>
              <a:t> </a:t>
            </a:r>
            <a:r>
              <a:rPr lang="en-US" sz="5500" dirty="0" err="1"/>
              <a:t>îşi</a:t>
            </a:r>
            <a:r>
              <a:rPr lang="en-US" sz="5500" dirty="0"/>
              <a:t> </a:t>
            </a:r>
            <a:r>
              <a:rPr lang="en-US" sz="5500" dirty="0" err="1"/>
              <a:t>găsesc</a:t>
            </a:r>
            <a:r>
              <a:rPr lang="en-US" sz="5500" dirty="0"/>
              <a:t> </a:t>
            </a:r>
            <a:r>
              <a:rPr lang="en-US" sz="5500" dirty="0" err="1"/>
              <a:t>cumpărători</a:t>
            </a:r>
            <a:r>
              <a:rPr lang="en-US" sz="5500" dirty="0"/>
              <a:t> </a:t>
            </a:r>
            <a:r>
              <a:rPr lang="en-US" sz="5500" dirty="0" err="1"/>
              <a:t>pe</a:t>
            </a:r>
            <a:r>
              <a:rPr lang="en-US" sz="5500" dirty="0"/>
              <a:t> </a:t>
            </a:r>
            <a:r>
              <a:rPr lang="en-US" sz="5500" dirty="0" err="1"/>
              <a:t>piaţa</a:t>
            </a:r>
            <a:r>
              <a:rPr lang="en-US" sz="5500" dirty="0"/>
              <a:t> </a:t>
            </a:r>
            <a:r>
              <a:rPr lang="en-US" sz="5500" dirty="0" err="1"/>
              <a:t>europeană</a:t>
            </a:r>
            <a:r>
              <a:rPr lang="en-US" sz="5500" dirty="0"/>
              <a:t>. </a:t>
            </a:r>
          </a:p>
          <a:p>
            <a:r>
              <a:rPr lang="en-US" sz="5500" dirty="0" err="1"/>
              <a:t>Oricine</a:t>
            </a:r>
            <a:r>
              <a:rPr lang="en-US" sz="5500" dirty="0"/>
              <a:t> </a:t>
            </a:r>
            <a:r>
              <a:rPr lang="en-US" sz="5500" dirty="0" err="1"/>
              <a:t>ştie</a:t>
            </a:r>
            <a:r>
              <a:rPr lang="en-US" sz="5500" dirty="0"/>
              <a:t> </a:t>
            </a:r>
            <a:r>
              <a:rPr lang="en-US" sz="5500" dirty="0" err="1"/>
              <a:t>astăzi</a:t>
            </a:r>
            <a:r>
              <a:rPr lang="en-US" sz="5500" dirty="0"/>
              <a:t> </a:t>
            </a:r>
            <a:r>
              <a:rPr lang="en-US" sz="5500" dirty="0" err="1"/>
              <a:t>că</a:t>
            </a:r>
            <a:r>
              <a:rPr lang="en-US" sz="5500" dirty="0"/>
              <a:t> un </a:t>
            </a:r>
            <a:r>
              <a:rPr lang="en-US" sz="5500" dirty="0" err="1"/>
              <a:t>produs</a:t>
            </a:r>
            <a:r>
              <a:rPr lang="en-US" sz="5500" dirty="0"/>
              <a:t> </a:t>
            </a:r>
            <a:r>
              <a:rPr lang="en-US" sz="5500" dirty="0" err="1"/>
              <a:t>pe</a:t>
            </a:r>
            <a:r>
              <a:rPr lang="en-US" sz="5500" dirty="0"/>
              <a:t> care </a:t>
            </a:r>
            <a:r>
              <a:rPr lang="en-US" sz="5500" dirty="0" err="1"/>
              <a:t>sunt</a:t>
            </a:r>
            <a:r>
              <a:rPr lang="en-US" sz="5500" dirty="0"/>
              <a:t> </a:t>
            </a:r>
            <a:r>
              <a:rPr lang="en-US" sz="5500" dirty="0" err="1"/>
              <a:t>înscrise</a:t>
            </a:r>
            <a:r>
              <a:rPr lang="en-US" sz="5500" dirty="0"/>
              <a:t> </a:t>
            </a:r>
            <a:r>
              <a:rPr lang="en-US" sz="5500" dirty="0" err="1"/>
              <a:t>cuvintele</a:t>
            </a:r>
            <a:r>
              <a:rPr lang="en-US" sz="5500" dirty="0"/>
              <a:t> Made </a:t>
            </a:r>
            <a:r>
              <a:rPr lang="en-US" sz="5500" dirty="0" err="1"/>
              <a:t>în</a:t>
            </a:r>
            <a:r>
              <a:rPr lang="en-US" sz="5500" dirty="0"/>
              <a:t> Japan </a:t>
            </a:r>
            <a:r>
              <a:rPr lang="en-US" sz="5500" dirty="0" err="1"/>
              <a:t>este</a:t>
            </a:r>
            <a:r>
              <a:rPr lang="en-US" sz="5500" dirty="0"/>
              <a:t> un </a:t>
            </a:r>
            <a:r>
              <a:rPr lang="en-US" sz="5500" dirty="0" err="1"/>
              <a:t>produs</a:t>
            </a:r>
            <a:r>
              <a:rPr lang="en-US" sz="5500" dirty="0"/>
              <a:t> din </a:t>
            </a:r>
            <a:r>
              <a:rPr lang="en-US" sz="5500" dirty="0" err="1"/>
              <a:t>principiu</a:t>
            </a:r>
            <a:r>
              <a:rPr lang="en-US" sz="5500" dirty="0"/>
              <a:t> de </a:t>
            </a:r>
            <a:r>
              <a:rPr lang="en-US" sz="5500" dirty="0" err="1"/>
              <a:t>maximă</a:t>
            </a:r>
            <a:r>
              <a:rPr lang="en-US" sz="5500" dirty="0"/>
              <a:t> </a:t>
            </a:r>
            <a:r>
              <a:rPr lang="en-US" sz="5500" dirty="0" err="1"/>
              <a:t>calitate</a:t>
            </a:r>
            <a:r>
              <a:rPr lang="en-US" sz="5500" dirty="0"/>
              <a:t>.</a:t>
            </a:r>
            <a:r>
              <a:rPr lang="ro-RO" sz="5500" dirty="0"/>
              <a:t> </a:t>
            </a:r>
            <a:r>
              <a:rPr lang="en-US" sz="5500" dirty="0"/>
              <a:t>Dar, n</a:t>
            </a:r>
            <a:r>
              <a:rPr lang="ro-RO" sz="5500" dirty="0"/>
              <a:t>e punem încă întrebarea</a:t>
            </a:r>
            <a:r>
              <a:rPr lang="en-US" sz="5500" dirty="0"/>
              <a:t> “De </a:t>
            </a:r>
            <a:r>
              <a:rPr lang="en-US" sz="5500" dirty="0" err="1"/>
              <a:t>ce</a:t>
            </a:r>
            <a:r>
              <a:rPr lang="en-US" sz="5500" dirty="0"/>
              <a:t> nu s-</a:t>
            </a:r>
            <a:r>
              <a:rPr lang="en-US" sz="5500" dirty="0" err="1"/>
              <a:t>ar</a:t>
            </a:r>
            <a:r>
              <a:rPr lang="en-US" sz="5500" dirty="0"/>
              <a:t> </a:t>
            </a:r>
            <a:r>
              <a:rPr lang="en-US" sz="5500" dirty="0" err="1"/>
              <a:t>putea</a:t>
            </a:r>
            <a:r>
              <a:rPr lang="en-US" sz="5500" dirty="0"/>
              <a:t> </a:t>
            </a:r>
            <a:r>
              <a:rPr lang="en-US" sz="5500" dirty="0" err="1"/>
              <a:t>spune</a:t>
            </a:r>
            <a:r>
              <a:rPr lang="en-US" sz="5500" dirty="0"/>
              <a:t> la </a:t>
            </a:r>
            <a:r>
              <a:rPr lang="en-US" sz="5500" dirty="0" err="1"/>
              <a:t>fel</a:t>
            </a:r>
            <a:r>
              <a:rPr lang="en-US" sz="5500" dirty="0"/>
              <a:t>,  </a:t>
            </a:r>
            <a:r>
              <a:rPr lang="en-US" sz="5500" dirty="0" err="1"/>
              <a:t>despre</a:t>
            </a:r>
            <a:r>
              <a:rPr lang="en-US" sz="5500" dirty="0"/>
              <a:t> </a:t>
            </a:r>
            <a:r>
              <a:rPr lang="en-US" sz="5500" dirty="0" err="1"/>
              <a:t>produsele</a:t>
            </a:r>
            <a:r>
              <a:rPr lang="en-US" sz="5500" dirty="0"/>
              <a:t> Made </a:t>
            </a:r>
            <a:r>
              <a:rPr lang="en-US" sz="5500" dirty="0" err="1"/>
              <a:t>în</a:t>
            </a:r>
            <a:r>
              <a:rPr lang="en-US" sz="5500" dirty="0"/>
              <a:t> </a:t>
            </a:r>
            <a:r>
              <a:rPr lang="en-US" sz="5500" dirty="0" err="1"/>
              <a:t>România</a:t>
            </a:r>
            <a:r>
              <a:rPr lang="en-US" sz="5500" dirty="0"/>
              <a:t> ?”.</a:t>
            </a:r>
          </a:p>
          <a:p>
            <a:r>
              <a:rPr lang="en-US" sz="5500" dirty="0"/>
              <a:t> </a:t>
            </a:r>
            <a:r>
              <a:rPr lang="en-US" sz="5500" dirty="0" err="1"/>
              <a:t>Motivarea</a:t>
            </a:r>
            <a:r>
              <a:rPr lang="en-US" sz="5500" dirty="0"/>
              <a:t> </a:t>
            </a:r>
            <a:r>
              <a:rPr lang="en-US" sz="5500" dirty="0" err="1"/>
              <a:t>şi</a:t>
            </a:r>
            <a:r>
              <a:rPr lang="en-US" sz="5500" dirty="0"/>
              <a:t> </a:t>
            </a:r>
            <a:r>
              <a:rPr lang="en-US" sz="5500" dirty="0" err="1"/>
              <a:t>recompensarea</a:t>
            </a:r>
            <a:r>
              <a:rPr lang="en-US" sz="5500" dirty="0"/>
              <a:t> </a:t>
            </a:r>
            <a:r>
              <a:rPr lang="en-US" sz="5500" dirty="0" err="1"/>
              <a:t>salariaţilor</a:t>
            </a:r>
            <a:r>
              <a:rPr lang="en-US" sz="5500" dirty="0"/>
              <a:t> </a:t>
            </a:r>
            <a:r>
              <a:rPr lang="en-US" sz="5500" dirty="0" err="1"/>
              <a:t>pentru</a:t>
            </a:r>
            <a:r>
              <a:rPr lang="en-US" sz="5500" dirty="0"/>
              <a:t> </a:t>
            </a:r>
            <a:r>
              <a:rPr lang="en-US" sz="5500" dirty="0" err="1"/>
              <a:t>atingerea</a:t>
            </a:r>
            <a:r>
              <a:rPr lang="en-US" sz="5500" dirty="0"/>
              <a:t> </a:t>
            </a:r>
            <a:r>
              <a:rPr lang="en-US" sz="5500" dirty="0" err="1"/>
              <a:t>obiectivelor</a:t>
            </a:r>
            <a:r>
              <a:rPr lang="en-US" sz="5500" dirty="0"/>
              <a:t> </a:t>
            </a:r>
            <a:r>
              <a:rPr lang="en-US" sz="5500" dirty="0" err="1"/>
              <a:t>firmei</a:t>
            </a:r>
            <a:r>
              <a:rPr lang="en-US" sz="5500" dirty="0"/>
              <a:t> </a:t>
            </a:r>
            <a:r>
              <a:rPr lang="en-US" sz="5500" dirty="0" err="1"/>
              <a:t>prin</a:t>
            </a:r>
            <a:r>
              <a:rPr lang="en-US" sz="5500" dirty="0"/>
              <a:t> </a:t>
            </a:r>
            <a:r>
              <a:rPr lang="en-US" sz="5500" dirty="0" err="1"/>
              <a:t>antrenarea</a:t>
            </a:r>
            <a:r>
              <a:rPr lang="en-US" sz="5500" dirty="0"/>
              <a:t> </a:t>
            </a:r>
            <a:r>
              <a:rPr lang="en-US" sz="5500" dirty="0" err="1"/>
              <a:t>şi</a:t>
            </a:r>
            <a:r>
              <a:rPr lang="en-US" sz="5500" dirty="0"/>
              <a:t> </a:t>
            </a:r>
            <a:r>
              <a:rPr lang="en-US" sz="5500" dirty="0" err="1"/>
              <a:t>implicarea</a:t>
            </a:r>
            <a:r>
              <a:rPr lang="en-US" sz="5500" dirty="0"/>
              <a:t> </a:t>
            </a:r>
            <a:r>
              <a:rPr lang="en-US" sz="5500" dirty="0" err="1"/>
              <a:t>lor</a:t>
            </a:r>
            <a:r>
              <a:rPr lang="en-US" sz="5500" dirty="0"/>
              <a:t> cu </a:t>
            </a:r>
            <a:r>
              <a:rPr lang="en-US" sz="5500" dirty="0" err="1"/>
              <a:t>adevărat</a:t>
            </a:r>
            <a:r>
              <a:rPr lang="en-US" sz="5500" dirty="0"/>
              <a:t> </a:t>
            </a:r>
            <a:r>
              <a:rPr lang="en-US" sz="5500" dirty="0" err="1"/>
              <a:t>în</a:t>
            </a:r>
            <a:r>
              <a:rPr lang="en-US" sz="5500" dirty="0"/>
              <a:t> </a:t>
            </a:r>
            <a:r>
              <a:rPr lang="en-US" sz="5500" dirty="0" err="1"/>
              <a:t>rezolvarea</a:t>
            </a:r>
            <a:r>
              <a:rPr lang="en-US" sz="5500" dirty="0"/>
              <a:t>  </a:t>
            </a:r>
            <a:r>
              <a:rPr lang="en-US" sz="5500" dirty="0" err="1"/>
              <a:t>problemelor</a:t>
            </a:r>
            <a:r>
              <a:rPr lang="en-US" sz="5500" dirty="0"/>
              <a:t>  din </a:t>
            </a:r>
            <a:r>
              <a:rPr lang="en-US" sz="5500" dirty="0" err="1"/>
              <a:t>activităţile</a:t>
            </a:r>
            <a:r>
              <a:rPr lang="en-US" sz="5500" dirty="0"/>
              <a:t> </a:t>
            </a:r>
            <a:r>
              <a:rPr lang="en-US" sz="5500" dirty="0" err="1"/>
              <a:t>curente</a:t>
            </a:r>
            <a:r>
              <a:rPr lang="en-US" sz="5500" dirty="0"/>
              <a:t> ale </a:t>
            </a:r>
            <a:r>
              <a:rPr lang="en-US" sz="5500" dirty="0" err="1"/>
              <a:t>firmei</a:t>
            </a:r>
            <a:r>
              <a:rPr lang="en-US" sz="5500" dirty="0"/>
              <a:t> , care </a:t>
            </a:r>
            <a:r>
              <a:rPr lang="en-US" sz="5500" dirty="0" err="1"/>
              <a:t>reprezintă</a:t>
            </a:r>
            <a:r>
              <a:rPr lang="en-US" sz="5500" dirty="0"/>
              <a:t> </a:t>
            </a:r>
            <a:r>
              <a:rPr lang="en-US" sz="5500" dirty="0" err="1"/>
              <a:t>transpunerea</a:t>
            </a:r>
            <a:r>
              <a:rPr lang="en-US" sz="5500" dirty="0"/>
              <a:t> </a:t>
            </a:r>
            <a:r>
              <a:rPr lang="en-US" sz="5500" dirty="0" err="1"/>
              <a:t>în</a:t>
            </a:r>
            <a:r>
              <a:rPr lang="en-US" sz="5500" dirty="0"/>
              <a:t> </a:t>
            </a:r>
            <a:r>
              <a:rPr lang="en-US" sz="5500" dirty="0" err="1"/>
              <a:t>practică</a:t>
            </a:r>
            <a:r>
              <a:rPr lang="en-US" sz="5500" dirty="0"/>
              <a:t> a </a:t>
            </a:r>
            <a:r>
              <a:rPr lang="en-US" sz="5500" dirty="0" err="1"/>
              <a:t>cercurilor</a:t>
            </a:r>
            <a:r>
              <a:rPr lang="en-US" sz="5500" dirty="0"/>
              <a:t> de </a:t>
            </a:r>
            <a:r>
              <a:rPr lang="en-US" sz="5500" dirty="0" err="1"/>
              <a:t>calitate</a:t>
            </a:r>
            <a:r>
              <a:rPr lang="en-US" sz="5500" dirty="0"/>
              <a:t> din </a:t>
            </a:r>
            <a:r>
              <a:rPr lang="en-US" sz="5500" dirty="0" err="1"/>
              <a:t>România</a:t>
            </a:r>
            <a:r>
              <a:rPr lang="en-US" sz="5500" dirty="0"/>
              <a:t>, </a:t>
            </a:r>
            <a:r>
              <a:rPr lang="en-US" sz="5500" dirty="0" err="1"/>
              <a:t>este</a:t>
            </a:r>
            <a:r>
              <a:rPr lang="en-US" sz="5500" dirty="0"/>
              <a:t> </a:t>
            </a:r>
            <a:r>
              <a:rPr lang="en-US" sz="5500" dirty="0" err="1"/>
              <a:t>inc</a:t>
            </a:r>
            <a:r>
              <a:rPr lang="ro-RO" sz="5500" dirty="0"/>
              <a:t>ă lucru.</a:t>
            </a:r>
          </a:p>
          <a:p>
            <a:r>
              <a:rPr lang="ro-RO" sz="5500" dirty="0"/>
              <a:t>Cercurile de calitate, din perspectiva mea, ar avea </a:t>
            </a:r>
            <a:r>
              <a:rPr lang="en-US" sz="5500" dirty="0" err="1"/>
              <a:t>rezultate</a:t>
            </a:r>
            <a:r>
              <a:rPr lang="en-US" sz="5500" dirty="0"/>
              <a:t> </a:t>
            </a:r>
            <a:r>
              <a:rPr lang="en-US" sz="5500" dirty="0" err="1"/>
              <a:t>spectaculoase</a:t>
            </a:r>
            <a:r>
              <a:rPr lang="en-US" sz="5500" dirty="0"/>
              <a:t> </a:t>
            </a:r>
            <a:r>
              <a:rPr lang="en-US" sz="5500" dirty="0" err="1"/>
              <a:t>obţinute</a:t>
            </a:r>
            <a:r>
              <a:rPr lang="en-US" sz="5500" dirty="0"/>
              <a:t> </a:t>
            </a:r>
            <a:r>
              <a:rPr lang="en-US" sz="5500" dirty="0" err="1"/>
              <a:t>asupra</a:t>
            </a:r>
            <a:r>
              <a:rPr lang="en-US" sz="5500" dirty="0"/>
              <a:t> </a:t>
            </a:r>
            <a:r>
              <a:rPr lang="en-US" sz="5500" dirty="0" err="1"/>
              <a:t>performanţei</a:t>
            </a:r>
            <a:r>
              <a:rPr lang="en-US" sz="5500" dirty="0"/>
              <a:t> </a:t>
            </a:r>
            <a:r>
              <a:rPr lang="en-US" sz="5500" dirty="0" err="1"/>
              <a:t>economice</a:t>
            </a:r>
            <a:r>
              <a:rPr lang="ro-RO" sz="5500" dirty="0"/>
              <a:t> a țării noastre.</a:t>
            </a:r>
            <a:endParaRPr lang="en-US" sz="5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EE0315A-E5E9-40F5-B395-208F0A15EC11}"/>
              </a:ext>
            </a:extLst>
          </p:cNvPr>
          <p:cNvSpPr/>
          <p:nvPr/>
        </p:nvSpPr>
        <p:spPr>
          <a:xfrm>
            <a:off x="1522413" y="152400"/>
            <a:ext cx="3071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5.</a:t>
            </a:r>
            <a:r>
              <a:rPr lang="en-US" sz="4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Concluzie</a:t>
            </a:r>
          </a:p>
        </p:txBody>
      </p:sp>
    </p:spTree>
    <p:extLst>
      <p:ext uri="{BB962C8B-B14F-4D97-AF65-F5344CB8AC3E}">
        <p14:creationId xmlns:p14="http://schemas.microsoft.com/office/powerpoint/2010/main" val="221538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1371600"/>
            <a:ext cx="10515599" cy="5105400"/>
          </a:xfrm>
        </p:spPr>
        <p:txBody>
          <a:bodyPr>
            <a:normAutofit/>
          </a:bodyPr>
          <a:lstStyle/>
          <a:p>
            <a:endParaRPr lang="ro-RO" dirty="0"/>
          </a:p>
          <a:p>
            <a:r>
              <a:rPr lang="ro-RO" dirty="0">
                <a:hlinkClick r:id="rId2"/>
              </a:rPr>
              <a:t>https://www.inc.com/encyclopedia/quality-circles.html</a:t>
            </a:r>
            <a:endParaRPr lang="ro-RO" dirty="0"/>
          </a:p>
          <a:p>
            <a:r>
              <a:rPr lang="ro-RO" dirty="0">
                <a:hlinkClick r:id="rId3"/>
              </a:rPr>
              <a:t>http://www.businessmanagementideas.com/management/quality-circles/quality-circles-q-c-meaning-objectives-and-benefits/6302</a:t>
            </a:r>
            <a:endParaRPr lang="ro-RO" dirty="0"/>
          </a:p>
          <a:p>
            <a:r>
              <a:rPr lang="ro-RO" dirty="0">
                <a:hlinkClick r:id="rId4"/>
              </a:rPr>
              <a:t>https://en.wikipedia.org/wiki/Quality_circle</a:t>
            </a:r>
            <a:endParaRPr lang="ro-RO" dirty="0"/>
          </a:p>
          <a:p>
            <a:r>
              <a:rPr lang="en-US" dirty="0">
                <a:hlinkClick r:id="rId5"/>
              </a:rPr>
              <a:t>http://www.ghidmanagement.ro/resurse/Rolul+cercurilor+calitatii</a:t>
            </a:r>
            <a:endParaRPr lang="ro-RO" dirty="0"/>
          </a:p>
          <a:p>
            <a:r>
              <a:rPr lang="en-US" u="sng" dirty="0">
                <a:hlinkClick r:id="rId6"/>
              </a:rPr>
              <a:t>https://books.google.ro/books?id=-PNqDAAAQBAJ&amp;pg=PT293&amp;lpg=PT293&amp;dq=cercurile+calitatii&amp;source=bl&amp;ots=-USSGFy1Vw&amp;sig=5zij8HhcR0hIWWxY296lHUsa0Cg&amp;hl=ro&amp;sa=X&amp;ved=0ahUKEwim3ubtzcTYAhVLOpoKHb22DPQQ6AEIXTAJ#v=onepage&amp;q=cercurile%20calitatii&amp;f=false</a:t>
            </a:r>
            <a:endParaRPr lang="ro-RO" u="sng" dirty="0"/>
          </a:p>
          <a:p>
            <a:r>
              <a:rPr lang="en-US" u="sng" dirty="0">
                <a:hlinkClick r:id="rId7"/>
              </a:rPr>
              <a:t>https://www.coursehero.com/file/p2dl7sk/Cercurile-de-calitate-Utilizarea-cercurilor-de-calitate-pentru-muncitori/</a:t>
            </a:r>
            <a:endParaRPr lang="en-US" dirty="0"/>
          </a:p>
          <a:p>
            <a:r>
              <a:rPr lang="en-US" u="sng" dirty="0">
                <a:hlinkClick r:id="rId8"/>
              </a:rPr>
              <a:t>http://academiacomerciala.ro/cursuri/Management/An%20II/Managementul%20calitatii/MANAGEMENTUL%20CALITATII.pdf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DD1C204-023B-4AA1-A96C-CE165258B053}"/>
              </a:ext>
            </a:extLst>
          </p:cNvPr>
          <p:cNvSpPr/>
          <p:nvPr/>
        </p:nvSpPr>
        <p:spPr>
          <a:xfrm>
            <a:off x="666579" y="296636"/>
            <a:ext cx="36150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</a:rPr>
              <a:t>6</a:t>
            </a:r>
            <a:r>
              <a:rPr lang="en-US" sz="4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.Bibliografie</a:t>
            </a:r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5FF838E-DDAB-4F33-9099-21F54FFFE55A}"/>
              </a:ext>
            </a:extLst>
          </p:cNvPr>
          <p:cNvSpPr/>
          <p:nvPr/>
        </p:nvSpPr>
        <p:spPr>
          <a:xfrm>
            <a:off x="3769901" y="2967335"/>
            <a:ext cx="46490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V</a:t>
            </a:r>
            <a:r>
              <a:rPr lang="ro-RO" sz="5400" b="1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</a:rPr>
              <a:t>ă mulțumesc!</a:t>
            </a:r>
            <a:endParaRPr lang="en-US" sz="5400" b="1" cap="none" spc="0" dirty="0">
              <a:ln w="12700" cmpd="sng">
                <a:solidFill>
                  <a:schemeClr val="tx1"/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29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476</TotalTime>
  <Words>678</Words>
  <Application>Microsoft Office PowerPoint</Application>
  <PresentationFormat>Custom</PresentationFormat>
  <Paragraphs>116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Digital Blue Tunnel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mada.danila24@gmail.com</dc:creator>
  <cp:lastModifiedBy>Windows User</cp:lastModifiedBy>
  <cp:revision>25</cp:revision>
  <dcterms:created xsi:type="dcterms:W3CDTF">2018-01-07T16:35:33Z</dcterms:created>
  <dcterms:modified xsi:type="dcterms:W3CDTF">2018-10-23T14:45:38Z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