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77" r:id="rId8"/>
    <p:sldId id="276" r:id="rId9"/>
    <p:sldId id="264" r:id="rId10"/>
    <p:sldId id="265" r:id="rId11"/>
    <p:sldId id="275" r:id="rId12"/>
    <p:sldId id="266" r:id="rId13"/>
    <p:sldId id="273" r:id="rId14"/>
    <p:sldId id="267" r:id="rId15"/>
    <p:sldId id="268" r:id="rId16"/>
    <p:sldId id="274" r:id="rId17"/>
    <p:sldId id="269" r:id="rId18"/>
    <p:sldId id="270" r:id="rId19"/>
    <p:sldId id="271" r:id="rId20"/>
    <p:sldId id="272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9" r:id="rId41"/>
    <p:sldId id="300" r:id="rId42"/>
    <p:sldId id="298" r:id="rId43"/>
    <p:sldId id="301" r:id="rId44"/>
    <p:sldId id="297" r:id="rId45"/>
    <p:sldId id="302" r:id="rId46"/>
    <p:sldId id="30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E188B3-B223-4796-90B0-387BF2EE112F}">
          <p14:sldIdLst>
            <p14:sldId id="256"/>
            <p14:sldId id="257"/>
            <p14:sldId id="258"/>
            <p14:sldId id="261"/>
            <p14:sldId id="262"/>
            <p14:sldId id="263"/>
            <p14:sldId id="277"/>
            <p14:sldId id="276"/>
            <p14:sldId id="264"/>
            <p14:sldId id="265"/>
            <p14:sldId id="275"/>
            <p14:sldId id="266"/>
            <p14:sldId id="273"/>
            <p14:sldId id="267"/>
            <p14:sldId id="268"/>
            <p14:sldId id="274"/>
            <p14:sldId id="269"/>
            <p14:sldId id="270"/>
            <p14:sldId id="271"/>
            <p14:sldId id="272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9"/>
            <p14:sldId id="300"/>
            <p14:sldId id="298"/>
            <p14:sldId id="301"/>
            <p14:sldId id="297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990" y="-4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act:114551%200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act:114551%200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act:275201%200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npc.gov.ro/categorie/15/metale-si-pietre-pretioas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pct.pti.ro/" TargetMode="External"/><Relationship Id="rId2" Type="http://schemas.openxmlformats.org/officeDocument/2006/relationships/hyperlink" Target="http://www.pti.r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anticontrafaceri.ro/" TargetMode="External"/><Relationship Id="rId4" Type="http://schemas.openxmlformats.org/officeDocument/2006/relationships/hyperlink" Target="http://ppc.pti.ro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ro.wikipedia.org/wiki/Autoritatea_Na%C8%9Bional%C4%83_pentru_Protec%C8%9Bia_Consumatorilor" TargetMode="External"/><Relationship Id="rId2" Type="http://schemas.openxmlformats.org/officeDocument/2006/relationships/hyperlink" Target="http://www.anpc.gov.r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focons.ro/" TargetMode="External"/><Relationship Id="rId4" Type="http://schemas.openxmlformats.org/officeDocument/2006/relationships/hyperlink" Target="https://www.gandul.info/stiri/cum-se-face-o-reclamatie-957832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xmlns="" id="{CC9ECE17-8EF8-40C4-BE65-1B39AB9847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xmlns="" id="{8334BFA7-09F0-4CF2-8B4D-308A992EAB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67ED7-BCC5-4066-887A-F133F9768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730" y="3973267"/>
            <a:ext cx="8643010" cy="1037300"/>
          </a:xfrm>
        </p:spPr>
        <p:txBody>
          <a:bodyPr>
            <a:normAutofit/>
          </a:bodyPr>
          <a:lstStyle/>
          <a:p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Programul</a:t>
            </a:r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54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anpc</a:t>
            </a:r>
            <a:endParaRPr lang="en-US" sz="54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xmlns="" id="{1E2E0E17-C957-482D-9089-2B5E6B7986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764906" y="323838"/>
            <a:ext cx="8661501" cy="3652791"/>
            <a:chOff x="1764906" y="323838"/>
            <a:chExt cx="8661501" cy="365279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xmlns="" id="{56E31FFA-F89C-45CB-BC94-245430C462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764906" y="323838"/>
              <a:ext cx="8661501" cy="365279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xmlns="" id="{3365B283-9232-4423-8424-7ACD094DCA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078417" y="647445"/>
              <a:ext cx="8032660" cy="3002215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xmlns="" id="{802B690E-CC9C-4B19-86A3-5FFAE6B34F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238235" y="798973"/>
            <a:ext cx="7708813" cy="2662923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6E096D1-EA84-4443-A04D-44B5F3B03A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5" r="2394" b="2"/>
          <a:stretch/>
        </p:blipFill>
        <p:spPr>
          <a:xfrm>
            <a:off x="2408469" y="1060790"/>
            <a:ext cx="7363579" cy="2175120"/>
          </a:xfrm>
          <a:prstGeom prst="rect">
            <a:avLst/>
          </a:prstGeom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xmlns="" id="{6244635D-BDF9-4927-B9C1-C463C05538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776728" y="5027185"/>
            <a:ext cx="864301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xmlns="" id="{FD506184-6CF4-4CAB-98E6-2D5BF60F56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94" name="Straight Connector 86">
            <a:extLst>
              <a:ext uri="{FF2B5EF4-FFF2-40B4-BE49-F238E27FC236}">
                <a16:creationId xmlns:a16="http://schemas.microsoft.com/office/drawing/2014/main" xmlns="" id="{09F2B1CD-B32D-4AA5-AD1C-F64A8C4E92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558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303A2-553C-4958-ADD3-89250776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anpc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FD40E5-0D45-41DE-8463-EE88C38B2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Autoritatea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Națională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Protecția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 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ANPC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organ de </a:t>
            </a:r>
            <a:r>
              <a:rPr lang="en-US" dirty="0" err="1"/>
              <a:t>specialitate</a:t>
            </a:r>
            <a:r>
              <a:rPr lang="en-US" dirty="0"/>
              <a:t> al </a:t>
            </a:r>
            <a:r>
              <a:rPr lang="en-US" dirty="0" err="1"/>
              <a:t>administrației</a:t>
            </a:r>
            <a:r>
              <a:rPr lang="en-US" dirty="0"/>
              <a:t> </a:t>
            </a:r>
            <a:r>
              <a:rPr lang="en-US" dirty="0" err="1"/>
              <a:t>publice</a:t>
            </a:r>
            <a:r>
              <a:rPr lang="en-US" dirty="0"/>
              <a:t> </a:t>
            </a:r>
            <a:r>
              <a:rPr lang="en-US" dirty="0" err="1"/>
              <a:t>centrale</a:t>
            </a:r>
            <a:r>
              <a:rPr lang="en-US" dirty="0"/>
              <a:t> din </a:t>
            </a:r>
            <a:r>
              <a:rPr lang="ro-RO" dirty="0"/>
              <a:t>România, </a:t>
            </a:r>
            <a:r>
              <a:rPr lang="en-US" dirty="0"/>
              <a:t>cu </a:t>
            </a:r>
            <a:r>
              <a:rPr lang="en-US" dirty="0" err="1"/>
              <a:t>personalitate</a:t>
            </a:r>
            <a:r>
              <a:rPr lang="en-US" dirty="0"/>
              <a:t> </a:t>
            </a:r>
            <a:r>
              <a:rPr lang="en-US" dirty="0" err="1"/>
              <a:t>juridică</a:t>
            </a:r>
            <a:r>
              <a:rPr lang="en-US" dirty="0"/>
              <a:t>, </a:t>
            </a:r>
            <a:r>
              <a:rPr lang="en-US" dirty="0" err="1"/>
              <a:t>aflat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subordinea</a:t>
            </a:r>
            <a:r>
              <a:rPr lang="en-US" dirty="0"/>
              <a:t> </a:t>
            </a:r>
            <a:r>
              <a:rPr lang="en-US" dirty="0" err="1"/>
              <a:t>Guvernului</a:t>
            </a:r>
            <a:r>
              <a:rPr lang="en-US" dirty="0"/>
              <a:t>.</a:t>
            </a:r>
            <a:r>
              <a:rPr lang="en-US" baseline="30000" dirty="0"/>
              <a:t> </a:t>
            </a:r>
            <a:r>
              <a:rPr lang="ro-RO" dirty="0"/>
              <a:t>Numele a fost schimbat în ANPC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anul</a:t>
            </a:r>
            <a:r>
              <a:rPr lang="en-US" dirty="0"/>
              <a:t> 20</a:t>
            </a:r>
            <a:r>
              <a:rPr lang="ro-RO" dirty="0"/>
              <a:t>01, până atinci fiind</a:t>
            </a:r>
            <a:r>
              <a:rPr lang="en-US" dirty="0"/>
              <a:t> </a:t>
            </a:r>
            <a:r>
              <a:rPr lang="en-US" dirty="0" err="1"/>
              <a:t>numit</a:t>
            </a:r>
            <a:r>
              <a:rPr lang="en-US" dirty="0"/>
              <a:t> 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</a:rPr>
              <a:t>Oficiul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</a:rPr>
              <a:t>pentru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</a:rPr>
              <a:t>Protecția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</a:rPr>
              <a:t>Consumatorilor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</a:rPr>
              <a:t>OPC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ro-RO" i="1" dirty="0">
                <a:solidFill>
                  <a:schemeClr val="accent1">
                    <a:lumMod val="50000"/>
                  </a:schemeClr>
                </a:solidFill>
              </a:rPr>
              <a:t>.</a:t>
            </a:r>
            <a:endParaRPr lang="en-US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teritoriu</a:t>
            </a:r>
            <a:r>
              <a:rPr lang="en-US" dirty="0"/>
              <a:t>,  ANPC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reprezentată</a:t>
            </a:r>
            <a:r>
              <a:rPr lang="en-US" dirty="0"/>
              <a:t> de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Comisariatul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Regional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Protecția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dirty="0"/>
              <a:t> (CRPC)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Comisariatul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Județean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Protecția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/>
              <a:t>(CJPC).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66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4FBF4E-9BA7-4066-92CD-0F721368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Istoricul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anpc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5E18DA-08AA-4F2F-96BD-8A205CB98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Ordonanţa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nr. 18/1992</a:t>
            </a:r>
            <a:r>
              <a:rPr lang="en-US" dirty="0"/>
              <a:t> 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actul</a:t>
            </a:r>
            <a:r>
              <a:rPr lang="en-US" dirty="0"/>
              <a:t> de </a:t>
            </a:r>
            <a:r>
              <a:rPr lang="en-US" dirty="0" err="1"/>
              <a:t>naştere</a:t>
            </a:r>
            <a:r>
              <a:rPr lang="en-US" dirty="0"/>
              <a:t> al </a:t>
            </a:r>
            <a:r>
              <a:rPr lang="en-US" dirty="0" err="1"/>
              <a:t>instituţiei</a:t>
            </a:r>
            <a:r>
              <a:rPr lang="en-US" dirty="0"/>
              <a:t> care </a:t>
            </a:r>
            <a:r>
              <a:rPr lang="en-US" dirty="0" err="1"/>
              <a:t>actionează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strategiei</a:t>
            </a:r>
            <a:r>
              <a:rPr lang="en-US" dirty="0"/>
              <a:t> </a:t>
            </a:r>
            <a:r>
              <a:rPr lang="en-US" dirty="0" err="1"/>
              <a:t>politicii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obiectivelor</a:t>
            </a:r>
            <a:r>
              <a:rPr lang="en-US" dirty="0"/>
              <a:t> </a:t>
            </a:r>
            <a:r>
              <a:rPr lang="en-US" dirty="0" err="1"/>
              <a:t>guvernamentale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vieţii</a:t>
            </a:r>
            <a:r>
              <a:rPr lang="en-US" dirty="0"/>
              <a:t>, </a:t>
            </a:r>
            <a:r>
              <a:rPr lang="en-US" dirty="0" err="1"/>
              <a:t>sănătăţii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securităţii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precum </a:t>
            </a:r>
            <a:r>
              <a:rPr lang="en-US" dirty="0" err="1"/>
              <a:t>şi</a:t>
            </a:r>
            <a:r>
              <a:rPr lang="en-US" dirty="0"/>
              <a:t> al </a:t>
            </a:r>
            <a:r>
              <a:rPr lang="en-US" dirty="0" err="1"/>
              <a:t>intereselor</a:t>
            </a:r>
            <a:r>
              <a:rPr lang="en-US" dirty="0"/>
              <a:t> legitime ale </a:t>
            </a:r>
            <a:r>
              <a:rPr lang="en-US" dirty="0" err="1"/>
              <a:t>acestora</a:t>
            </a:r>
            <a:r>
              <a:rPr lang="en-US" dirty="0"/>
              <a:t>.</a:t>
            </a:r>
          </a:p>
          <a:p>
            <a:r>
              <a:rPr lang="en-US" dirty="0"/>
              <a:t>De-a </a:t>
            </a:r>
            <a:r>
              <a:rPr lang="en-US" dirty="0" err="1"/>
              <a:t>lungul</a:t>
            </a:r>
            <a:r>
              <a:rPr lang="en-US" dirty="0"/>
              <a:t> </a:t>
            </a:r>
            <a:r>
              <a:rPr lang="en-US" dirty="0" err="1"/>
              <a:t>anilor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O.P.C.</a:t>
            </a:r>
            <a:r>
              <a:rPr lang="en-US" dirty="0"/>
              <a:t> a </a:t>
            </a:r>
            <a:r>
              <a:rPr lang="en-US" dirty="0" err="1"/>
              <a:t>căpătat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conştiinţa</a:t>
            </a:r>
            <a:r>
              <a:rPr lang="en-US" dirty="0"/>
              <a:t> </a:t>
            </a:r>
            <a:r>
              <a:rPr lang="en-US" dirty="0" err="1"/>
              <a:t>publică</a:t>
            </a:r>
            <a:r>
              <a:rPr lang="en-US" dirty="0"/>
              <a:t>, pe </a:t>
            </a:r>
            <a:r>
              <a:rPr lang="en-US" dirty="0" err="1"/>
              <a:t>lângă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de </a:t>
            </a:r>
            <a:r>
              <a:rPr lang="en-US" dirty="0" err="1"/>
              <a:t>apărător</a:t>
            </a:r>
            <a:r>
              <a:rPr lang="en-US" dirty="0"/>
              <a:t> al </a:t>
            </a:r>
            <a:r>
              <a:rPr lang="en-US" dirty="0" err="1"/>
              <a:t>drepturilor</a:t>
            </a:r>
            <a:r>
              <a:rPr lang="en-US" dirty="0"/>
              <a:t> </a:t>
            </a:r>
            <a:r>
              <a:rPr lang="en-US" dirty="0" err="1"/>
              <a:t>oricărui</a:t>
            </a:r>
            <a:r>
              <a:rPr lang="en-US" dirty="0"/>
              <a:t> </a:t>
            </a:r>
            <a:r>
              <a:rPr lang="en-US" dirty="0" err="1"/>
              <a:t>consumator</a:t>
            </a:r>
            <a:r>
              <a:rPr lang="en-US" dirty="0"/>
              <a:t>, o </a:t>
            </a:r>
            <a:r>
              <a:rPr lang="en-US" dirty="0" err="1"/>
              <a:t>responsabilitate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plus,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anume</a:t>
            </a:r>
            <a:r>
              <a:rPr lang="en-US" dirty="0"/>
              <a:t> </a:t>
            </a:r>
            <a:r>
              <a:rPr lang="en-US" dirty="0" err="1"/>
              <a:t>aceea</a:t>
            </a:r>
            <a:r>
              <a:rPr lang="en-US" dirty="0"/>
              <a:t> de </a:t>
            </a:r>
            <a:r>
              <a:rPr lang="en-US" dirty="0" err="1"/>
              <a:t>sursă</a:t>
            </a:r>
            <a:r>
              <a:rPr lang="en-US" dirty="0"/>
              <a:t> </a:t>
            </a:r>
            <a:r>
              <a:rPr lang="en-US" dirty="0" err="1"/>
              <a:t>permanentă</a:t>
            </a:r>
            <a:r>
              <a:rPr lang="en-US" dirty="0"/>
              <a:t> de </a:t>
            </a:r>
            <a:r>
              <a:rPr lang="en-US" dirty="0" err="1"/>
              <a:t>sfaturi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achiziţia</a:t>
            </a:r>
            <a:r>
              <a:rPr lang="en-US" dirty="0"/>
              <a:t> de </a:t>
            </a:r>
            <a:r>
              <a:rPr lang="en-US" dirty="0" err="1"/>
              <a:t>bunuri</a:t>
            </a:r>
            <a:r>
              <a:rPr lang="en-US" dirty="0"/>
              <a:t> </a:t>
            </a:r>
            <a:r>
              <a:rPr lang="en-US" dirty="0" err="1"/>
              <a:t>alimentare</a:t>
            </a:r>
            <a:r>
              <a:rPr lang="en-US" dirty="0"/>
              <a:t>, </a:t>
            </a:r>
            <a:r>
              <a:rPr lang="en-US" dirty="0" err="1"/>
              <a:t>nealimentare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la </a:t>
            </a:r>
            <a:r>
              <a:rPr lang="en-US" dirty="0" err="1"/>
              <a:t>încheierea</a:t>
            </a:r>
            <a:r>
              <a:rPr lang="en-US" dirty="0"/>
              <a:t> </a:t>
            </a:r>
            <a:r>
              <a:rPr lang="en-US" dirty="0" err="1"/>
              <a:t>contractelor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diverse </a:t>
            </a:r>
            <a:r>
              <a:rPr lang="en-US" dirty="0" err="1"/>
              <a:t>servicii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46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885F55-5523-47A4-BC8A-261EFB5A8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85071"/>
            <a:ext cx="9603275" cy="3581275"/>
          </a:xfrm>
        </p:spPr>
        <p:txBody>
          <a:bodyPr/>
          <a:lstStyle/>
          <a:p>
            <a:pPr marL="285750" indent="-285750"/>
            <a:r>
              <a:rPr lang="en-US" sz="2400" dirty="0"/>
              <a:t>Un </a:t>
            </a:r>
            <a:r>
              <a:rPr lang="en-US" sz="2400" dirty="0" err="1"/>
              <a:t>nou</a:t>
            </a:r>
            <a:r>
              <a:rPr lang="en-US" sz="2400" dirty="0"/>
              <a:t> context de </a:t>
            </a:r>
            <a:r>
              <a:rPr lang="en-US" sz="2400" dirty="0" err="1"/>
              <a:t>funcţionare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stabilit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Ordonanţa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urgenţă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a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Guvernului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2/2001</a:t>
            </a:r>
            <a:r>
              <a:rPr lang="en-US" sz="2400" dirty="0"/>
              <a:t>, care </a:t>
            </a:r>
            <a:r>
              <a:rPr lang="en-US" sz="2400" dirty="0" err="1"/>
              <a:t>reglementează</a:t>
            </a:r>
            <a:r>
              <a:rPr lang="en-US" sz="2400" dirty="0"/>
              <a:t> </a:t>
            </a:r>
            <a:r>
              <a:rPr lang="en-US" sz="2400" dirty="0" err="1"/>
              <a:t>înfiinţarea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Autorităţii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Naţionale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Protecţia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sz="2400" b="1" i="1" dirty="0"/>
              <a:t> </a:t>
            </a:r>
            <a:r>
              <a:rPr lang="en-US" sz="2400" dirty="0"/>
              <a:t>ca organ de </a:t>
            </a:r>
            <a:r>
              <a:rPr lang="en-US" sz="2400" dirty="0" err="1"/>
              <a:t>specialitate</a:t>
            </a:r>
            <a:r>
              <a:rPr lang="en-US" sz="2400" dirty="0"/>
              <a:t> al </a:t>
            </a:r>
            <a:r>
              <a:rPr lang="en-US" sz="2400" dirty="0" err="1"/>
              <a:t>administraţiei</a:t>
            </a:r>
            <a:r>
              <a:rPr lang="en-US" sz="2400" dirty="0"/>
              <a:t> </a:t>
            </a:r>
            <a:r>
              <a:rPr lang="en-US" sz="2400" dirty="0" err="1"/>
              <a:t>publice</a:t>
            </a:r>
            <a:r>
              <a:rPr lang="en-US" sz="2400" dirty="0"/>
              <a:t> </a:t>
            </a:r>
            <a:r>
              <a:rPr lang="en-US" sz="2400" dirty="0" err="1"/>
              <a:t>centrale</a:t>
            </a:r>
            <a:r>
              <a:rPr lang="en-US" sz="2400" dirty="0"/>
              <a:t>, cu </a:t>
            </a:r>
            <a:r>
              <a:rPr lang="en-US" sz="2400" dirty="0" err="1"/>
              <a:t>personalitate</a:t>
            </a:r>
            <a:r>
              <a:rPr lang="en-US" sz="2400" dirty="0"/>
              <a:t> </a:t>
            </a:r>
            <a:r>
              <a:rPr lang="en-US" sz="2400" dirty="0" err="1"/>
              <a:t>juridică</a:t>
            </a:r>
            <a:r>
              <a:rPr lang="en-US" sz="2400" dirty="0"/>
              <a:t>,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subordinea</a:t>
            </a:r>
            <a:r>
              <a:rPr lang="en-US" sz="2400" dirty="0"/>
              <a:t> </a:t>
            </a:r>
            <a:r>
              <a:rPr lang="en-US" sz="2400" dirty="0" err="1"/>
              <a:t>Guvernului</a:t>
            </a:r>
            <a:r>
              <a:rPr lang="en-US" sz="2400" dirty="0"/>
              <a:t>. De </a:t>
            </a:r>
            <a:r>
              <a:rPr lang="en-US" sz="2400" dirty="0" err="1"/>
              <a:t>asemenea</a:t>
            </a:r>
            <a:r>
              <a:rPr lang="en-US" sz="2400" dirty="0"/>
              <a:t>,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actele</a:t>
            </a:r>
            <a:r>
              <a:rPr lang="en-US" sz="2400" dirty="0"/>
              <a:t> normative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vigoare</a:t>
            </a:r>
            <a:r>
              <a:rPr lang="en-US" sz="2400" dirty="0"/>
              <a:t> s-a </a:t>
            </a:r>
            <a:r>
              <a:rPr lang="en-US" sz="2400" dirty="0" err="1"/>
              <a:t>înlocuit</a:t>
            </a:r>
            <a:r>
              <a:rPr lang="en-US" sz="2400" dirty="0"/>
              <a:t> </a:t>
            </a:r>
            <a:r>
              <a:rPr lang="en-US" sz="2400" dirty="0" err="1"/>
              <a:t>denumirea</a:t>
            </a:r>
            <a:r>
              <a:rPr lang="en-US" sz="2400" dirty="0"/>
              <a:t> de “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Oficiu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Protecţia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sz="2400" dirty="0"/>
              <a:t>”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cu “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Autoritatea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Naţională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Protecţia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sz="2400" dirty="0"/>
              <a:t>”.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71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59C9FA-9BD1-4B54-8074-A655D36B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</a:t>
            </a:r>
            <a:r>
              <a:rPr lang="ro-RO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ședinți anpc din perioada 1992 – 2015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BF59A4-1F34-46B4-B563-C22CC646E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55409"/>
            <a:ext cx="7031239" cy="409807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b="1" dirty="0"/>
              <a:t>Emil </a:t>
            </a:r>
            <a:r>
              <a:rPr lang="en-US" sz="1800" b="1" dirty="0" err="1"/>
              <a:t>Bojin</a:t>
            </a:r>
            <a:r>
              <a:rPr lang="en-US" sz="1800" dirty="0"/>
              <a:t>: august 1992 - august 1993</a:t>
            </a:r>
            <a:br>
              <a:rPr lang="en-US" sz="1800" dirty="0"/>
            </a:br>
            <a:r>
              <a:rPr lang="en-US" sz="1800" b="1" dirty="0"/>
              <a:t>Gheorghe </a:t>
            </a:r>
            <a:r>
              <a:rPr lang="en-US" sz="1800" b="1" dirty="0" err="1"/>
              <a:t>Ţiplica</a:t>
            </a:r>
            <a:r>
              <a:rPr lang="en-US" sz="1800" dirty="0"/>
              <a:t>: august 1993- </a:t>
            </a:r>
            <a:r>
              <a:rPr lang="en-US" sz="1800" dirty="0" err="1"/>
              <a:t>ianuarie</a:t>
            </a:r>
            <a:r>
              <a:rPr lang="en-US" sz="1800" dirty="0"/>
              <a:t> 1997</a:t>
            </a:r>
            <a:br>
              <a:rPr lang="en-US" sz="1800" dirty="0"/>
            </a:br>
            <a:r>
              <a:rPr lang="en-US" sz="1800" b="1" dirty="0" err="1"/>
              <a:t>Corneliu</a:t>
            </a:r>
            <a:r>
              <a:rPr lang="en-US" sz="1800" b="1" dirty="0"/>
              <a:t> Eliade </a:t>
            </a:r>
            <a:r>
              <a:rPr lang="en-US" sz="1800" b="1" dirty="0" err="1"/>
              <a:t>Mihăilescu</a:t>
            </a:r>
            <a:r>
              <a:rPr lang="en-US" sz="1800" dirty="0"/>
              <a:t>: </a:t>
            </a:r>
            <a:r>
              <a:rPr lang="en-US" sz="1800" dirty="0" err="1"/>
              <a:t>ianuarie</a:t>
            </a:r>
            <a:r>
              <a:rPr lang="en-US" sz="1800" dirty="0"/>
              <a:t> 1997- </a:t>
            </a:r>
            <a:r>
              <a:rPr lang="en-US" sz="1800" dirty="0" err="1"/>
              <a:t>ianuarie</a:t>
            </a:r>
            <a:r>
              <a:rPr lang="en-US" sz="1800" dirty="0"/>
              <a:t> 2001</a:t>
            </a:r>
            <a:br>
              <a:rPr lang="en-US" sz="1800" dirty="0"/>
            </a:br>
            <a:r>
              <a:rPr lang="en-US" sz="1800" b="1" dirty="0" err="1"/>
              <a:t>Rovana</a:t>
            </a:r>
            <a:r>
              <a:rPr lang="en-US" sz="1800" b="1" dirty="0"/>
              <a:t> Plumb</a:t>
            </a:r>
            <a:r>
              <a:rPr lang="en-US" sz="1800" dirty="0"/>
              <a:t>: </a:t>
            </a:r>
            <a:r>
              <a:rPr lang="en-US" sz="1800" dirty="0" err="1"/>
              <a:t>ianuarie</a:t>
            </a:r>
            <a:r>
              <a:rPr lang="en-US" sz="1800" dirty="0"/>
              <a:t> 2001-iulie 2004</a:t>
            </a:r>
            <a:br>
              <a:rPr lang="en-US" sz="1800" dirty="0"/>
            </a:br>
            <a:r>
              <a:rPr lang="en-US" sz="1800" b="1" dirty="0"/>
              <a:t>Eduard Gabriel </a:t>
            </a:r>
            <a:r>
              <a:rPr lang="en-US" sz="1800" b="1" dirty="0" err="1"/>
              <a:t>Matei</a:t>
            </a:r>
            <a:r>
              <a:rPr lang="en-US" sz="1800" dirty="0"/>
              <a:t>: </a:t>
            </a:r>
            <a:r>
              <a:rPr lang="en-US" sz="1800" dirty="0" err="1"/>
              <a:t>iulie</a:t>
            </a:r>
            <a:r>
              <a:rPr lang="en-US" sz="1800" dirty="0"/>
              <a:t> 2004-februarie 2005</a:t>
            </a:r>
            <a:br>
              <a:rPr lang="en-US" sz="1800" dirty="0"/>
            </a:br>
            <a:r>
              <a:rPr lang="en-US" sz="1800" b="1" dirty="0" err="1"/>
              <a:t>Cătălin</a:t>
            </a:r>
            <a:r>
              <a:rPr lang="en-US" sz="1800" b="1" dirty="0"/>
              <a:t> Florin Teodorescu</a:t>
            </a:r>
            <a:r>
              <a:rPr lang="en-US" sz="1800" dirty="0"/>
              <a:t>: </a:t>
            </a:r>
            <a:r>
              <a:rPr lang="en-US" sz="1800" dirty="0" err="1"/>
              <a:t>februarie</a:t>
            </a:r>
            <a:r>
              <a:rPr lang="en-US" sz="1800" dirty="0"/>
              <a:t> 2005-decembrie 2006</a:t>
            </a:r>
            <a:br>
              <a:rPr lang="en-US" sz="1800" dirty="0"/>
            </a:br>
            <a:r>
              <a:rPr lang="en-US" sz="1800" b="1" dirty="0"/>
              <a:t>Marian </a:t>
            </a:r>
            <a:r>
              <a:rPr lang="en-US" sz="1800" b="1" dirty="0" err="1"/>
              <a:t>Zlotea</a:t>
            </a:r>
            <a:r>
              <a:rPr lang="en-US" sz="1800" dirty="0"/>
              <a:t>: </a:t>
            </a:r>
            <a:r>
              <a:rPr lang="en-US" sz="1800" dirty="0" err="1"/>
              <a:t>decembrie</a:t>
            </a:r>
            <a:r>
              <a:rPr lang="en-US" sz="1800" dirty="0"/>
              <a:t> 2006-aprilie 2007</a:t>
            </a:r>
            <a:br>
              <a:rPr lang="en-US" sz="1800" dirty="0"/>
            </a:br>
            <a:r>
              <a:rPr lang="en-US" sz="1800" b="1" dirty="0"/>
              <a:t>Dan </a:t>
            </a:r>
            <a:r>
              <a:rPr lang="en-US" sz="1800" b="1" dirty="0" err="1"/>
              <a:t>Vlaicu</a:t>
            </a:r>
            <a:r>
              <a:rPr lang="en-US" sz="1800" dirty="0"/>
              <a:t>: </a:t>
            </a:r>
            <a:r>
              <a:rPr lang="en-US" sz="1800" dirty="0" err="1"/>
              <a:t>aprilie</a:t>
            </a:r>
            <a:r>
              <a:rPr lang="en-US" sz="1800" dirty="0"/>
              <a:t> 2007- </a:t>
            </a:r>
            <a:r>
              <a:rPr lang="en-US" sz="1800" dirty="0" err="1"/>
              <a:t>ianuarie</a:t>
            </a:r>
            <a:r>
              <a:rPr lang="en-US" sz="1800" dirty="0"/>
              <a:t> 2009</a:t>
            </a:r>
            <a:br>
              <a:rPr lang="en-US" sz="1800" dirty="0"/>
            </a:br>
            <a:r>
              <a:rPr lang="en-US" sz="1800" b="1" dirty="0"/>
              <a:t>Marcel Bogdan </a:t>
            </a:r>
            <a:r>
              <a:rPr lang="en-US" sz="1800" b="1" dirty="0" err="1"/>
              <a:t>Pandelică</a:t>
            </a:r>
            <a:r>
              <a:rPr lang="en-US" sz="1800" dirty="0"/>
              <a:t>: </a:t>
            </a:r>
            <a:r>
              <a:rPr lang="en-US" sz="1800" dirty="0" err="1"/>
              <a:t>februarie</a:t>
            </a:r>
            <a:r>
              <a:rPr lang="en-US" sz="1800" dirty="0"/>
              <a:t> 2009-octombrie 2009</a:t>
            </a:r>
            <a:br>
              <a:rPr lang="en-US" sz="1800" dirty="0"/>
            </a:br>
            <a:r>
              <a:rPr lang="en-US" sz="1800" b="1" dirty="0"/>
              <a:t>Constantin </a:t>
            </a:r>
            <a:r>
              <a:rPr lang="en-US" sz="1800" b="1" dirty="0" err="1"/>
              <a:t>Cerbulescu</a:t>
            </a:r>
            <a:r>
              <a:rPr lang="en-US" sz="1800" dirty="0"/>
              <a:t>: </a:t>
            </a:r>
            <a:r>
              <a:rPr lang="en-US" sz="1800" dirty="0" err="1"/>
              <a:t>octombrie</a:t>
            </a:r>
            <a:r>
              <a:rPr lang="en-US" sz="1800" dirty="0"/>
              <a:t> 2009-mai 2012</a:t>
            </a:r>
            <a:br>
              <a:rPr lang="en-US" sz="1800" dirty="0"/>
            </a:br>
            <a:r>
              <a:rPr lang="en-US" sz="1800" b="1" dirty="0"/>
              <a:t>Bogdan Cristian Nica</a:t>
            </a:r>
            <a:r>
              <a:rPr lang="en-US" sz="1800" dirty="0"/>
              <a:t>: </a:t>
            </a:r>
            <a:r>
              <a:rPr lang="en-US" sz="1800" dirty="0" err="1"/>
              <a:t>mai</a:t>
            </a:r>
            <a:r>
              <a:rPr lang="en-US" sz="1800" dirty="0"/>
              <a:t> 2012-februarie 2014</a:t>
            </a:r>
            <a:br>
              <a:rPr lang="en-US" sz="1800" dirty="0"/>
            </a:br>
            <a:r>
              <a:rPr lang="en-US" sz="1800" b="1" dirty="0"/>
              <a:t>Marius </a:t>
            </a:r>
            <a:r>
              <a:rPr lang="en-US" sz="1800" b="1" dirty="0" err="1"/>
              <a:t>Alexandru</a:t>
            </a:r>
            <a:r>
              <a:rPr lang="en-US" sz="1800" b="1" dirty="0"/>
              <a:t> </a:t>
            </a:r>
            <a:r>
              <a:rPr lang="en-US" sz="1800" b="1" dirty="0" err="1"/>
              <a:t>Dunca</a:t>
            </a:r>
            <a:r>
              <a:rPr lang="en-US" sz="1800" dirty="0"/>
              <a:t>: </a:t>
            </a:r>
            <a:r>
              <a:rPr lang="en-US" sz="1800" dirty="0" err="1"/>
              <a:t>februarie</a:t>
            </a:r>
            <a:r>
              <a:rPr lang="en-US" sz="1800" dirty="0"/>
              <a:t> 2014 - </a:t>
            </a:r>
            <a:r>
              <a:rPr lang="en-US" sz="1800" dirty="0" err="1"/>
              <a:t>noiembrie</a:t>
            </a:r>
            <a:r>
              <a:rPr lang="en-US" sz="1800" dirty="0"/>
              <a:t> 2015</a:t>
            </a:r>
            <a:br>
              <a:rPr lang="en-US" sz="1800" dirty="0"/>
            </a:br>
            <a:r>
              <a:rPr lang="en-US" sz="1800" b="1" dirty="0"/>
              <a:t>Marcel Bogdan </a:t>
            </a:r>
            <a:r>
              <a:rPr lang="en-US" sz="1800" b="1" dirty="0" err="1"/>
              <a:t>Pandelică</a:t>
            </a:r>
            <a:r>
              <a:rPr lang="en-US" sz="1800" dirty="0"/>
              <a:t>: </a:t>
            </a:r>
            <a:r>
              <a:rPr lang="en-US" sz="1800" dirty="0" err="1"/>
              <a:t>noiembrie</a:t>
            </a:r>
            <a:r>
              <a:rPr lang="en-US" sz="1800" dirty="0"/>
              <a:t> 2015 - </a:t>
            </a:r>
            <a:r>
              <a:rPr lang="en-US" sz="1800" dirty="0" err="1"/>
              <a:t>martie</a:t>
            </a:r>
            <a:r>
              <a:rPr lang="en-US" sz="1800" dirty="0"/>
              <a:t> 2018</a:t>
            </a: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xmlns="" id="{74C8898E-9BE5-410D-BA80-4CF8FCA41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891975" y="2277990"/>
            <a:ext cx="3162879" cy="316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0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35C3D674-3D59-4E93-80CA-0C0A9095E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C884B8F8-FDC9-498B-9960-5D7260AFCB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8D370D-134E-48F3-BF07-DA4AC556A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prezent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F2A81E1-BCBE-426B-8C09-33274E6940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5587B3-E8E0-4A0F-9926-262DD1763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r>
              <a:rPr lang="en-US" dirty="0" err="1"/>
              <a:t>Autoritatea</a:t>
            </a:r>
            <a:r>
              <a:rPr lang="en-US" dirty="0"/>
              <a:t> </a:t>
            </a:r>
            <a:r>
              <a:rPr lang="en-US" dirty="0" err="1"/>
              <a:t>Naţională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Protecţia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condusă</a:t>
            </a:r>
            <a:r>
              <a:rPr lang="en-US" dirty="0"/>
              <a:t> de </a:t>
            </a:r>
            <a:r>
              <a:rPr lang="en-US" dirty="0" err="1"/>
              <a:t>domnul</a:t>
            </a: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Marius PÎRVU</a:t>
            </a:r>
            <a:r>
              <a:rPr lang="en-US" b="1" dirty="0"/>
              <a:t>,</a:t>
            </a:r>
            <a:r>
              <a:rPr lang="en-US" dirty="0"/>
              <a:t> care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numit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Decizia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nr. 150 </a:t>
            </a:r>
            <a:r>
              <a:rPr lang="en-US" dirty="0"/>
              <a:t>din 28 </a:t>
            </a:r>
            <a:r>
              <a:rPr lang="en-US" dirty="0" err="1"/>
              <a:t>martie</a:t>
            </a:r>
            <a:r>
              <a:rPr lang="en-US" dirty="0"/>
              <a:t> 2018 a </a:t>
            </a:r>
            <a:r>
              <a:rPr lang="en-US" dirty="0" err="1"/>
              <a:t>Primului-Ministru</a:t>
            </a:r>
            <a:r>
              <a:rPr lang="en-US" dirty="0"/>
              <a:t>.</a:t>
            </a:r>
          </a:p>
        </p:txBody>
      </p:sp>
      <p:pic>
        <p:nvPicPr>
          <p:cNvPr id="7" name="Graphic 6" descr="Lecturer">
            <a:extLst>
              <a:ext uri="{FF2B5EF4-FFF2-40B4-BE49-F238E27FC236}">
                <a16:creationId xmlns:a16="http://schemas.microsoft.com/office/drawing/2014/main" xmlns="" id="{8CFE9D16-9044-4CCE-987E-3363DF1C3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39D1DDD4-5BB3-45BA-B9B3-06B62299AD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24DAE64-2302-42EA-8239-F2F0775CA5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1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6E6531A-0776-43BA-A852-5FB5C77534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56085" y="533400"/>
            <a:ext cx="9079832" cy="5077326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8C5273F-2B84-46BF-A94F-1A20E13B3A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784605" y="763203"/>
            <a:ext cx="8622792" cy="461772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147BBAF-8698-4696-B10E-6DE405D01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734" y="922535"/>
            <a:ext cx="6440532" cy="4299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83907A6-E965-415D-8F75-61BC2015E32D}"/>
              </a:ext>
            </a:extLst>
          </p:cNvPr>
          <p:cNvSpPr txBox="1"/>
          <p:nvPr/>
        </p:nvSpPr>
        <p:spPr>
          <a:xfrm>
            <a:off x="4628271" y="5678269"/>
            <a:ext cx="353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Presedinte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ANPC: Marius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Pîrvu</a:t>
            </a:r>
            <a:endParaRPr lang="en-US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723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62C9703D-C8F9-44AD-A7C0-C2F3871F8C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160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DAF85B7-A9FB-4622-AC70-67E571074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" y="1"/>
            <a:ext cx="12188975" cy="616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26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93D8C7-A7D5-48ED-8F1B-E28BBFE1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Atribuţiile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ANPC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în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conformitate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cu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prevederile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Hotărârii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nr. 700/2012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privind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organizarea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şi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funcţionarea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Autorităţii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Naţionale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pentru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Protecţia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Consumatorilor</a:t>
            </a:r>
            <a:r>
              <a:rPr lang="en-US" sz="1500" dirty="0"/>
              <a:t/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02DC1F-B58A-4C1B-BD35-C929DFAF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 </a:t>
            </a:r>
            <a:r>
              <a:rPr lang="en-US" sz="1800" b="1" dirty="0"/>
              <a:t>Art. 3. -</a:t>
            </a:r>
            <a:r>
              <a:rPr lang="en-US" sz="1800" dirty="0"/>
              <a:t>   </a:t>
            </a:r>
            <a:r>
              <a:rPr lang="en-US" sz="1800" b="1" dirty="0"/>
              <a:t>(1)</a:t>
            </a:r>
            <a:r>
              <a:rPr lang="en-US" sz="1800" dirty="0"/>
              <a:t> </a:t>
            </a:r>
            <a:r>
              <a:rPr lang="en-US" sz="1800" dirty="0" err="1"/>
              <a:t>Autoritatea</a:t>
            </a:r>
            <a:r>
              <a:rPr lang="en-US" sz="1800" dirty="0"/>
              <a:t> are </a:t>
            </a:r>
            <a:r>
              <a:rPr lang="en-US" sz="1800" dirty="0" err="1"/>
              <a:t>următoarele</a:t>
            </a:r>
            <a:r>
              <a:rPr lang="en-US" sz="1800" dirty="0"/>
              <a:t> </a:t>
            </a:r>
            <a:r>
              <a:rPr lang="en-US" sz="1800" dirty="0" err="1"/>
              <a:t>atribuţii</a:t>
            </a:r>
            <a:r>
              <a:rPr lang="en-US" sz="1800" dirty="0"/>
              <a:t> </a:t>
            </a:r>
            <a:r>
              <a:rPr lang="en-US" sz="1800" dirty="0" err="1"/>
              <a:t>principale</a:t>
            </a:r>
            <a:r>
              <a:rPr lang="en-US" sz="1800" dirty="0"/>
              <a:t>: </a:t>
            </a:r>
            <a:br>
              <a:rPr lang="en-US" sz="1800" dirty="0"/>
            </a:br>
            <a:r>
              <a:rPr lang="en-US" sz="1800" dirty="0"/>
              <a:t>   </a:t>
            </a:r>
            <a:r>
              <a:rPr lang="en-US" sz="1800" b="1" dirty="0"/>
              <a:t>a)</a:t>
            </a:r>
            <a:r>
              <a:rPr lang="en-US" sz="1800" dirty="0"/>
              <a:t> </a:t>
            </a:r>
            <a:r>
              <a:rPr lang="en-US" sz="1800" dirty="0" err="1"/>
              <a:t>participă</a:t>
            </a:r>
            <a:r>
              <a:rPr lang="en-US" sz="1800" dirty="0"/>
              <a:t>, </a:t>
            </a:r>
            <a:r>
              <a:rPr lang="en-US" sz="1800" dirty="0" err="1"/>
              <a:t>împreună</a:t>
            </a:r>
            <a:r>
              <a:rPr lang="en-US" sz="1800" dirty="0"/>
              <a:t> cu </a:t>
            </a:r>
            <a:r>
              <a:rPr lang="en-US" sz="1800" dirty="0" err="1"/>
              <a:t>alte</a:t>
            </a:r>
            <a:r>
              <a:rPr lang="en-US" sz="1800" dirty="0"/>
              <a:t> </a:t>
            </a:r>
            <a:r>
              <a:rPr lang="en-US" sz="1800" dirty="0" err="1"/>
              <a:t>organe</a:t>
            </a:r>
            <a:r>
              <a:rPr lang="en-US" sz="1800" dirty="0"/>
              <a:t> ale </a:t>
            </a:r>
            <a:r>
              <a:rPr lang="en-US" sz="1800" dirty="0" err="1"/>
              <a:t>administraţiei</a:t>
            </a:r>
            <a:r>
              <a:rPr lang="en-US" sz="1800" dirty="0"/>
              <a:t> </a:t>
            </a:r>
            <a:r>
              <a:rPr lang="en-US" sz="1800" dirty="0" err="1"/>
              <a:t>publice</a:t>
            </a:r>
            <a:r>
              <a:rPr lang="en-US" sz="1800" dirty="0"/>
              <a:t> </a:t>
            </a:r>
            <a:r>
              <a:rPr lang="en-US" sz="1800" dirty="0" err="1"/>
              <a:t>centrale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locale de </a:t>
            </a:r>
            <a:r>
              <a:rPr lang="en-US" sz="1800" dirty="0" err="1"/>
              <a:t>specialitate</a:t>
            </a:r>
            <a:r>
              <a:rPr lang="en-US" sz="1800" dirty="0"/>
              <a:t> cu </a:t>
            </a:r>
            <a:r>
              <a:rPr lang="en-US" sz="1800" dirty="0" err="1"/>
              <a:t>atribuţii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domeniu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cu </a:t>
            </a:r>
            <a:r>
              <a:rPr lang="en-US" sz="1800" dirty="0" err="1"/>
              <a:t>organismele</a:t>
            </a:r>
            <a:r>
              <a:rPr lang="en-US" sz="1800" dirty="0"/>
              <a:t> </a:t>
            </a:r>
            <a:r>
              <a:rPr lang="en-US" sz="1800" dirty="0" err="1"/>
              <a:t>neguvernamentale</a:t>
            </a:r>
            <a:r>
              <a:rPr lang="en-US" sz="1800" dirty="0"/>
              <a:t> ale </a:t>
            </a:r>
            <a:r>
              <a:rPr lang="en-US" sz="1800" dirty="0" err="1"/>
              <a:t>consumatorilor</a:t>
            </a:r>
            <a:r>
              <a:rPr lang="en-US" sz="1800" dirty="0"/>
              <a:t>, la </a:t>
            </a:r>
            <a:r>
              <a:rPr lang="en-US" sz="1800" dirty="0" err="1"/>
              <a:t>elaborarea</a:t>
            </a:r>
            <a:r>
              <a:rPr lang="en-US" sz="1800" dirty="0"/>
              <a:t> </a:t>
            </a:r>
            <a:r>
              <a:rPr lang="en-US" sz="1800" dirty="0" err="1"/>
              <a:t>strategiei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domeniul</a:t>
            </a:r>
            <a:r>
              <a:rPr lang="en-US" sz="1800" dirty="0"/>
              <a:t> </a:t>
            </a:r>
            <a:r>
              <a:rPr lang="en-US" sz="1800" dirty="0" err="1"/>
              <a:t>protecţiei</a:t>
            </a:r>
            <a:r>
              <a:rPr lang="en-US" sz="1800" dirty="0"/>
              <a:t> </a:t>
            </a:r>
            <a:r>
              <a:rPr lang="en-US" sz="1800" dirty="0" err="1"/>
              <a:t>consumatorilor</a:t>
            </a:r>
            <a:r>
              <a:rPr lang="en-US" sz="1800" dirty="0"/>
              <a:t>, </a:t>
            </a:r>
            <a:r>
              <a:rPr lang="en-US" sz="1800" dirty="0" err="1"/>
              <a:t>asigurând</a:t>
            </a:r>
            <a:r>
              <a:rPr lang="en-US" sz="1800" dirty="0"/>
              <a:t> </a:t>
            </a:r>
            <a:r>
              <a:rPr lang="en-US" sz="1800" dirty="0" err="1"/>
              <a:t>corelarea</a:t>
            </a:r>
            <a:r>
              <a:rPr lang="en-US" sz="1800" dirty="0"/>
              <a:t> </a:t>
            </a:r>
            <a:r>
              <a:rPr lang="en-US" sz="1800" dirty="0" err="1"/>
              <a:t>acesteia</a:t>
            </a:r>
            <a:r>
              <a:rPr lang="en-US" sz="1800" dirty="0"/>
              <a:t> cu </a:t>
            </a:r>
            <a:r>
              <a:rPr lang="en-US" sz="1800" dirty="0" err="1"/>
              <a:t>cea</a:t>
            </a:r>
            <a:r>
              <a:rPr lang="en-US" sz="1800" dirty="0"/>
              <a:t> </a:t>
            </a:r>
            <a:r>
              <a:rPr lang="en-US" sz="1800" dirty="0" err="1"/>
              <a:t>existentă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Uniunea</a:t>
            </a:r>
            <a:r>
              <a:rPr lang="en-US" sz="1800" dirty="0"/>
              <a:t> </a:t>
            </a:r>
            <a:r>
              <a:rPr lang="en-US" sz="1800" dirty="0" err="1"/>
              <a:t>Europeană</a:t>
            </a:r>
            <a:r>
              <a:rPr lang="en-US" sz="1800" dirty="0"/>
              <a:t>; </a:t>
            </a:r>
            <a:br>
              <a:rPr lang="en-US" sz="1800" dirty="0"/>
            </a:br>
            <a:r>
              <a:rPr lang="en-US" sz="1800" dirty="0"/>
              <a:t>   </a:t>
            </a:r>
            <a:r>
              <a:rPr lang="en-US" sz="1800" b="1" dirty="0"/>
              <a:t>b)</a:t>
            </a:r>
            <a:r>
              <a:rPr lang="en-US" sz="1800" dirty="0"/>
              <a:t> </a:t>
            </a:r>
            <a:r>
              <a:rPr lang="en-US" sz="1800" dirty="0" err="1"/>
              <a:t>asigură</a:t>
            </a:r>
            <a:r>
              <a:rPr lang="en-US" sz="1800" dirty="0"/>
              <a:t> </a:t>
            </a:r>
            <a:r>
              <a:rPr lang="en-US" sz="1800" dirty="0" err="1"/>
              <a:t>armonizarea</a:t>
            </a:r>
            <a:r>
              <a:rPr lang="en-US" sz="1800" dirty="0"/>
              <a:t> </a:t>
            </a:r>
            <a:r>
              <a:rPr lang="en-US" sz="1800" dirty="0" err="1"/>
              <a:t>cadrului</a:t>
            </a:r>
            <a:r>
              <a:rPr lang="en-US" sz="1800" dirty="0"/>
              <a:t> </a:t>
            </a:r>
            <a:r>
              <a:rPr lang="en-US" sz="1800" dirty="0" err="1"/>
              <a:t>legislativ</a:t>
            </a:r>
            <a:r>
              <a:rPr lang="en-US" sz="1800" dirty="0"/>
              <a:t> </a:t>
            </a:r>
            <a:r>
              <a:rPr lang="en-US" sz="1800" dirty="0" err="1"/>
              <a:t>naţional</a:t>
            </a:r>
            <a:r>
              <a:rPr lang="en-US" sz="1800" dirty="0"/>
              <a:t> cu </a:t>
            </a:r>
            <a:r>
              <a:rPr lang="en-US" sz="1800" dirty="0" err="1"/>
              <a:t>reglementările</a:t>
            </a:r>
            <a:r>
              <a:rPr lang="en-US" sz="1800" dirty="0"/>
              <a:t> din </a:t>
            </a:r>
            <a:r>
              <a:rPr lang="en-US" sz="1800" dirty="0" err="1"/>
              <a:t>Uniunea</a:t>
            </a:r>
            <a:r>
              <a:rPr lang="en-US" sz="1800" dirty="0"/>
              <a:t> </a:t>
            </a:r>
            <a:r>
              <a:rPr lang="en-US" sz="1800" dirty="0" err="1"/>
              <a:t>Europeană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domeniul</a:t>
            </a:r>
            <a:r>
              <a:rPr lang="en-US" sz="1800" dirty="0"/>
              <a:t> </a:t>
            </a:r>
            <a:r>
              <a:rPr lang="en-US" sz="1800" dirty="0" err="1"/>
              <a:t>protecţiei</a:t>
            </a:r>
            <a:r>
              <a:rPr lang="en-US" sz="1800" dirty="0"/>
              <a:t> </a:t>
            </a:r>
            <a:r>
              <a:rPr lang="en-US" sz="1800" dirty="0" err="1"/>
              <a:t>consumatorilor</a:t>
            </a:r>
            <a:r>
              <a:rPr lang="en-US" sz="1100" dirty="0"/>
              <a:t>; </a:t>
            </a:r>
          </a:p>
        </p:txBody>
      </p:sp>
      <p:pic>
        <p:nvPicPr>
          <p:cNvPr id="5" name="Graphic 4" descr="Gears">
            <a:extLst>
              <a:ext uri="{FF2B5EF4-FFF2-40B4-BE49-F238E27FC236}">
                <a16:creationId xmlns:a16="http://schemas.microsoft.com/office/drawing/2014/main" xmlns="" id="{DD6F5166-D8BF-4085-9027-0F00E628F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98526" y="2210019"/>
            <a:ext cx="3256328" cy="325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14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20FA02-9120-4F8B-93DD-4E07BCF92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9477"/>
            <a:ext cx="9603275" cy="4065563"/>
          </a:xfrm>
        </p:spPr>
        <p:txBody>
          <a:bodyPr>
            <a:normAutofit/>
          </a:bodyPr>
          <a:lstStyle/>
          <a:p>
            <a:r>
              <a:rPr lang="en-US" sz="1900" dirty="0"/>
              <a:t> </a:t>
            </a:r>
            <a:r>
              <a:rPr lang="en-US" sz="1900" b="1" dirty="0"/>
              <a:t>c)</a:t>
            </a:r>
            <a:r>
              <a:rPr lang="en-US" sz="1900" dirty="0"/>
              <a:t> </a:t>
            </a:r>
            <a:r>
              <a:rPr lang="en-US" sz="1900" dirty="0" err="1"/>
              <a:t>propune</a:t>
            </a:r>
            <a:r>
              <a:rPr lang="en-US" sz="1900" dirty="0"/>
              <a:t> </a:t>
            </a:r>
            <a:r>
              <a:rPr lang="en-US" sz="1900" dirty="0" err="1"/>
              <a:t>Guvernului</a:t>
            </a:r>
            <a:r>
              <a:rPr lang="en-US" sz="1900" dirty="0"/>
              <a:t> </a:t>
            </a:r>
            <a:r>
              <a:rPr lang="en-US" sz="1900" dirty="0" err="1"/>
              <a:t>spre</a:t>
            </a:r>
            <a:r>
              <a:rPr lang="en-US" sz="1900" dirty="0"/>
              <a:t> </a:t>
            </a:r>
            <a:r>
              <a:rPr lang="en-US" sz="1900" dirty="0" err="1"/>
              <a:t>adoptare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avizează</a:t>
            </a:r>
            <a:r>
              <a:rPr lang="en-US" sz="1900" dirty="0"/>
              <a:t> </a:t>
            </a:r>
            <a:r>
              <a:rPr lang="en-US" sz="1900" dirty="0" err="1"/>
              <a:t>proiecte</a:t>
            </a:r>
            <a:r>
              <a:rPr lang="en-US" sz="1900" dirty="0"/>
              <a:t> de </a:t>
            </a:r>
            <a:r>
              <a:rPr lang="en-US" sz="1900" dirty="0" err="1"/>
              <a:t>acte</a:t>
            </a:r>
            <a:r>
              <a:rPr lang="en-US" sz="1900" dirty="0"/>
              <a:t> normative </a:t>
            </a:r>
            <a:r>
              <a:rPr lang="en-US" sz="1900" dirty="0" err="1"/>
              <a:t>în</a:t>
            </a:r>
            <a:r>
              <a:rPr lang="en-US" sz="1900" dirty="0"/>
              <a:t> </a:t>
            </a:r>
            <a:r>
              <a:rPr lang="en-US" sz="1900" dirty="0" err="1"/>
              <a:t>domeniul</a:t>
            </a:r>
            <a:r>
              <a:rPr lang="en-US" sz="1900" dirty="0"/>
              <a:t> </a:t>
            </a:r>
            <a:r>
              <a:rPr lang="en-US" sz="1900" dirty="0" err="1"/>
              <a:t>protecţiei</a:t>
            </a:r>
            <a:r>
              <a:rPr lang="en-US" sz="1900" dirty="0"/>
              <a:t> </a:t>
            </a:r>
            <a:r>
              <a:rPr lang="en-US" sz="1900" dirty="0" err="1"/>
              <a:t>consumatorilor</a:t>
            </a:r>
            <a:r>
              <a:rPr lang="en-US" sz="1900" dirty="0"/>
              <a:t> cu </a:t>
            </a:r>
            <a:r>
              <a:rPr lang="en-US" sz="1900" dirty="0" err="1"/>
              <a:t>privire</a:t>
            </a:r>
            <a:r>
              <a:rPr lang="en-US" sz="1900" dirty="0"/>
              <a:t> la </a:t>
            </a:r>
            <a:r>
              <a:rPr lang="en-US" sz="1900" dirty="0" err="1"/>
              <a:t>fabricarea</a:t>
            </a:r>
            <a:r>
              <a:rPr lang="en-US" sz="1900" dirty="0"/>
              <a:t>, </a:t>
            </a:r>
            <a:r>
              <a:rPr lang="en-US" sz="1900" dirty="0" err="1"/>
              <a:t>ambalarea</a:t>
            </a:r>
            <a:r>
              <a:rPr lang="en-US" sz="1900" dirty="0"/>
              <a:t>, </a:t>
            </a:r>
            <a:r>
              <a:rPr lang="en-US" sz="1900" dirty="0" err="1"/>
              <a:t>etichetarea</a:t>
            </a:r>
            <a:r>
              <a:rPr lang="en-US" sz="1900" dirty="0"/>
              <a:t>, </a:t>
            </a:r>
            <a:r>
              <a:rPr lang="en-US" sz="1900" dirty="0" err="1"/>
              <a:t>conservarea</a:t>
            </a:r>
            <a:r>
              <a:rPr lang="en-US" sz="1900" dirty="0"/>
              <a:t>, </a:t>
            </a:r>
            <a:r>
              <a:rPr lang="en-US" sz="1900" dirty="0" err="1"/>
              <a:t>depozitarea</a:t>
            </a:r>
            <a:r>
              <a:rPr lang="en-US" sz="1900" dirty="0"/>
              <a:t>, </a:t>
            </a:r>
            <a:r>
              <a:rPr lang="en-US" sz="1900" dirty="0" err="1"/>
              <a:t>transportul</a:t>
            </a:r>
            <a:r>
              <a:rPr lang="en-US" sz="1900" dirty="0"/>
              <a:t>, </a:t>
            </a:r>
            <a:r>
              <a:rPr lang="en-US" sz="1900" dirty="0" err="1"/>
              <a:t>importul</a:t>
            </a:r>
            <a:r>
              <a:rPr lang="en-US" sz="1900" dirty="0"/>
              <a:t>, </a:t>
            </a:r>
            <a:r>
              <a:rPr lang="en-US" sz="1900" dirty="0" err="1"/>
              <a:t>comercializarea</a:t>
            </a:r>
            <a:r>
              <a:rPr lang="en-US" sz="1900" dirty="0"/>
              <a:t> </a:t>
            </a:r>
            <a:r>
              <a:rPr lang="en-US" sz="1900" dirty="0" err="1"/>
              <a:t>produselor</a:t>
            </a:r>
            <a:r>
              <a:rPr lang="en-US" sz="1900" dirty="0"/>
              <a:t>, </a:t>
            </a:r>
            <a:r>
              <a:rPr lang="en-US" sz="1900" dirty="0" err="1"/>
              <a:t>prestarea</a:t>
            </a:r>
            <a:r>
              <a:rPr lang="en-US" sz="1900" dirty="0"/>
              <a:t> </a:t>
            </a:r>
            <a:r>
              <a:rPr lang="en-US" sz="1900" dirty="0" err="1"/>
              <a:t>serviciilor</a:t>
            </a:r>
            <a:r>
              <a:rPr lang="en-US" sz="1900" dirty="0"/>
              <a:t>, </a:t>
            </a:r>
            <a:r>
              <a:rPr lang="en-US" sz="1900" dirty="0" err="1"/>
              <a:t>inclusiv</a:t>
            </a:r>
            <a:r>
              <a:rPr lang="en-US" sz="1900" dirty="0"/>
              <a:t> a </a:t>
            </a:r>
            <a:r>
              <a:rPr lang="en-US" sz="1900" dirty="0" err="1"/>
              <a:t>serviciilor</a:t>
            </a:r>
            <a:r>
              <a:rPr lang="en-US" sz="1900" dirty="0"/>
              <a:t> </a:t>
            </a:r>
            <a:r>
              <a:rPr lang="en-US" sz="1900" dirty="0" err="1"/>
              <a:t>financiare</a:t>
            </a:r>
            <a:r>
              <a:rPr lang="en-US" sz="1900" dirty="0"/>
              <a:t>, precum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interzicerea</a:t>
            </a:r>
            <a:r>
              <a:rPr lang="en-US" sz="1900" dirty="0"/>
              <a:t> </a:t>
            </a:r>
            <a:r>
              <a:rPr lang="en-US" sz="1900" dirty="0" err="1"/>
              <a:t>penalităţilor</a:t>
            </a:r>
            <a:r>
              <a:rPr lang="en-US" sz="1900" dirty="0"/>
              <a:t> </a:t>
            </a:r>
            <a:r>
              <a:rPr lang="en-US" sz="1900" dirty="0" err="1"/>
              <a:t>asimetrice</a:t>
            </a:r>
            <a:r>
              <a:rPr lang="en-US" sz="1900" dirty="0"/>
              <a:t> </a:t>
            </a:r>
            <a:r>
              <a:rPr lang="en-US" sz="1900" dirty="0" err="1"/>
              <a:t>dintre</a:t>
            </a:r>
            <a:r>
              <a:rPr lang="en-US" sz="1900" dirty="0"/>
              <a:t> client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prestatorul</a:t>
            </a:r>
            <a:r>
              <a:rPr lang="en-US" sz="1900" dirty="0"/>
              <a:t> de </a:t>
            </a:r>
            <a:r>
              <a:rPr lang="en-US" sz="1900" dirty="0" err="1"/>
              <a:t>servicii</a:t>
            </a:r>
            <a:r>
              <a:rPr lang="en-US" sz="1900" dirty="0"/>
              <a:t> </a:t>
            </a:r>
            <a:r>
              <a:rPr lang="en-US" sz="1900" dirty="0" err="1"/>
              <a:t>publice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alte</a:t>
            </a:r>
            <a:r>
              <a:rPr lang="en-US" sz="1900" dirty="0"/>
              <a:t> </a:t>
            </a:r>
            <a:r>
              <a:rPr lang="en-US" sz="1900" dirty="0" err="1"/>
              <a:t>servicii</a:t>
            </a:r>
            <a:r>
              <a:rPr lang="en-US" sz="1900" dirty="0"/>
              <a:t> de </a:t>
            </a:r>
            <a:r>
              <a:rPr lang="en-US" sz="1900" dirty="0" err="1"/>
              <a:t>interes</a:t>
            </a:r>
            <a:r>
              <a:rPr lang="en-US" sz="1900" dirty="0"/>
              <a:t> general </a:t>
            </a:r>
            <a:r>
              <a:rPr lang="en-US" sz="1900" dirty="0" err="1"/>
              <a:t>pentru</a:t>
            </a:r>
            <a:r>
              <a:rPr lang="en-US" sz="1900" dirty="0"/>
              <a:t> </a:t>
            </a:r>
            <a:r>
              <a:rPr lang="en-US" sz="1900" dirty="0" err="1"/>
              <a:t>abaterile</a:t>
            </a:r>
            <a:r>
              <a:rPr lang="en-US" sz="1900" dirty="0"/>
              <a:t> </a:t>
            </a:r>
            <a:r>
              <a:rPr lang="en-US" sz="1900" dirty="0" err="1"/>
              <a:t>contractuale</a:t>
            </a:r>
            <a:r>
              <a:rPr lang="en-US" sz="1900" dirty="0"/>
              <a:t>, </a:t>
            </a:r>
            <a:r>
              <a:rPr lang="en-US" sz="1900" dirty="0" err="1"/>
              <a:t>astfel</a:t>
            </a:r>
            <a:r>
              <a:rPr lang="en-US" sz="1900" dirty="0"/>
              <a:t> </a:t>
            </a:r>
            <a:r>
              <a:rPr lang="en-US" sz="1900" dirty="0" err="1"/>
              <a:t>încât</a:t>
            </a:r>
            <a:r>
              <a:rPr lang="en-US" sz="1900" dirty="0"/>
              <a:t> </a:t>
            </a:r>
            <a:r>
              <a:rPr lang="en-US" sz="1900" dirty="0" err="1"/>
              <a:t>acestea</a:t>
            </a:r>
            <a:r>
              <a:rPr lang="en-US" sz="1900" dirty="0"/>
              <a:t> </a:t>
            </a:r>
            <a:r>
              <a:rPr lang="en-US" sz="1900" dirty="0" err="1"/>
              <a:t>să</a:t>
            </a:r>
            <a:r>
              <a:rPr lang="en-US" sz="1900" dirty="0"/>
              <a:t> nu </a:t>
            </a:r>
            <a:r>
              <a:rPr lang="en-US" sz="1900" dirty="0" err="1"/>
              <a:t>pună</a:t>
            </a:r>
            <a:r>
              <a:rPr lang="en-US" sz="1900" dirty="0"/>
              <a:t> </a:t>
            </a:r>
            <a:r>
              <a:rPr lang="en-US" sz="1900" dirty="0" err="1"/>
              <a:t>în</a:t>
            </a:r>
            <a:r>
              <a:rPr lang="en-US" sz="1900" dirty="0"/>
              <a:t> </a:t>
            </a:r>
            <a:r>
              <a:rPr lang="en-US" sz="1900" dirty="0" err="1"/>
              <a:t>pericol</a:t>
            </a:r>
            <a:r>
              <a:rPr lang="en-US" sz="1900" dirty="0"/>
              <a:t> </a:t>
            </a:r>
            <a:r>
              <a:rPr lang="en-US" sz="1900" dirty="0" err="1"/>
              <a:t>viaţa</a:t>
            </a:r>
            <a:r>
              <a:rPr lang="en-US" sz="1900" dirty="0"/>
              <a:t>, </a:t>
            </a:r>
            <a:r>
              <a:rPr lang="en-US" sz="1900" dirty="0" err="1"/>
              <a:t>sănătatea</a:t>
            </a:r>
            <a:r>
              <a:rPr lang="en-US" sz="1900" dirty="0"/>
              <a:t> </a:t>
            </a:r>
            <a:r>
              <a:rPr lang="en-US" sz="1900" dirty="0" err="1"/>
              <a:t>sau</a:t>
            </a:r>
            <a:r>
              <a:rPr lang="en-US" sz="1900" dirty="0"/>
              <a:t> </a:t>
            </a:r>
            <a:r>
              <a:rPr lang="en-US" sz="1900" dirty="0" err="1"/>
              <a:t>securitatea</a:t>
            </a:r>
            <a:r>
              <a:rPr lang="en-US" sz="1900" dirty="0"/>
              <a:t> </a:t>
            </a:r>
            <a:r>
              <a:rPr lang="en-US" sz="1900" dirty="0" err="1"/>
              <a:t>consumatorilor</a:t>
            </a:r>
            <a:r>
              <a:rPr lang="en-US" sz="1900" dirty="0"/>
              <a:t> </a:t>
            </a:r>
            <a:r>
              <a:rPr lang="en-US" sz="1900" dirty="0" err="1"/>
              <a:t>ori</a:t>
            </a:r>
            <a:r>
              <a:rPr lang="en-US" sz="1900" dirty="0"/>
              <a:t> </a:t>
            </a:r>
            <a:r>
              <a:rPr lang="en-US" sz="1900" dirty="0" err="1"/>
              <a:t>să</a:t>
            </a:r>
            <a:r>
              <a:rPr lang="en-US" sz="1900" dirty="0"/>
              <a:t> </a:t>
            </a:r>
            <a:r>
              <a:rPr lang="en-US" sz="1900" dirty="0" err="1"/>
              <a:t>afecteze</a:t>
            </a:r>
            <a:r>
              <a:rPr lang="en-US" sz="1900" dirty="0"/>
              <a:t> </a:t>
            </a:r>
            <a:r>
              <a:rPr lang="en-US" sz="1900" dirty="0" err="1"/>
              <a:t>drepturile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interesele</a:t>
            </a:r>
            <a:r>
              <a:rPr lang="en-US" sz="1900" dirty="0"/>
              <a:t> </a:t>
            </a:r>
            <a:r>
              <a:rPr lang="en-US" sz="1900" dirty="0" err="1"/>
              <a:t>lor</a:t>
            </a:r>
            <a:r>
              <a:rPr lang="en-US" sz="1900" dirty="0"/>
              <a:t> legitime; </a:t>
            </a:r>
          </a:p>
          <a:p>
            <a:pPr marL="0" indent="0">
              <a:buNone/>
            </a:pPr>
            <a:r>
              <a:rPr lang="en-US" sz="1900" dirty="0"/>
              <a:t>     </a:t>
            </a:r>
            <a:r>
              <a:rPr lang="en-US" sz="1900" b="1" dirty="0"/>
              <a:t>d)</a:t>
            </a:r>
            <a:r>
              <a:rPr lang="en-US" sz="1900" dirty="0"/>
              <a:t> </a:t>
            </a:r>
            <a:r>
              <a:rPr lang="en-US" sz="1900" dirty="0" err="1"/>
              <a:t>elaborează</a:t>
            </a:r>
            <a:r>
              <a:rPr lang="en-US" sz="1900" dirty="0"/>
              <a:t>, </a:t>
            </a:r>
            <a:r>
              <a:rPr lang="en-US" sz="1900" dirty="0" err="1"/>
              <a:t>împreună</a:t>
            </a:r>
            <a:r>
              <a:rPr lang="en-US" sz="1900" dirty="0"/>
              <a:t> cu </a:t>
            </a:r>
            <a:r>
              <a:rPr lang="en-US" sz="1900" dirty="0" err="1"/>
              <a:t>alte</a:t>
            </a:r>
            <a:r>
              <a:rPr lang="en-US" sz="1900" dirty="0"/>
              <a:t> </a:t>
            </a:r>
            <a:r>
              <a:rPr lang="en-US" sz="1900" dirty="0" err="1"/>
              <a:t>organe</a:t>
            </a:r>
            <a:r>
              <a:rPr lang="en-US" sz="1900" dirty="0"/>
              <a:t> de </a:t>
            </a:r>
            <a:r>
              <a:rPr lang="en-US" sz="1900" dirty="0" err="1"/>
              <a:t>specialitate</a:t>
            </a:r>
            <a:r>
              <a:rPr lang="en-US" sz="1900" dirty="0"/>
              <a:t> ale </a:t>
            </a:r>
            <a:r>
              <a:rPr lang="en-US" sz="1900" dirty="0" err="1"/>
              <a:t>administraţiei</a:t>
            </a:r>
            <a:r>
              <a:rPr lang="en-US" sz="1900" dirty="0"/>
              <a:t> </a:t>
            </a:r>
            <a:r>
              <a:rPr lang="en-US" sz="1900" dirty="0" err="1"/>
              <a:t>publice</a:t>
            </a:r>
            <a:r>
              <a:rPr lang="en-US" sz="1900" dirty="0"/>
              <a:t>, </a:t>
            </a:r>
            <a:r>
              <a:rPr lang="en-US" sz="1900" dirty="0" err="1"/>
              <a:t>proceduri</a:t>
            </a:r>
            <a:r>
              <a:rPr lang="en-US" sz="1900" dirty="0"/>
              <a:t> </a:t>
            </a:r>
            <a:r>
              <a:rPr lang="en-US" sz="1900" dirty="0" err="1"/>
              <a:t>privind</a:t>
            </a:r>
            <a:r>
              <a:rPr lang="en-US" sz="1900" dirty="0"/>
              <a:t> </a:t>
            </a:r>
            <a:r>
              <a:rPr lang="en-US" sz="1900" dirty="0" err="1"/>
              <a:t>obiectivele</a:t>
            </a:r>
            <a:r>
              <a:rPr lang="en-US" sz="1900" dirty="0"/>
              <a:t>, </a:t>
            </a:r>
            <a:r>
              <a:rPr lang="en-US" sz="1900" dirty="0" err="1"/>
              <a:t>condiţiile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modul</a:t>
            </a:r>
            <a:r>
              <a:rPr lang="en-US" sz="1900" dirty="0"/>
              <a:t> de </a:t>
            </a:r>
            <a:r>
              <a:rPr lang="en-US" sz="1900" dirty="0" err="1"/>
              <a:t>colaborare</a:t>
            </a:r>
            <a:r>
              <a:rPr lang="en-US" sz="1900" dirty="0"/>
              <a:t> </a:t>
            </a:r>
            <a:r>
              <a:rPr lang="en-US" sz="1900" dirty="0" err="1"/>
              <a:t>în</a:t>
            </a:r>
            <a:r>
              <a:rPr lang="en-US" sz="1900" dirty="0"/>
              <a:t> </a:t>
            </a:r>
            <a:r>
              <a:rPr lang="en-US" sz="1900" dirty="0" err="1"/>
              <a:t>desfăşurarea</a:t>
            </a:r>
            <a:r>
              <a:rPr lang="en-US" sz="1900" dirty="0"/>
              <a:t> </a:t>
            </a:r>
            <a:r>
              <a:rPr lang="en-US" sz="1900" dirty="0" err="1"/>
              <a:t>activităţii</a:t>
            </a:r>
            <a:r>
              <a:rPr lang="en-US" sz="1900" dirty="0"/>
              <a:t> de </a:t>
            </a:r>
            <a:r>
              <a:rPr lang="en-US" sz="1900" dirty="0" err="1"/>
              <a:t>protecţie</a:t>
            </a:r>
            <a:r>
              <a:rPr lang="en-US" sz="1900" dirty="0"/>
              <a:t> a </a:t>
            </a:r>
            <a:r>
              <a:rPr lang="en-US" sz="1900" dirty="0" err="1"/>
              <a:t>consumatorilor</a:t>
            </a:r>
            <a:r>
              <a:rPr lang="en-US" sz="1900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427582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656ED6-68E2-43F7-8CD3-182E82AFE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7710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  <a:r>
              <a:rPr lang="en-US" b="1" dirty="0"/>
              <a:t>e)</a:t>
            </a:r>
            <a:r>
              <a:rPr lang="en-US" dirty="0"/>
              <a:t> </a:t>
            </a:r>
            <a:r>
              <a:rPr lang="en-US" dirty="0" err="1"/>
              <a:t>iniţiază</a:t>
            </a:r>
            <a:r>
              <a:rPr lang="en-US" dirty="0"/>
              <a:t>, </a:t>
            </a:r>
            <a:r>
              <a:rPr lang="en-US" dirty="0" err="1"/>
              <a:t>negociază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participă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condiţiile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, la </a:t>
            </a:r>
            <a:r>
              <a:rPr lang="en-US" dirty="0" err="1"/>
              <a:t>încheierea</a:t>
            </a:r>
            <a:r>
              <a:rPr lang="en-US" dirty="0"/>
              <a:t> de </a:t>
            </a:r>
            <a:r>
              <a:rPr lang="en-US" dirty="0" err="1"/>
              <a:t>convenţii</a:t>
            </a:r>
            <a:r>
              <a:rPr lang="en-US" dirty="0"/>
              <a:t>, </a:t>
            </a:r>
            <a:r>
              <a:rPr lang="en-US" dirty="0" err="1"/>
              <a:t>acorduri</a:t>
            </a:r>
            <a:r>
              <a:rPr lang="en-US" dirty="0"/>
              <a:t>, </a:t>
            </a:r>
            <a:r>
              <a:rPr lang="en-US" dirty="0" err="1"/>
              <a:t>protocoale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înţelegeri</a:t>
            </a:r>
            <a:r>
              <a:rPr lang="en-US" dirty="0"/>
              <a:t> interne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internaţionale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cu </a:t>
            </a:r>
            <a:r>
              <a:rPr lang="en-US" dirty="0" err="1"/>
              <a:t>organe</a:t>
            </a:r>
            <a:r>
              <a:rPr lang="en-US" dirty="0"/>
              <a:t> de </a:t>
            </a:r>
            <a:r>
              <a:rPr lang="en-US" dirty="0" err="1"/>
              <a:t>specialitate</a:t>
            </a:r>
            <a:r>
              <a:rPr lang="en-US" dirty="0"/>
              <a:t> ale </a:t>
            </a:r>
            <a:r>
              <a:rPr lang="en-US" dirty="0" err="1"/>
              <a:t>administraţiei</a:t>
            </a:r>
            <a:r>
              <a:rPr lang="en-US" dirty="0"/>
              <a:t> </a:t>
            </a:r>
            <a:r>
              <a:rPr lang="en-US" dirty="0" err="1"/>
              <a:t>publice</a:t>
            </a:r>
            <a:r>
              <a:rPr lang="en-US" dirty="0"/>
              <a:t> </a:t>
            </a:r>
            <a:r>
              <a:rPr lang="en-US" dirty="0" err="1"/>
              <a:t>centrale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locale cu </a:t>
            </a:r>
            <a:r>
              <a:rPr lang="en-US" dirty="0" err="1"/>
              <a:t>atribuţii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, precum </a:t>
            </a:r>
            <a:r>
              <a:rPr lang="en-US" dirty="0" err="1"/>
              <a:t>şi</a:t>
            </a:r>
            <a:r>
              <a:rPr lang="en-US" dirty="0"/>
              <a:t> cu </a:t>
            </a:r>
            <a:r>
              <a:rPr lang="en-US" dirty="0" err="1"/>
              <a:t>organisme</a:t>
            </a:r>
            <a:r>
              <a:rPr lang="en-US" dirty="0"/>
              <a:t> </a:t>
            </a:r>
            <a:r>
              <a:rPr lang="en-US" dirty="0" err="1"/>
              <a:t>neguvernamentale</a:t>
            </a:r>
            <a:r>
              <a:rPr lang="en-US" dirty="0"/>
              <a:t>; </a:t>
            </a:r>
          </a:p>
          <a:p>
            <a:pPr marL="0" indent="0">
              <a:buNone/>
            </a:pPr>
            <a:r>
              <a:rPr lang="en-US" b="1" dirty="0"/>
              <a:t>    f)</a:t>
            </a:r>
            <a:r>
              <a:rPr lang="en-US" dirty="0"/>
              <a:t> </a:t>
            </a:r>
            <a:r>
              <a:rPr lang="en-US" dirty="0" err="1"/>
              <a:t>participă</a:t>
            </a:r>
            <a:r>
              <a:rPr lang="en-US" dirty="0"/>
              <a:t> la </a:t>
            </a:r>
            <a:r>
              <a:rPr lang="en-US" dirty="0" err="1"/>
              <a:t>realizarea</a:t>
            </a:r>
            <a:r>
              <a:rPr lang="en-US" dirty="0"/>
              <a:t> </a:t>
            </a:r>
            <a:r>
              <a:rPr lang="en-US" dirty="0" err="1"/>
              <a:t>programelor</a:t>
            </a:r>
            <a:r>
              <a:rPr lang="en-US" dirty="0"/>
              <a:t> interne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internaţionale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</a:t>
            </a:r>
            <a:r>
              <a:rPr lang="en-US" dirty="0" err="1"/>
              <a:t>colaborând</a:t>
            </a:r>
            <a:r>
              <a:rPr lang="en-US" dirty="0"/>
              <a:t> cu </a:t>
            </a:r>
            <a:r>
              <a:rPr lang="en-US" dirty="0" err="1"/>
              <a:t>organizaţii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instituţii</a:t>
            </a:r>
            <a:r>
              <a:rPr lang="en-US" dirty="0"/>
              <a:t> din </a:t>
            </a:r>
            <a:r>
              <a:rPr lang="en-US" dirty="0" err="1"/>
              <a:t>ţară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din </a:t>
            </a:r>
            <a:r>
              <a:rPr lang="en-US" dirty="0" err="1"/>
              <a:t>străinătate</a:t>
            </a:r>
            <a:r>
              <a:rPr lang="en-US" dirty="0"/>
              <a:t>, conform </a:t>
            </a:r>
            <a:r>
              <a:rPr lang="en-US" dirty="0" err="1"/>
              <a:t>competenţelor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îi</a:t>
            </a:r>
            <a:r>
              <a:rPr lang="en-US" dirty="0"/>
              <a:t> </a:t>
            </a:r>
            <a:r>
              <a:rPr lang="en-US" dirty="0" err="1"/>
              <a:t>revin</a:t>
            </a:r>
            <a:r>
              <a:rPr lang="en-US" dirty="0"/>
              <a:t>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dispoziţiilor</a:t>
            </a:r>
            <a:r>
              <a:rPr lang="en-US" dirty="0"/>
              <a:t> </a:t>
            </a:r>
            <a:r>
              <a:rPr lang="en-US" dirty="0" err="1"/>
              <a:t>legale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vigoare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    </a:t>
            </a:r>
            <a:r>
              <a:rPr lang="en-US" b="1" dirty="0"/>
              <a:t>g)</a:t>
            </a:r>
            <a:r>
              <a:rPr lang="en-US" dirty="0"/>
              <a:t> </a:t>
            </a:r>
            <a:r>
              <a:rPr lang="en-US" dirty="0" err="1"/>
              <a:t>prezintă</a:t>
            </a:r>
            <a:r>
              <a:rPr lang="en-US" dirty="0"/>
              <a:t> </a:t>
            </a:r>
            <a:r>
              <a:rPr lang="en-US" dirty="0" err="1"/>
              <a:t>informări</a:t>
            </a:r>
            <a:r>
              <a:rPr lang="en-US" dirty="0"/>
              <a:t> </a:t>
            </a:r>
            <a:r>
              <a:rPr lang="en-US" dirty="0" err="1"/>
              <a:t>periodice</a:t>
            </a:r>
            <a:r>
              <a:rPr lang="en-US" dirty="0"/>
              <a:t> </a:t>
            </a:r>
            <a:r>
              <a:rPr lang="en-US" dirty="0" err="1"/>
              <a:t>Guvernului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organelor</a:t>
            </a:r>
            <a:r>
              <a:rPr lang="en-US" dirty="0"/>
              <a:t> </a:t>
            </a:r>
            <a:r>
              <a:rPr lang="en-US" dirty="0" err="1"/>
              <a:t>administraţiei</a:t>
            </a:r>
            <a:r>
              <a:rPr lang="en-US" dirty="0"/>
              <a:t> </a:t>
            </a:r>
            <a:r>
              <a:rPr lang="en-US" dirty="0" err="1"/>
              <a:t>publice</a:t>
            </a:r>
            <a:r>
              <a:rPr lang="en-US" dirty="0"/>
              <a:t> </a:t>
            </a:r>
            <a:r>
              <a:rPr lang="en-US" dirty="0" err="1"/>
              <a:t>centrale</a:t>
            </a:r>
            <a:r>
              <a:rPr lang="en-US" dirty="0"/>
              <a:t> </a:t>
            </a:r>
            <a:r>
              <a:rPr lang="en-US" dirty="0" err="1"/>
              <a:t>interesate</a:t>
            </a:r>
            <a:r>
              <a:rPr lang="en-US" dirty="0"/>
              <a:t>, la </a:t>
            </a:r>
            <a:r>
              <a:rPr lang="en-US" dirty="0" err="1"/>
              <a:t>solicitarea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, </a:t>
            </a:r>
            <a:r>
              <a:rPr lang="en-US" dirty="0" err="1"/>
              <a:t>referitoare</a:t>
            </a:r>
            <a:r>
              <a:rPr lang="en-US" dirty="0"/>
              <a:t> la </a:t>
            </a:r>
            <a:r>
              <a:rPr lang="en-US" dirty="0" err="1"/>
              <a:t>activitatea</a:t>
            </a:r>
            <a:r>
              <a:rPr lang="en-US" dirty="0"/>
              <a:t> </a:t>
            </a:r>
            <a:r>
              <a:rPr lang="en-US" dirty="0" err="1"/>
              <a:t>proprie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respectarea</a:t>
            </a:r>
            <a:r>
              <a:rPr lang="en-US" dirty="0"/>
              <a:t> </a:t>
            </a:r>
            <a:r>
              <a:rPr lang="en-US" dirty="0" err="1"/>
              <a:t>drepturilor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intereselor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   </a:t>
            </a:r>
            <a:r>
              <a:rPr lang="en-US" b="1" dirty="0"/>
              <a:t>h)</a:t>
            </a:r>
            <a:r>
              <a:rPr lang="en-US" dirty="0"/>
              <a:t> </a:t>
            </a:r>
            <a:r>
              <a:rPr lang="en-US" dirty="0" err="1"/>
              <a:t>desfăşoară</a:t>
            </a:r>
            <a:r>
              <a:rPr lang="en-US" dirty="0"/>
              <a:t> </a:t>
            </a:r>
            <a:r>
              <a:rPr lang="en-US" dirty="0" err="1"/>
              <a:t>activităţi</a:t>
            </a:r>
            <a:r>
              <a:rPr lang="en-US" dirty="0"/>
              <a:t> de </a:t>
            </a:r>
            <a:r>
              <a:rPr lang="en-US" dirty="0" err="1"/>
              <a:t>supraveghere</a:t>
            </a:r>
            <a:r>
              <a:rPr lang="en-US" dirty="0"/>
              <a:t> a </a:t>
            </a:r>
            <a:r>
              <a:rPr lang="en-US" dirty="0" err="1"/>
              <a:t>pieţei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serviciilor</a:t>
            </a:r>
            <a:r>
              <a:rPr lang="en-US" dirty="0"/>
              <a:t> </a:t>
            </a:r>
            <a:r>
              <a:rPr lang="en-US" dirty="0" err="1"/>
              <a:t>destinate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1055077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995D45-5ACB-4878-83DB-649BEF771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87826"/>
            <a:ext cx="9603275" cy="4002157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  </a:t>
            </a:r>
            <a:r>
              <a:rPr lang="en-US" sz="1800" b="1" dirty="0" err="1"/>
              <a:t>i</a:t>
            </a:r>
            <a:r>
              <a:rPr lang="en-US" sz="1800" b="1" dirty="0"/>
              <a:t>)</a:t>
            </a:r>
            <a:r>
              <a:rPr lang="en-US" sz="1800" dirty="0"/>
              <a:t> </a:t>
            </a:r>
            <a:r>
              <a:rPr lang="en-US" sz="1800" dirty="0" err="1"/>
              <a:t>controlează</a:t>
            </a:r>
            <a:r>
              <a:rPr lang="en-US" sz="1800" dirty="0"/>
              <a:t> </a:t>
            </a:r>
            <a:r>
              <a:rPr lang="en-US" sz="1800" dirty="0" err="1"/>
              <a:t>respectarea</a:t>
            </a:r>
            <a:r>
              <a:rPr lang="en-US" sz="1800" dirty="0"/>
              <a:t> </a:t>
            </a:r>
            <a:r>
              <a:rPr lang="en-US" sz="1800" dirty="0" err="1"/>
              <a:t>dispoziţiilor</a:t>
            </a:r>
            <a:r>
              <a:rPr lang="en-US" sz="1800" dirty="0"/>
              <a:t> </a:t>
            </a:r>
            <a:r>
              <a:rPr lang="en-US" sz="1800" dirty="0" err="1"/>
              <a:t>legale</a:t>
            </a:r>
            <a:r>
              <a:rPr lang="en-US" sz="1800" dirty="0"/>
              <a:t> </a:t>
            </a:r>
            <a:r>
              <a:rPr lang="en-US" sz="1800" dirty="0" err="1"/>
              <a:t>privind</a:t>
            </a:r>
            <a:r>
              <a:rPr lang="en-US" sz="1800" dirty="0"/>
              <a:t> </a:t>
            </a:r>
            <a:r>
              <a:rPr lang="en-US" sz="1800" dirty="0" err="1"/>
              <a:t>protecţia</a:t>
            </a:r>
            <a:r>
              <a:rPr lang="en-US" sz="1800" dirty="0"/>
              <a:t> </a:t>
            </a:r>
            <a:r>
              <a:rPr lang="en-US" sz="1800" dirty="0" err="1"/>
              <a:t>consumatorilor</a:t>
            </a:r>
            <a:r>
              <a:rPr lang="en-US" sz="1800" dirty="0"/>
              <a:t>, </a:t>
            </a:r>
            <a:r>
              <a:rPr lang="en-US" sz="1800" dirty="0" err="1"/>
              <a:t>referitoare</a:t>
            </a:r>
            <a:r>
              <a:rPr lang="en-US" sz="1800" dirty="0"/>
              <a:t> la </a:t>
            </a:r>
            <a:r>
              <a:rPr lang="en-US" sz="1800" dirty="0" err="1"/>
              <a:t>securitatea</a:t>
            </a:r>
            <a:r>
              <a:rPr lang="en-US" sz="1800" dirty="0"/>
              <a:t> </a:t>
            </a:r>
            <a:r>
              <a:rPr lang="en-US" sz="1800" dirty="0" err="1"/>
              <a:t>produselor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</a:t>
            </a:r>
            <a:r>
              <a:rPr lang="en-US" sz="1800" dirty="0" err="1"/>
              <a:t>serviciilor</a:t>
            </a:r>
            <a:r>
              <a:rPr lang="en-US" sz="1800" dirty="0"/>
              <a:t>, precum </a:t>
            </a:r>
            <a:r>
              <a:rPr lang="en-US" sz="1800" dirty="0" err="1"/>
              <a:t>şi</a:t>
            </a:r>
            <a:r>
              <a:rPr lang="en-US" sz="1800" dirty="0"/>
              <a:t> la </a:t>
            </a:r>
            <a:r>
              <a:rPr lang="en-US" sz="1800" dirty="0" err="1"/>
              <a:t>apărarea</a:t>
            </a:r>
            <a:r>
              <a:rPr lang="en-US" sz="1800" dirty="0"/>
              <a:t> </a:t>
            </a:r>
            <a:r>
              <a:rPr lang="en-US" sz="1800" dirty="0" err="1"/>
              <a:t>drepturilor</a:t>
            </a:r>
            <a:r>
              <a:rPr lang="en-US" sz="1800" dirty="0"/>
              <a:t> legitime ale </a:t>
            </a:r>
            <a:r>
              <a:rPr lang="en-US" sz="1800" dirty="0" err="1"/>
              <a:t>consumatorilor</a:t>
            </a:r>
            <a:r>
              <a:rPr lang="en-US" sz="1800" dirty="0"/>
              <a:t>, </a:t>
            </a:r>
            <a:r>
              <a:rPr lang="en-US" sz="1800" dirty="0" err="1"/>
              <a:t>prin</a:t>
            </a:r>
            <a:r>
              <a:rPr lang="en-US" sz="1800" dirty="0"/>
              <a:t> </a:t>
            </a:r>
            <a:r>
              <a:rPr lang="en-US" sz="1800" dirty="0" err="1"/>
              <a:t>efectuarea</a:t>
            </a:r>
            <a:r>
              <a:rPr lang="en-US" sz="1800" dirty="0"/>
              <a:t> de </a:t>
            </a:r>
            <a:r>
              <a:rPr lang="en-US" sz="1800" dirty="0" err="1"/>
              <a:t>controale</a:t>
            </a:r>
            <a:r>
              <a:rPr lang="en-US" sz="1800" dirty="0"/>
              <a:t> pe </a:t>
            </a:r>
            <a:r>
              <a:rPr lang="en-US" sz="1800" dirty="0" err="1"/>
              <a:t>piaţă</a:t>
            </a:r>
            <a:r>
              <a:rPr lang="en-US" sz="1800" dirty="0"/>
              <a:t> la </a:t>
            </a:r>
            <a:r>
              <a:rPr lang="en-US" sz="1800" dirty="0" err="1"/>
              <a:t>producători</a:t>
            </a:r>
            <a:r>
              <a:rPr lang="en-US" sz="1800" dirty="0"/>
              <a:t>, </a:t>
            </a:r>
            <a:r>
              <a:rPr lang="en-US" sz="1800" dirty="0" err="1"/>
              <a:t>importatori</a:t>
            </a:r>
            <a:r>
              <a:rPr lang="en-US" sz="1800" dirty="0"/>
              <a:t>, </a:t>
            </a:r>
            <a:r>
              <a:rPr lang="en-US" sz="1800" dirty="0" err="1"/>
              <a:t>distribuitori</a:t>
            </a:r>
            <a:r>
              <a:rPr lang="en-US" sz="1800" dirty="0"/>
              <a:t>, </a:t>
            </a:r>
            <a:r>
              <a:rPr lang="en-US" sz="1800" dirty="0" err="1"/>
              <a:t>vânzători</a:t>
            </a:r>
            <a:r>
              <a:rPr lang="en-US" sz="1800" dirty="0"/>
              <a:t>, </a:t>
            </a:r>
            <a:r>
              <a:rPr lang="en-US" sz="1800" dirty="0" err="1"/>
              <a:t>prestatori</a:t>
            </a:r>
            <a:r>
              <a:rPr lang="en-US" sz="1800" dirty="0"/>
              <a:t> de </a:t>
            </a:r>
            <a:r>
              <a:rPr lang="en-US" sz="1800" dirty="0" err="1"/>
              <a:t>servicii</a:t>
            </a:r>
            <a:r>
              <a:rPr lang="en-US" sz="1800" dirty="0"/>
              <a:t>, </a:t>
            </a:r>
            <a:r>
              <a:rPr lang="en-US" sz="1800" dirty="0" err="1"/>
              <a:t>inclusiv</a:t>
            </a:r>
            <a:r>
              <a:rPr lang="en-US" sz="1800" dirty="0"/>
              <a:t> </a:t>
            </a:r>
            <a:r>
              <a:rPr lang="en-US" sz="1800" dirty="0" err="1"/>
              <a:t>servicii</a:t>
            </a:r>
            <a:r>
              <a:rPr lang="en-US" sz="1800" dirty="0"/>
              <a:t> </a:t>
            </a:r>
            <a:r>
              <a:rPr lang="en-US" sz="1800" dirty="0" err="1"/>
              <a:t>financiare</a:t>
            </a:r>
            <a:r>
              <a:rPr lang="en-US" sz="1800" dirty="0"/>
              <a:t>, </a:t>
            </a:r>
            <a:r>
              <a:rPr lang="en-US" sz="1800" dirty="0" err="1"/>
              <a:t>şi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unităţile</a:t>
            </a:r>
            <a:r>
              <a:rPr lang="en-US" sz="1800" dirty="0"/>
              <a:t> </a:t>
            </a:r>
            <a:r>
              <a:rPr lang="en-US" sz="1800" dirty="0" err="1"/>
              <a:t>vamale</a:t>
            </a:r>
            <a:r>
              <a:rPr lang="en-US" sz="1800" dirty="0"/>
              <a:t>, </a:t>
            </a:r>
            <a:r>
              <a:rPr lang="en-US" sz="1800" dirty="0" err="1"/>
              <a:t>având</a:t>
            </a:r>
            <a:r>
              <a:rPr lang="en-US" sz="1800" dirty="0"/>
              <a:t> </a:t>
            </a:r>
            <a:r>
              <a:rPr lang="en-US" sz="1800" dirty="0" err="1"/>
              <a:t>acces</a:t>
            </a:r>
            <a:r>
              <a:rPr lang="en-US" sz="1800" dirty="0"/>
              <a:t> la </a:t>
            </a:r>
            <a:r>
              <a:rPr lang="en-US" sz="1800" dirty="0" err="1"/>
              <a:t>locurile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care se </a:t>
            </a:r>
            <a:r>
              <a:rPr lang="en-US" sz="1800" dirty="0" err="1"/>
              <a:t>produc</a:t>
            </a:r>
            <a:r>
              <a:rPr lang="en-US" sz="1800" dirty="0"/>
              <a:t>, se </a:t>
            </a:r>
            <a:r>
              <a:rPr lang="en-US" sz="1800" dirty="0" err="1"/>
              <a:t>depozitează</a:t>
            </a:r>
            <a:r>
              <a:rPr lang="en-US" sz="1800" dirty="0"/>
              <a:t> </a:t>
            </a:r>
            <a:r>
              <a:rPr lang="en-US" sz="1800" dirty="0" err="1"/>
              <a:t>ori</a:t>
            </a:r>
            <a:r>
              <a:rPr lang="en-US" sz="1800" dirty="0"/>
              <a:t> se </a:t>
            </a:r>
            <a:r>
              <a:rPr lang="en-US" sz="1800" dirty="0" err="1"/>
              <a:t>comercializează</a:t>
            </a:r>
            <a:r>
              <a:rPr lang="en-US" sz="1800" dirty="0"/>
              <a:t> </a:t>
            </a:r>
            <a:r>
              <a:rPr lang="en-US" sz="1800" dirty="0" err="1"/>
              <a:t>produsele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care se </a:t>
            </a:r>
            <a:r>
              <a:rPr lang="en-US" sz="1800" dirty="0" err="1"/>
              <a:t>prestează</a:t>
            </a:r>
            <a:r>
              <a:rPr lang="en-US" sz="1800" dirty="0"/>
              <a:t> </a:t>
            </a:r>
            <a:r>
              <a:rPr lang="en-US" sz="1800" dirty="0" err="1"/>
              <a:t>serviciile</a:t>
            </a:r>
            <a:r>
              <a:rPr lang="en-US" sz="1800" dirty="0"/>
              <a:t>, precum </a:t>
            </a:r>
            <a:r>
              <a:rPr lang="en-US" sz="1800" dirty="0" err="1"/>
              <a:t>şi</a:t>
            </a:r>
            <a:r>
              <a:rPr lang="en-US" sz="1800" dirty="0"/>
              <a:t> la </a:t>
            </a:r>
            <a:r>
              <a:rPr lang="en-US" sz="1800" dirty="0" err="1"/>
              <a:t>documentele</a:t>
            </a:r>
            <a:r>
              <a:rPr lang="en-US" sz="1800" dirty="0"/>
              <a:t> </a:t>
            </a:r>
            <a:r>
              <a:rPr lang="en-US" sz="1800" dirty="0" err="1"/>
              <a:t>referitoare</a:t>
            </a:r>
            <a:r>
              <a:rPr lang="en-US" sz="1800" dirty="0"/>
              <a:t> la </a:t>
            </a:r>
            <a:r>
              <a:rPr lang="en-US" sz="1800" dirty="0" err="1"/>
              <a:t>acestea</a:t>
            </a:r>
            <a:r>
              <a:rPr lang="en-US" sz="1800" dirty="0"/>
              <a:t>, </a:t>
            </a:r>
            <a:r>
              <a:rPr lang="en-US" sz="1800" dirty="0" err="1"/>
              <a:t>excepţie</a:t>
            </a:r>
            <a:r>
              <a:rPr lang="en-US" sz="1800" dirty="0"/>
              <a:t> </a:t>
            </a:r>
            <a:r>
              <a:rPr lang="en-US" sz="1800" dirty="0" err="1"/>
              <a:t>făcând</a:t>
            </a:r>
            <a:r>
              <a:rPr lang="en-US" sz="1800" dirty="0"/>
              <a:t> </a:t>
            </a:r>
            <a:r>
              <a:rPr lang="en-US" sz="1800" dirty="0" err="1"/>
              <a:t>controalele</a:t>
            </a:r>
            <a:r>
              <a:rPr lang="en-US" sz="1800" dirty="0"/>
              <a:t> </a:t>
            </a:r>
            <a:r>
              <a:rPr lang="en-US" sz="1800" dirty="0" err="1"/>
              <a:t>igienicosanitare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</a:t>
            </a:r>
            <a:r>
              <a:rPr lang="en-US" sz="1800" dirty="0" err="1"/>
              <a:t>sanitar-veterinare</a:t>
            </a:r>
            <a:r>
              <a:rPr lang="en-US" sz="1800" dirty="0"/>
              <a:t> la </a:t>
            </a:r>
            <a:r>
              <a:rPr lang="en-US" sz="1800" dirty="0" err="1"/>
              <a:t>producători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cazul</a:t>
            </a:r>
            <a:r>
              <a:rPr lang="en-US" sz="1800" dirty="0"/>
              <a:t> </a:t>
            </a:r>
            <a:r>
              <a:rPr lang="en-US" sz="1800" dirty="0" err="1"/>
              <a:t>produselor</a:t>
            </a:r>
            <a:r>
              <a:rPr lang="en-US" sz="1800" dirty="0"/>
              <a:t> </a:t>
            </a:r>
            <a:r>
              <a:rPr lang="en-US" sz="1800" dirty="0" err="1"/>
              <a:t>alimentare</a:t>
            </a:r>
            <a:r>
              <a:rPr lang="en-US" sz="1800" dirty="0"/>
              <a:t>; </a:t>
            </a:r>
            <a:br>
              <a:rPr lang="en-US" sz="1800" dirty="0"/>
            </a:br>
            <a:r>
              <a:rPr lang="en-US" sz="1800" dirty="0"/>
              <a:t>   </a:t>
            </a:r>
            <a:r>
              <a:rPr lang="en-US" sz="1800" b="1" dirty="0"/>
              <a:t>j)</a:t>
            </a:r>
            <a:r>
              <a:rPr lang="en-US" sz="1800" dirty="0"/>
              <a:t> </a:t>
            </a:r>
            <a:r>
              <a:rPr lang="en-US" sz="1800" dirty="0" err="1"/>
              <a:t>constată</a:t>
            </a:r>
            <a:r>
              <a:rPr lang="en-US" sz="1800" dirty="0"/>
              <a:t> </a:t>
            </a:r>
            <a:r>
              <a:rPr lang="en-US" sz="1800" dirty="0" err="1"/>
              <a:t>contravenţii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</a:t>
            </a:r>
            <a:r>
              <a:rPr lang="en-US" sz="1800" dirty="0" err="1"/>
              <a:t>dispune</a:t>
            </a:r>
            <a:r>
              <a:rPr lang="en-US" sz="1800" dirty="0"/>
              <a:t> </a:t>
            </a:r>
            <a:r>
              <a:rPr lang="en-US" sz="1800" dirty="0" err="1"/>
              <a:t>măsuri</a:t>
            </a:r>
            <a:r>
              <a:rPr lang="en-US" sz="1800" dirty="0"/>
              <a:t> de </a:t>
            </a:r>
            <a:r>
              <a:rPr lang="en-US" sz="1800" dirty="0" err="1"/>
              <a:t>limitare</a:t>
            </a:r>
            <a:r>
              <a:rPr lang="en-US" sz="1800" dirty="0"/>
              <a:t> a </a:t>
            </a:r>
            <a:r>
              <a:rPr lang="en-US" sz="1800" dirty="0" err="1"/>
              <a:t>consecinţelor</a:t>
            </a:r>
            <a:r>
              <a:rPr lang="en-US" sz="1800" dirty="0"/>
              <a:t> </a:t>
            </a:r>
            <a:r>
              <a:rPr lang="en-US" sz="1800" dirty="0" err="1"/>
              <a:t>producerii</a:t>
            </a:r>
            <a:r>
              <a:rPr lang="en-US" sz="1800" dirty="0"/>
              <a:t>, </a:t>
            </a:r>
            <a:r>
              <a:rPr lang="en-US" sz="1800" dirty="0" err="1"/>
              <a:t>prestării</a:t>
            </a:r>
            <a:r>
              <a:rPr lang="en-US" sz="1800" dirty="0"/>
              <a:t>, </a:t>
            </a:r>
            <a:r>
              <a:rPr lang="en-US" sz="1800" dirty="0" err="1"/>
              <a:t>importului</a:t>
            </a:r>
            <a:r>
              <a:rPr lang="en-US" sz="1800" dirty="0"/>
              <a:t>, </a:t>
            </a:r>
            <a:r>
              <a:rPr lang="en-US" sz="1800" dirty="0" err="1"/>
              <a:t>comercializării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oferirii</a:t>
            </a:r>
            <a:r>
              <a:rPr lang="en-US" sz="1800" dirty="0"/>
              <a:t> </a:t>
            </a:r>
            <a:r>
              <a:rPr lang="en-US" sz="1800" dirty="0" err="1"/>
              <a:t>gratuite</a:t>
            </a:r>
            <a:r>
              <a:rPr lang="en-US" sz="1800" dirty="0"/>
              <a:t> a </a:t>
            </a:r>
            <a:r>
              <a:rPr lang="en-US" sz="1800" dirty="0" err="1"/>
              <a:t>unor</a:t>
            </a:r>
            <a:r>
              <a:rPr lang="en-US" sz="1800" dirty="0"/>
              <a:t> </a:t>
            </a:r>
            <a:r>
              <a:rPr lang="en-US" sz="1800" dirty="0" err="1"/>
              <a:t>produse</a:t>
            </a:r>
            <a:r>
              <a:rPr lang="en-US" sz="1800" dirty="0"/>
              <a:t> </a:t>
            </a:r>
            <a:r>
              <a:rPr lang="en-US" sz="1800" dirty="0" err="1"/>
              <a:t>alimentare</a:t>
            </a:r>
            <a:r>
              <a:rPr lang="en-US" sz="1800" dirty="0"/>
              <a:t> </a:t>
            </a:r>
            <a:r>
              <a:rPr lang="en-US" sz="1800" dirty="0" err="1"/>
              <a:t>ori</a:t>
            </a:r>
            <a:r>
              <a:rPr lang="en-US" sz="1800" dirty="0"/>
              <a:t> </a:t>
            </a:r>
            <a:r>
              <a:rPr lang="en-US" sz="1800" dirty="0" err="1"/>
              <a:t>nealimentare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</a:t>
            </a:r>
            <a:r>
              <a:rPr lang="en-US" sz="1800" dirty="0" err="1"/>
              <a:t>servicii</a:t>
            </a:r>
            <a:r>
              <a:rPr lang="en-US" sz="1800" dirty="0"/>
              <a:t>, </a:t>
            </a:r>
            <a:r>
              <a:rPr lang="en-US" sz="1800" dirty="0" err="1"/>
              <a:t>inclusiv</a:t>
            </a:r>
            <a:r>
              <a:rPr lang="en-US" sz="1800" dirty="0"/>
              <a:t> </a:t>
            </a:r>
            <a:r>
              <a:rPr lang="en-US" sz="1800" dirty="0" err="1"/>
              <a:t>servicii</a:t>
            </a:r>
            <a:r>
              <a:rPr lang="en-US" sz="1800" dirty="0"/>
              <a:t> </a:t>
            </a:r>
            <a:r>
              <a:rPr lang="en-US" sz="1800" dirty="0" err="1"/>
              <a:t>financiare</a:t>
            </a:r>
            <a:r>
              <a:rPr lang="en-US" sz="1800" dirty="0"/>
              <a:t>, care nu sunt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concordanţă</a:t>
            </a:r>
            <a:r>
              <a:rPr lang="en-US" sz="1800" dirty="0"/>
              <a:t> cu </a:t>
            </a:r>
            <a:r>
              <a:rPr lang="en-US" sz="1800" dirty="0" err="1"/>
              <a:t>dispoziţiile</a:t>
            </a:r>
            <a:r>
              <a:rPr lang="en-US" sz="1800" dirty="0"/>
              <a:t> </a:t>
            </a:r>
            <a:r>
              <a:rPr lang="en-US" sz="1800" dirty="0" err="1"/>
              <a:t>legale</a:t>
            </a:r>
            <a:r>
              <a:rPr lang="en-US" sz="1800" dirty="0"/>
              <a:t> din </a:t>
            </a:r>
            <a:r>
              <a:rPr lang="en-US" sz="1800" dirty="0" err="1"/>
              <a:t>domeniile</a:t>
            </a:r>
            <a:r>
              <a:rPr lang="en-US" sz="1800" dirty="0"/>
              <a:t> de </a:t>
            </a:r>
            <a:r>
              <a:rPr lang="en-US" sz="1800" dirty="0" err="1"/>
              <a:t>activitate</a:t>
            </a:r>
            <a:r>
              <a:rPr lang="en-US" sz="1800" dirty="0"/>
              <a:t> ale </a:t>
            </a:r>
            <a:r>
              <a:rPr lang="en-US" sz="1800" dirty="0" err="1"/>
              <a:t>Autorităţii</a:t>
            </a:r>
            <a:r>
              <a:rPr lang="en-US" sz="1800" dirty="0"/>
              <a:t>, </a:t>
            </a:r>
            <a:r>
              <a:rPr lang="en-US" sz="1800" dirty="0" err="1"/>
              <a:t>prin</a:t>
            </a:r>
            <a:r>
              <a:rPr lang="en-US" sz="1800" dirty="0"/>
              <a:t> </a:t>
            </a:r>
            <a:r>
              <a:rPr lang="en-US" sz="1800" dirty="0" err="1"/>
              <a:t>aplicarea</a:t>
            </a:r>
            <a:r>
              <a:rPr lang="en-US" sz="1800" dirty="0"/>
              <a:t> </a:t>
            </a:r>
            <a:r>
              <a:rPr lang="en-US" sz="1800" dirty="0" err="1"/>
              <a:t>sancţiunilor</a:t>
            </a:r>
            <a:r>
              <a:rPr lang="en-US" sz="1800" dirty="0"/>
              <a:t> </a:t>
            </a:r>
            <a:r>
              <a:rPr lang="en-US" sz="1800" dirty="0" err="1"/>
              <a:t>contravenţionale</a:t>
            </a:r>
            <a:r>
              <a:rPr lang="en-US" sz="1800" dirty="0"/>
              <a:t> </a:t>
            </a:r>
            <a:r>
              <a:rPr lang="en-US" sz="1800" dirty="0" err="1"/>
              <a:t>prevăzute</a:t>
            </a:r>
            <a:r>
              <a:rPr lang="en-US" sz="1800" dirty="0"/>
              <a:t> de </a:t>
            </a:r>
            <a:r>
              <a:rPr lang="en-US" sz="1800" dirty="0" err="1"/>
              <a:t>lege</a:t>
            </a:r>
            <a:r>
              <a:rPr lang="en-US" sz="1800" dirty="0"/>
              <a:t>, </a:t>
            </a:r>
            <a:r>
              <a:rPr lang="en-US" sz="1800" dirty="0" err="1"/>
              <a:t>sesizează</a:t>
            </a:r>
            <a:r>
              <a:rPr lang="en-US" sz="1800" dirty="0"/>
              <a:t> </a:t>
            </a:r>
            <a:r>
              <a:rPr lang="en-US" sz="1800" dirty="0" err="1"/>
              <a:t>organele</a:t>
            </a:r>
            <a:r>
              <a:rPr lang="en-US" sz="1800" dirty="0"/>
              <a:t> de </a:t>
            </a:r>
            <a:r>
              <a:rPr lang="en-US" sz="1800" dirty="0" err="1"/>
              <a:t>urmărire</a:t>
            </a:r>
            <a:r>
              <a:rPr lang="en-US" sz="1800" dirty="0"/>
              <a:t> </a:t>
            </a:r>
            <a:r>
              <a:rPr lang="en-US" sz="1800" dirty="0" err="1"/>
              <a:t>penală</a:t>
            </a:r>
            <a:r>
              <a:rPr lang="en-US" sz="1800" dirty="0"/>
              <a:t> </a:t>
            </a:r>
            <a:r>
              <a:rPr lang="en-US" sz="1800" dirty="0" err="1"/>
              <a:t>ori</a:t>
            </a:r>
            <a:r>
              <a:rPr lang="en-US" sz="1800" dirty="0"/>
              <a:t> de </a:t>
            </a:r>
            <a:r>
              <a:rPr lang="en-US" sz="1800" dirty="0" err="1"/>
              <a:t>câte</a:t>
            </a:r>
            <a:r>
              <a:rPr lang="en-US" sz="1800" dirty="0"/>
              <a:t> </a:t>
            </a:r>
            <a:r>
              <a:rPr lang="en-US" sz="1800" dirty="0" err="1"/>
              <a:t>ori</a:t>
            </a:r>
            <a:r>
              <a:rPr lang="en-US" sz="1800" dirty="0"/>
              <a:t> </a:t>
            </a:r>
            <a:r>
              <a:rPr lang="en-US" sz="1800" dirty="0" err="1"/>
              <a:t>constată</a:t>
            </a:r>
            <a:r>
              <a:rPr lang="en-US" sz="1800" dirty="0"/>
              <a:t> </a:t>
            </a:r>
            <a:r>
              <a:rPr lang="en-US" sz="1800" dirty="0" err="1"/>
              <a:t>încălcări</a:t>
            </a:r>
            <a:r>
              <a:rPr lang="en-US" sz="1800" dirty="0"/>
              <a:t> ale </a:t>
            </a:r>
            <a:r>
              <a:rPr lang="en-US" sz="1800" dirty="0" err="1"/>
              <a:t>legii</a:t>
            </a:r>
            <a:r>
              <a:rPr lang="en-US" sz="1800" dirty="0"/>
              <a:t> </a:t>
            </a:r>
            <a:r>
              <a:rPr lang="en-US" sz="1800" dirty="0" err="1"/>
              <a:t>penale</a:t>
            </a:r>
            <a:r>
              <a:rPr lang="en-US" sz="1800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16750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9BF342-8362-47FB-B6E7-6280E536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k)</a:t>
            </a:r>
            <a:r>
              <a:rPr lang="en-US" dirty="0"/>
              <a:t> </a:t>
            </a:r>
            <a:r>
              <a:rPr lang="en-US" dirty="0" err="1"/>
              <a:t>controlează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mijloacele</a:t>
            </a:r>
            <a:r>
              <a:rPr lang="en-US" dirty="0"/>
              <a:t> de </a:t>
            </a:r>
            <a:r>
              <a:rPr lang="en-US" dirty="0" err="1"/>
              <a:t>măsurare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pe </a:t>
            </a:r>
            <a:r>
              <a:rPr lang="en-US" dirty="0" err="1"/>
              <a:t>piaţă</a:t>
            </a:r>
            <a:r>
              <a:rPr lang="en-US" dirty="0"/>
              <a:t> sunt </a:t>
            </a:r>
            <a:r>
              <a:rPr lang="en-US" dirty="0" err="1"/>
              <a:t>însoţite</a:t>
            </a:r>
            <a:r>
              <a:rPr lang="en-US" dirty="0"/>
              <a:t> de </a:t>
            </a:r>
            <a:r>
              <a:rPr lang="en-US" dirty="0" err="1"/>
              <a:t>documentele</a:t>
            </a:r>
            <a:r>
              <a:rPr lang="en-US" dirty="0"/>
              <a:t> </a:t>
            </a:r>
            <a:r>
              <a:rPr lang="en-US" dirty="0" err="1"/>
              <a:t>prevăzute</a:t>
            </a:r>
            <a:r>
              <a:rPr lang="en-US" dirty="0"/>
              <a:t> de </a:t>
            </a:r>
            <a:r>
              <a:rPr lang="en-US" dirty="0" err="1"/>
              <a:t>lege</a:t>
            </a:r>
            <a:r>
              <a:rPr lang="en-US" dirty="0"/>
              <a:t> care </a:t>
            </a:r>
            <a:r>
              <a:rPr lang="en-US" dirty="0" err="1"/>
              <a:t>atestă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din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metrologic</a:t>
            </a:r>
            <a:r>
              <a:rPr lang="en-US" dirty="0"/>
              <a:t>; </a:t>
            </a:r>
          </a:p>
          <a:p>
            <a:pPr marL="0" indent="0">
              <a:buNone/>
            </a:pPr>
            <a:r>
              <a:rPr lang="en-US" dirty="0"/>
              <a:t>    </a:t>
            </a:r>
            <a:r>
              <a:rPr lang="en-US" b="1" dirty="0"/>
              <a:t>l)</a:t>
            </a:r>
            <a:r>
              <a:rPr lang="en-US" dirty="0"/>
              <a:t> </a:t>
            </a:r>
            <a:r>
              <a:rPr lang="en-US" dirty="0" err="1"/>
              <a:t>solicită</a:t>
            </a:r>
            <a:r>
              <a:rPr lang="en-US" dirty="0"/>
              <a:t> </a:t>
            </a:r>
            <a:r>
              <a:rPr lang="en-US" dirty="0" err="1"/>
              <a:t>organelor</a:t>
            </a:r>
            <a:r>
              <a:rPr lang="en-US" dirty="0"/>
              <a:t> </a:t>
            </a:r>
            <a:r>
              <a:rPr lang="en-US" dirty="0" err="1"/>
              <a:t>emitente</a:t>
            </a:r>
            <a:r>
              <a:rPr lang="en-US" dirty="0"/>
              <a:t> </a:t>
            </a:r>
            <a:r>
              <a:rPr lang="en-US" dirty="0" err="1"/>
              <a:t>suspendarea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retragerea</a:t>
            </a:r>
            <a:r>
              <a:rPr lang="en-US" dirty="0"/>
              <a:t> </a:t>
            </a:r>
            <a:r>
              <a:rPr lang="en-US" dirty="0" err="1"/>
              <a:t>autorizaţiei</a:t>
            </a:r>
            <a:r>
              <a:rPr lang="en-US" dirty="0"/>
              <a:t> de </a:t>
            </a:r>
            <a:r>
              <a:rPr lang="en-US" dirty="0" err="1"/>
              <a:t>funcţionare</a:t>
            </a:r>
            <a:r>
              <a:rPr lang="en-US" dirty="0"/>
              <a:t>, a </a:t>
            </a:r>
            <a:r>
              <a:rPr lang="en-US" dirty="0" err="1"/>
              <a:t>licenţei</a:t>
            </a:r>
            <a:r>
              <a:rPr lang="en-US" dirty="0"/>
              <a:t> de </a:t>
            </a:r>
            <a:r>
              <a:rPr lang="en-US" dirty="0" err="1"/>
              <a:t>fabricaţie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a </a:t>
            </a:r>
            <a:r>
              <a:rPr lang="en-US" dirty="0" err="1"/>
              <a:t>certificatului</a:t>
            </a:r>
            <a:r>
              <a:rPr lang="en-US" dirty="0"/>
              <a:t> de </a:t>
            </a:r>
            <a:r>
              <a:rPr lang="en-US" dirty="0" err="1"/>
              <a:t>clasificare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condiţiile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m)</a:t>
            </a:r>
            <a:r>
              <a:rPr lang="en-US" dirty="0"/>
              <a:t> </a:t>
            </a:r>
            <a:r>
              <a:rPr lang="en-US" dirty="0" err="1"/>
              <a:t>coordonează</a:t>
            </a:r>
            <a:r>
              <a:rPr lang="en-US" dirty="0"/>
              <a:t> </a:t>
            </a:r>
            <a:r>
              <a:rPr lang="en-US" dirty="0" err="1"/>
              <a:t>schimbul</a:t>
            </a:r>
            <a:r>
              <a:rPr lang="en-US" dirty="0"/>
              <a:t> rapid de </a:t>
            </a:r>
            <a:r>
              <a:rPr lang="en-US" dirty="0" err="1"/>
              <a:t>informaţii</a:t>
            </a:r>
            <a:r>
              <a:rPr lang="en-US" dirty="0"/>
              <a:t> cu </a:t>
            </a:r>
            <a:r>
              <a:rPr lang="en-US" dirty="0" err="1"/>
              <a:t>instituţiile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organele</a:t>
            </a:r>
            <a:r>
              <a:rPr lang="en-US" dirty="0"/>
              <a:t> </a:t>
            </a:r>
            <a:r>
              <a:rPr lang="en-US" dirty="0" err="1"/>
              <a:t>competente</a:t>
            </a:r>
            <a:r>
              <a:rPr lang="en-US" dirty="0"/>
              <a:t>, </a:t>
            </a:r>
            <a:r>
              <a:rPr lang="en-US" dirty="0" err="1"/>
              <a:t>naţionale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internaţionale</a:t>
            </a:r>
            <a:r>
              <a:rPr lang="en-US" dirty="0"/>
              <a:t>,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produsele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serviciile</a:t>
            </a:r>
            <a:r>
              <a:rPr lang="en-US" dirty="0"/>
              <a:t> care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risc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sănătatea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securitatea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2691687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ABD72B-8B81-41C1-8B90-14225A779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b="1" dirty="0"/>
              <a:t>  n)</a:t>
            </a:r>
            <a:r>
              <a:rPr lang="en-US" dirty="0"/>
              <a:t> </a:t>
            </a:r>
            <a:r>
              <a:rPr lang="en-US" dirty="0" err="1"/>
              <a:t>sesizează</a:t>
            </a:r>
            <a:r>
              <a:rPr lang="en-US" dirty="0"/>
              <a:t> </a:t>
            </a:r>
            <a:r>
              <a:rPr lang="en-US" dirty="0" err="1"/>
              <a:t>factorii</a:t>
            </a:r>
            <a:r>
              <a:rPr lang="en-US" dirty="0"/>
              <a:t> de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implicaţi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certificare</a:t>
            </a:r>
            <a:r>
              <a:rPr lang="en-US" dirty="0"/>
              <a:t> a </a:t>
            </a:r>
            <a:r>
              <a:rPr lang="en-US" dirty="0" err="1"/>
              <a:t>calităţii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serviciilor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constatărilor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informaţiilor</a:t>
            </a:r>
            <a:r>
              <a:rPr lang="en-US" dirty="0"/>
              <a:t> </a:t>
            </a:r>
            <a:r>
              <a:rPr lang="en-US" dirty="0" err="1"/>
              <a:t>primite</a:t>
            </a:r>
            <a:r>
              <a:rPr lang="en-US" dirty="0"/>
              <a:t> de la </a:t>
            </a:r>
            <a:r>
              <a:rPr lang="en-US" dirty="0" err="1"/>
              <a:t>organismele</a:t>
            </a:r>
            <a:r>
              <a:rPr lang="en-US" dirty="0"/>
              <a:t> </a:t>
            </a:r>
            <a:r>
              <a:rPr lang="en-US" dirty="0" err="1"/>
              <a:t>neguvernamentale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de la </a:t>
            </a:r>
            <a:r>
              <a:rPr lang="en-US" dirty="0" err="1"/>
              <a:t>consumatori</a:t>
            </a:r>
            <a:r>
              <a:rPr lang="en-US" dirty="0"/>
              <a:t>,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neconformităţile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serviciilor</a:t>
            </a:r>
            <a:r>
              <a:rPr lang="en-US" dirty="0"/>
              <a:t> </a:t>
            </a:r>
            <a:r>
              <a:rPr lang="en-US" dirty="0" err="1"/>
              <a:t>destinate</a:t>
            </a:r>
            <a:r>
              <a:rPr lang="en-US" dirty="0"/>
              <a:t> </a:t>
            </a:r>
            <a:r>
              <a:rPr lang="en-US" dirty="0" err="1"/>
              <a:t>consumului</a:t>
            </a:r>
            <a:r>
              <a:rPr lang="en-US" dirty="0"/>
              <a:t> </a:t>
            </a:r>
            <a:r>
              <a:rPr lang="en-US" dirty="0" err="1"/>
              <a:t>populaţiei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raport</a:t>
            </a:r>
            <a:r>
              <a:rPr lang="en-US" dirty="0"/>
              <a:t> cu </a:t>
            </a:r>
            <a:r>
              <a:rPr lang="en-US" dirty="0" err="1"/>
              <a:t>documentele</a:t>
            </a:r>
            <a:r>
              <a:rPr lang="en-US" dirty="0"/>
              <a:t> de </a:t>
            </a:r>
            <a:r>
              <a:rPr lang="en-US" dirty="0" err="1"/>
              <a:t>certificare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propune</a:t>
            </a:r>
            <a:r>
              <a:rPr lang="en-US" dirty="0"/>
              <a:t> </a:t>
            </a:r>
            <a:r>
              <a:rPr lang="en-US" dirty="0" err="1"/>
              <a:t>îmbunătăţirea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elaborarea</a:t>
            </a:r>
            <a:r>
              <a:rPr lang="en-US" dirty="0"/>
              <a:t> de </a:t>
            </a:r>
            <a:r>
              <a:rPr lang="en-US" dirty="0" err="1"/>
              <a:t>reglementări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o)</a:t>
            </a:r>
            <a:r>
              <a:rPr lang="en-US" dirty="0"/>
              <a:t> </a:t>
            </a:r>
            <a:r>
              <a:rPr lang="en-US" dirty="0" err="1"/>
              <a:t>efectuează</a:t>
            </a:r>
            <a:r>
              <a:rPr lang="en-US" dirty="0"/>
              <a:t>,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prelevări</a:t>
            </a:r>
            <a:r>
              <a:rPr lang="en-US" dirty="0"/>
              <a:t> de probe din </a:t>
            </a:r>
            <a:r>
              <a:rPr lang="en-US" dirty="0" err="1"/>
              <a:t>produsele</a:t>
            </a:r>
            <a:r>
              <a:rPr lang="en-US" dirty="0"/>
              <a:t> </a:t>
            </a:r>
            <a:r>
              <a:rPr lang="en-US" dirty="0" err="1"/>
              <a:t>alimentare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nealimentare</a:t>
            </a:r>
            <a:r>
              <a:rPr lang="en-US" dirty="0"/>
              <a:t>,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încercări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laboratoare</a:t>
            </a:r>
            <a:r>
              <a:rPr lang="en-US" dirty="0"/>
              <a:t> </a:t>
            </a:r>
            <a:r>
              <a:rPr lang="en-US" dirty="0" err="1"/>
              <a:t>acreditate</a:t>
            </a:r>
            <a:r>
              <a:rPr lang="en-US" dirty="0"/>
              <a:t> conform </a:t>
            </a:r>
            <a:r>
              <a:rPr lang="en-US" dirty="0" err="1"/>
              <a:t>legii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laboratoare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agreate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p)</a:t>
            </a:r>
            <a:r>
              <a:rPr lang="en-US" dirty="0"/>
              <a:t> </a:t>
            </a:r>
            <a:r>
              <a:rPr lang="en-US" dirty="0" err="1"/>
              <a:t>efectuează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finanţează</a:t>
            </a:r>
            <a:r>
              <a:rPr lang="en-US" dirty="0"/>
              <a:t> </a:t>
            </a:r>
            <a:r>
              <a:rPr lang="en-US" dirty="0" err="1"/>
              <a:t>studii</a:t>
            </a:r>
            <a:r>
              <a:rPr lang="en-US" dirty="0"/>
              <a:t>, teste comparative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cercetări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</a:t>
            </a:r>
            <a:r>
              <a:rPr lang="en-US" dirty="0"/>
              <a:t>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serviciilor</a:t>
            </a:r>
            <a:r>
              <a:rPr lang="en-US" dirty="0"/>
              <a:t> </a:t>
            </a:r>
            <a:r>
              <a:rPr lang="en-US" dirty="0" err="1"/>
              <a:t>destinate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pe care le </a:t>
            </a:r>
            <a:r>
              <a:rPr lang="en-US" dirty="0" err="1"/>
              <a:t>aduce</a:t>
            </a:r>
            <a:r>
              <a:rPr lang="en-US" dirty="0"/>
              <a:t> la </a:t>
            </a:r>
            <a:r>
              <a:rPr lang="en-US" dirty="0" err="1"/>
              <a:t>cunoştinţa</a:t>
            </a:r>
            <a:r>
              <a:rPr lang="en-US" dirty="0"/>
              <a:t> </a:t>
            </a:r>
            <a:r>
              <a:rPr lang="en-US" dirty="0" err="1"/>
              <a:t>publicului</a:t>
            </a:r>
            <a:r>
              <a:rPr lang="en-US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1114911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8A14EA-9723-498A-AEB4-9B3D520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096472"/>
          </a:xfrm>
        </p:spPr>
        <p:txBody>
          <a:bodyPr>
            <a:normAutofit/>
          </a:bodyPr>
          <a:lstStyle/>
          <a:p>
            <a:r>
              <a:rPr lang="en-US" b="1" dirty="0"/>
              <a:t>  q)</a:t>
            </a:r>
            <a:r>
              <a:rPr lang="en-US" dirty="0"/>
              <a:t> </a:t>
            </a:r>
            <a:r>
              <a:rPr lang="en-US" dirty="0" err="1"/>
              <a:t>stabileşte</a:t>
            </a:r>
            <a:r>
              <a:rPr lang="en-US" dirty="0"/>
              <a:t> </a:t>
            </a:r>
            <a:r>
              <a:rPr lang="en-US" dirty="0" err="1"/>
              <a:t>relaţii</a:t>
            </a:r>
            <a:r>
              <a:rPr lang="en-US" dirty="0"/>
              <a:t> de </a:t>
            </a:r>
            <a:r>
              <a:rPr lang="en-US" dirty="0" err="1"/>
              <a:t>colaborare</a:t>
            </a:r>
            <a:r>
              <a:rPr lang="en-US" dirty="0"/>
              <a:t> cu institute de </a:t>
            </a:r>
            <a:r>
              <a:rPr lang="en-US" dirty="0" err="1"/>
              <a:t>cercetare</a:t>
            </a:r>
            <a:r>
              <a:rPr lang="en-US" dirty="0"/>
              <a:t>, </a:t>
            </a:r>
            <a:r>
              <a:rPr lang="en-US" dirty="0" err="1"/>
              <a:t>laboratoare</a:t>
            </a:r>
            <a:r>
              <a:rPr lang="en-US" dirty="0"/>
              <a:t> de </a:t>
            </a:r>
            <a:r>
              <a:rPr lang="en-US" dirty="0" err="1"/>
              <a:t>expertizare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certificare</a:t>
            </a:r>
            <a:r>
              <a:rPr lang="en-US" dirty="0"/>
              <a:t>, </a:t>
            </a:r>
            <a:r>
              <a:rPr lang="en-US" dirty="0" err="1"/>
              <a:t>inclusiv</a:t>
            </a:r>
            <a:r>
              <a:rPr lang="en-US" dirty="0"/>
              <a:t> din </a:t>
            </a:r>
            <a:r>
              <a:rPr lang="en-US" dirty="0" err="1"/>
              <a:t>străinătate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realizarea</a:t>
            </a:r>
            <a:r>
              <a:rPr lang="en-US" dirty="0"/>
              <a:t> de </a:t>
            </a:r>
            <a:r>
              <a:rPr lang="en-US" dirty="0" err="1"/>
              <a:t>studii</a:t>
            </a:r>
            <a:r>
              <a:rPr lang="en-US" dirty="0"/>
              <a:t>, </a:t>
            </a:r>
            <a:r>
              <a:rPr lang="en-US" dirty="0" err="1"/>
              <a:t>cercetări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teste comparative;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r)</a:t>
            </a:r>
            <a:r>
              <a:rPr lang="en-US" dirty="0"/>
              <a:t> </a:t>
            </a:r>
            <a:r>
              <a:rPr lang="en-US" dirty="0" err="1"/>
              <a:t>desfăşoară</a:t>
            </a:r>
            <a:r>
              <a:rPr lang="en-US" dirty="0"/>
              <a:t> </a:t>
            </a:r>
            <a:r>
              <a:rPr lang="en-US" dirty="0" err="1"/>
              <a:t>activităţi</a:t>
            </a:r>
            <a:r>
              <a:rPr lang="en-US" dirty="0"/>
              <a:t> de </a:t>
            </a:r>
            <a:r>
              <a:rPr lang="en-US" dirty="0" err="1"/>
              <a:t>informare</a:t>
            </a:r>
            <a:r>
              <a:rPr lang="en-US" dirty="0"/>
              <a:t>, </a:t>
            </a:r>
            <a:r>
              <a:rPr lang="en-US" dirty="0" err="1"/>
              <a:t>consiliere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educare</a:t>
            </a:r>
            <a:r>
              <a:rPr lang="en-US" dirty="0"/>
              <a:t> a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produsele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serviciile</a:t>
            </a:r>
            <a:r>
              <a:rPr lang="en-US" dirty="0"/>
              <a:t> </a:t>
            </a:r>
            <a:r>
              <a:rPr lang="en-US" dirty="0" err="1"/>
              <a:t>destinate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; </a:t>
            </a:r>
            <a:r>
              <a:rPr lang="en-US" dirty="0" err="1"/>
              <a:t>editează</a:t>
            </a:r>
            <a:r>
              <a:rPr lang="en-US" dirty="0"/>
              <a:t> </a:t>
            </a:r>
            <a:r>
              <a:rPr lang="en-US" dirty="0" err="1"/>
              <a:t>publicaţii</a:t>
            </a:r>
            <a:r>
              <a:rPr lang="en-US" dirty="0"/>
              <a:t> de </a:t>
            </a:r>
            <a:r>
              <a:rPr lang="en-US" dirty="0" err="1"/>
              <a:t>specialitate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s)</a:t>
            </a:r>
            <a:r>
              <a:rPr lang="en-US" dirty="0"/>
              <a:t> </a:t>
            </a:r>
            <a:r>
              <a:rPr lang="en-US" dirty="0" err="1"/>
              <a:t>sprijină</a:t>
            </a:r>
            <a:r>
              <a:rPr lang="en-US" dirty="0"/>
              <a:t> </a:t>
            </a:r>
            <a:r>
              <a:rPr lang="en-US" dirty="0" err="1"/>
              <a:t>asociaţiile</a:t>
            </a:r>
            <a:r>
              <a:rPr lang="en-US" dirty="0"/>
              <a:t> de </a:t>
            </a:r>
            <a:r>
              <a:rPr lang="en-US" dirty="0" err="1"/>
              <a:t>consumatori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atingerii</a:t>
            </a:r>
            <a:r>
              <a:rPr lang="en-US" dirty="0"/>
              <a:t> </a:t>
            </a:r>
            <a:r>
              <a:rPr lang="en-US" dirty="0" err="1"/>
              <a:t>obiectivelor</a:t>
            </a:r>
            <a:r>
              <a:rPr lang="en-US" dirty="0"/>
              <a:t> </a:t>
            </a:r>
            <a:r>
              <a:rPr lang="en-US" dirty="0" err="1"/>
              <a:t>prevăzute</a:t>
            </a:r>
            <a:r>
              <a:rPr lang="en-US" dirty="0"/>
              <a:t> de </a:t>
            </a:r>
            <a:r>
              <a:rPr lang="en-US" dirty="0" err="1"/>
              <a:t>lege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ş)</a:t>
            </a:r>
            <a:r>
              <a:rPr lang="en-US" dirty="0"/>
              <a:t> </a:t>
            </a:r>
            <a:r>
              <a:rPr lang="en-US" dirty="0" err="1"/>
              <a:t>sprijină</a:t>
            </a:r>
            <a:r>
              <a:rPr lang="en-US" dirty="0"/>
              <a:t> </a:t>
            </a:r>
            <a:r>
              <a:rPr lang="en-US" dirty="0" err="1"/>
              <a:t>asociaţiile</a:t>
            </a:r>
            <a:r>
              <a:rPr lang="en-US" dirty="0"/>
              <a:t> de </a:t>
            </a:r>
            <a:r>
              <a:rPr lang="en-US" dirty="0" err="1"/>
              <a:t>consumatori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acţiunea</a:t>
            </a:r>
            <a:r>
              <a:rPr lang="en-US" dirty="0"/>
              <a:t> de </a:t>
            </a:r>
            <a:r>
              <a:rPr lang="en-US" dirty="0" err="1"/>
              <a:t>înfiinţare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funcţionare</a:t>
            </a:r>
            <a:r>
              <a:rPr lang="en-US" dirty="0"/>
              <a:t> a </a:t>
            </a:r>
            <a:r>
              <a:rPr lang="en-US" dirty="0" err="1"/>
              <a:t>centrelor</a:t>
            </a:r>
            <a:r>
              <a:rPr lang="en-US" dirty="0"/>
              <a:t> de </a:t>
            </a:r>
            <a:r>
              <a:rPr lang="en-US" dirty="0" err="1"/>
              <a:t>consultanţă</a:t>
            </a:r>
            <a:r>
              <a:rPr lang="en-US" dirty="0"/>
              <a:t>, </a:t>
            </a:r>
            <a:r>
              <a:rPr lang="en-US" dirty="0" err="1"/>
              <a:t>informare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educare</a:t>
            </a:r>
            <a:r>
              <a:rPr lang="en-US" dirty="0"/>
              <a:t> a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195785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AA441B-D786-46AD-8728-9829088A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t)</a:t>
            </a:r>
            <a:r>
              <a:rPr lang="en-US" dirty="0"/>
              <a:t> </a:t>
            </a:r>
            <a:r>
              <a:rPr lang="en-US" dirty="0" err="1"/>
              <a:t>susţine</a:t>
            </a:r>
            <a:r>
              <a:rPr lang="en-US" dirty="0"/>
              <a:t> </a:t>
            </a:r>
            <a:r>
              <a:rPr lang="en-US" dirty="0" err="1"/>
              <a:t>înfiinţarea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organisme</a:t>
            </a:r>
            <a:r>
              <a:rPr lang="en-US" dirty="0"/>
              <a:t> de </a:t>
            </a:r>
            <a:r>
              <a:rPr lang="en-US" dirty="0" err="1"/>
              <a:t>mediere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</a:t>
            </a:r>
            <a:r>
              <a:rPr lang="en-US" b="1" dirty="0"/>
              <a:t>ţ)</a:t>
            </a:r>
            <a:r>
              <a:rPr lang="en-US" dirty="0"/>
              <a:t> </a:t>
            </a:r>
            <a:r>
              <a:rPr lang="en-US" dirty="0" err="1"/>
              <a:t>informează</a:t>
            </a:r>
            <a:r>
              <a:rPr lang="en-US" dirty="0"/>
              <a:t> permanent </a:t>
            </a:r>
            <a:r>
              <a:rPr lang="en-US" dirty="0" err="1"/>
              <a:t>consumatorii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serviciilor</a:t>
            </a:r>
            <a:r>
              <a:rPr lang="en-US" dirty="0"/>
              <a:t> care </a:t>
            </a:r>
            <a:r>
              <a:rPr lang="en-US" dirty="0" err="1"/>
              <a:t>prezintă</a:t>
            </a:r>
            <a:r>
              <a:rPr lang="en-US" dirty="0"/>
              <a:t> </a:t>
            </a:r>
            <a:r>
              <a:rPr lang="en-US" dirty="0" err="1"/>
              <a:t>riscuri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sănătatea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securitatea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care le pot </a:t>
            </a:r>
            <a:r>
              <a:rPr lang="en-US" dirty="0" err="1"/>
              <a:t>afecta</a:t>
            </a:r>
            <a:r>
              <a:rPr lang="en-US" dirty="0"/>
              <a:t> </a:t>
            </a:r>
            <a:r>
              <a:rPr lang="en-US" dirty="0" err="1"/>
              <a:t>interesele</a:t>
            </a:r>
            <a:r>
              <a:rPr lang="en-US" dirty="0"/>
              <a:t> </a:t>
            </a:r>
            <a:r>
              <a:rPr lang="en-US" dirty="0" err="1"/>
              <a:t>economice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</a:t>
            </a:r>
            <a:r>
              <a:rPr lang="en-US" b="1" dirty="0"/>
              <a:t>u)</a:t>
            </a:r>
            <a:r>
              <a:rPr lang="en-US" dirty="0"/>
              <a:t> </a:t>
            </a:r>
            <a:r>
              <a:rPr lang="en-US" dirty="0" err="1"/>
              <a:t>primeşte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rezolvă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,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</a:t>
            </a:r>
            <a:r>
              <a:rPr lang="en-US" dirty="0" err="1"/>
              <a:t>transmite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soluţionare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,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competenţelor</a:t>
            </a:r>
            <a:r>
              <a:rPr lang="en-US" dirty="0"/>
              <a:t>, </a:t>
            </a:r>
            <a:r>
              <a:rPr lang="en-US" dirty="0" err="1"/>
              <a:t>sesizările</a:t>
            </a:r>
            <a:r>
              <a:rPr lang="en-US" dirty="0"/>
              <a:t> </a:t>
            </a:r>
            <a:r>
              <a:rPr lang="en-US" dirty="0" err="1"/>
              <a:t>asociaţiilor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protecţia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precum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sesizările</a:t>
            </a:r>
            <a:r>
              <a:rPr lang="en-US" dirty="0"/>
              <a:t> </a:t>
            </a:r>
            <a:r>
              <a:rPr lang="en-US" dirty="0" err="1"/>
              <a:t>persoanelor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cu </a:t>
            </a:r>
            <a:r>
              <a:rPr lang="en-US" dirty="0" err="1"/>
              <a:t>privire</a:t>
            </a:r>
            <a:r>
              <a:rPr lang="en-US" dirty="0"/>
              <a:t> la </a:t>
            </a:r>
            <a:r>
              <a:rPr lang="en-US" dirty="0" err="1"/>
              <a:t>încălcarea</a:t>
            </a:r>
            <a:r>
              <a:rPr lang="en-US" dirty="0"/>
              <a:t> </a:t>
            </a:r>
            <a:r>
              <a:rPr lang="en-US" dirty="0" err="1"/>
              <a:t>drepturilor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condiţiile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 </a:t>
            </a:r>
            <a:r>
              <a:rPr lang="en-US" b="1" dirty="0"/>
              <a:t>v)</a:t>
            </a:r>
            <a:r>
              <a:rPr lang="en-US" dirty="0"/>
              <a:t> </a:t>
            </a:r>
            <a:r>
              <a:rPr lang="en-US" dirty="0" err="1"/>
              <a:t>desfăşoară</a:t>
            </a:r>
            <a:r>
              <a:rPr lang="en-US" dirty="0"/>
              <a:t> </a:t>
            </a:r>
            <a:r>
              <a:rPr lang="en-US" dirty="0" err="1"/>
              <a:t>activităţi</a:t>
            </a:r>
            <a:r>
              <a:rPr lang="en-US" dirty="0"/>
              <a:t> de </a:t>
            </a:r>
            <a:r>
              <a:rPr lang="en-US" dirty="0" err="1"/>
              <a:t>pregătire</a:t>
            </a:r>
            <a:r>
              <a:rPr lang="en-US" dirty="0"/>
              <a:t> a </a:t>
            </a:r>
            <a:r>
              <a:rPr lang="en-US" dirty="0" err="1"/>
              <a:t>specialiştilor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521673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2F6E62-DD5A-44BC-901A-890BFFCC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  w)</a:t>
            </a:r>
            <a:r>
              <a:rPr lang="en-US" dirty="0"/>
              <a:t> </a:t>
            </a:r>
            <a:r>
              <a:rPr lang="en-US" dirty="0" err="1"/>
              <a:t>acordă</a:t>
            </a:r>
            <a:r>
              <a:rPr lang="en-US" dirty="0"/>
              <a:t> </a:t>
            </a:r>
            <a:r>
              <a:rPr lang="en-US" dirty="0" err="1"/>
              <a:t>consultanţă</a:t>
            </a:r>
            <a:r>
              <a:rPr lang="en-US" dirty="0"/>
              <a:t> de </a:t>
            </a:r>
            <a:r>
              <a:rPr lang="en-US" dirty="0" err="1"/>
              <a:t>specialitate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protecţiei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x)</a:t>
            </a:r>
            <a:r>
              <a:rPr lang="en-US" dirty="0"/>
              <a:t> </a:t>
            </a:r>
            <a:r>
              <a:rPr lang="en-US" dirty="0" err="1"/>
              <a:t>stabileşte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percepe</a:t>
            </a:r>
            <a:r>
              <a:rPr lang="en-US" dirty="0"/>
              <a:t> </a:t>
            </a:r>
            <a:r>
              <a:rPr lang="en-US" dirty="0" err="1"/>
              <a:t>taxe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tarife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analize</a:t>
            </a:r>
            <a:r>
              <a:rPr lang="en-US" dirty="0"/>
              <a:t>, </a:t>
            </a:r>
            <a:r>
              <a:rPr lang="en-US" dirty="0" err="1"/>
              <a:t>încercări</a:t>
            </a:r>
            <a:r>
              <a:rPr lang="en-US" dirty="0"/>
              <a:t>, </a:t>
            </a:r>
            <a:r>
              <a:rPr lang="en-US" dirty="0" err="1"/>
              <a:t>expertizări</a:t>
            </a:r>
            <a:r>
              <a:rPr lang="en-US" dirty="0"/>
              <a:t>, </a:t>
            </a:r>
            <a:r>
              <a:rPr lang="en-US" dirty="0" err="1"/>
              <a:t>certificări</a:t>
            </a:r>
            <a:r>
              <a:rPr lang="en-US" dirty="0"/>
              <a:t> de </a:t>
            </a:r>
            <a:r>
              <a:rPr lang="en-US" dirty="0" err="1"/>
              <a:t>laborator</a:t>
            </a:r>
            <a:r>
              <a:rPr lang="en-US" dirty="0"/>
              <a:t>, </a:t>
            </a:r>
            <a:r>
              <a:rPr lang="en-US" dirty="0" err="1"/>
              <a:t>autorizări</a:t>
            </a:r>
            <a:r>
              <a:rPr lang="en-US" dirty="0"/>
              <a:t>, </a:t>
            </a:r>
            <a:r>
              <a:rPr lang="en-US" dirty="0" err="1"/>
              <a:t>consultanţă</a:t>
            </a:r>
            <a:r>
              <a:rPr lang="en-US" dirty="0"/>
              <a:t>, </a:t>
            </a:r>
            <a:r>
              <a:rPr lang="en-US" dirty="0" err="1"/>
              <a:t>cursuri</a:t>
            </a:r>
            <a:r>
              <a:rPr lang="en-US" dirty="0"/>
              <a:t> de </a:t>
            </a:r>
            <a:r>
              <a:rPr lang="en-US" dirty="0" err="1"/>
              <a:t>pregătire</a:t>
            </a:r>
            <a:r>
              <a:rPr lang="en-US" dirty="0"/>
              <a:t>, </a:t>
            </a:r>
            <a:r>
              <a:rPr lang="en-US" dirty="0" err="1"/>
              <a:t>specializare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perfecţionare</a:t>
            </a:r>
            <a:r>
              <a:rPr lang="en-US" dirty="0"/>
              <a:t>,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prestate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condiţiile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y)</a:t>
            </a:r>
            <a:r>
              <a:rPr lang="en-US" dirty="0"/>
              <a:t> </a:t>
            </a:r>
            <a:r>
              <a:rPr lang="en-US" dirty="0" err="1"/>
              <a:t>stabileşte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percepe</a:t>
            </a:r>
            <a:r>
              <a:rPr lang="en-US" dirty="0"/>
              <a:t> </a:t>
            </a:r>
            <a:r>
              <a:rPr lang="en-US" dirty="0" err="1"/>
              <a:t>taxe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tarife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autorizarea</a:t>
            </a:r>
            <a:r>
              <a:rPr lang="en-US" dirty="0"/>
              <a:t> </a:t>
            </a:r>
            <a:r>
              <a:rPr lang="en-US" dirty="0" err="1"/>
              <a:t>persoanelor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juridice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operaţiuni</a:t>
            </a:r>
            <a:r>
              <a:rPr lang="en-US" dirty="0"/>
              <a:t> cu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activităţi</a:t>
            </a:r>
            <a:r>
              <a:rPr lang="en-US" dirty="0"/>
              <a:t> de </a:t>
            </a:r>
            <a:r>
              <a:rPr lang="en-US" dirty="0" err="1"/>
              <a:t>analiză</a:t>
            </a:r>
            <a:r>
              <a:rPr lang="en-US" dirty="0"/>
              <a:t>, </a:t>
            </a:r>
            <a:r>
              <a:rPr lang="en-US" dirty="0" err="1"/>
              <a:t>marcare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expertizare</a:t>
            </a:r>
            <a:r>
              <a:rPr lang="en-US" dirty="0"/>
              <a:t> a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z)</a:t>
            </a:r>
            <a:r>
              <a:rPr lang="en-US" dirty="0"/>
              <a:t> </a:t>
            </a:r>
            <a:r>
              <a:rPr lang="en-US" dirty="0" err="1"/>
              <a:t>fundamentează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propune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proiectul</a:t>
            </a:r>
            <a:r>
              <a:rPr lang="en-US" dirty="0"/>
              <a:t> de </a:t>
            </a:r>
            <a:r>
              <a:rPr lang="en-US" dirty="0" err="1"/>
              <a:t>buget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realizării</a:t>
            </a:r>
            <a:r>
              <a:rPr lang="en-US" dirty="0"/>
              <a:t> </a:t>
            </a:r>
            <a:r>
              <a:rPr lang="en-US" dirty="0" err="1"/>
              <a:t>politicilor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de </a:t>
            </a:r>
            <a:r>
              <a:rPr lang="en-US" dirty="0" err="1"/>
              <a:t>competenţă</a:t>
            </a:r>
            <a:r>
              <a:rPr lang="en-US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1789292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FE2FDC-5E3F-43C7-87E8-48997E4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   </a:t>
            </a:r>
            <a:r>
              <a:rPr lang="en-US" b="1" dirty="0"/>
              <a:t>aa)</a:t>
            </a:r>
            <a:r>
              <a:rPr lang="en-US" dirty="0"/>
              <a:t> </a:t>
            </a:r>
            <a:r>
              <a:rPr lang="en-US" dirty="0" err="1"/>
              <a:t>urmăreşte</a:t>
            </a:r>
            <a:r>
              <a:rPr lang="en-US" dirty="0"/>
              <a:t>,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, </a:t>
            </a:r>
            <a:r>
              <a:rPr lang="en-US" dirty="0" err="1"/>
              <a:t>legalitatea</a:t>
            </a:r>
            <a:r>
              <a:rPr lang="en-US" dirty="0"/>
              <a:t> </a:t>
            </a:r>
            <a:r>
              <a:rPr lang="en-US" dirty="0" err="1"/>
              <a:t>publicităţii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produsele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serviciile</a:t>
            </a:r>
            <a:r>
              <a:rPr lang="en-US" dirty="0"/>
              <a:t> </a:t>
            </a:r>
            <a:r>
              <a:rPr lang="en-US" dirty="0" err="1"/>
              <a:t>destinate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bb)</a:t>
            </a:r>
            <a:r>
              <a:rPr lang="en-US" dirty="0"/>
              <a:t> </a:t>
            </a:r>
            <a:r>
              <a:rPr lang="en-US" dirty="0" err="1"/>
              <a:t>asigură</a:t>
            </a:r>
            <a:r>
              <a:rPr lang="en-US" dirty="0"/>
              <a:t>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de </a:t>
            </a:r>
            <a:r>
              <a:rPr lang="en-US" dirty="0" err="1"/>
              <a:t>certificare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Kimberley, ca </a:t>
            </a:r>
            <a:r>
              <a:rPr lang="en-US" dirty="0" err="1"/>
              <a:t>autoritate</a:t>
            </a:r>
            <a:r>
              <a:rPr lang="en-US" dirty="0"/>
              <a:t> </a:t>
            </a:r>
            <a:r>
              <a:rPr lang="en-US" dirty="0" err="1"/>
              <a:t>desemnată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cc)</a:t>
            </a:r>
            <a:r>
              <a:rPr lang="en-US" dirty="0"/>
              <a:t> </a:t>
            </a:r>
            <a:r>
              <a:rPr lang="en-US" dirty="0" err="1"/>
              <a:t>autorizează</a:t>
            </a:r>
            <a:r>
              <a:rPr lang="en-US" dirty="0"/>
              <a:t> </a:t>
            </a:r>
            <a:r>
              <a:rPr lang="en-US" dirty="0" err="1"/>
              <a:t>operaţiunile</a:t>
            </a:r>
            <a:r>
              <a:rPr lang="en-US" dirty="0"/>
              <a:t> cu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,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prevederilor</a:t>
            </a:r>
            <a:r>
              <a:rPr lang="en-US" dirty="0"/>
              <a:t> </a:t>
            </a:r>
            <a:r>
              <a:rPr lang="en-US" dirty="0" err="1"/>
              <a:t>Ordonanţei</a:t>
            </a:r>
            <a:r>
              <a:rPr lang="en-US" dirty="0"/>
              <a:t> de </a:t>
            </a:r>
            <a:r>
              <a:rPr lang="en-US" dirty="0" err="1"/>
              <a:t>urgenţă</a:t>
            </a:r>
            <a:r>
              <a:rPr lang="en-US" dirty="0"/>
              <a:t> a </a:t>
            </a:r>
            <a:r>
              <a:rPr lang="en-US" dirty="0" err="1"/>
              <a:t>Guvernului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nr. 190/2000</a:t>
            </a:r>
            <a:r>
              <a:rPr lang="en-US" dirty="0"/>
              <a:t> 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regimul</a:t>
            </a:r>
            <a:r>
              <a:rPr lang="en-US" dirty="0"/>
              <a:t>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România</a:t>
            </a:r>
            <a:r>
              <a:rPr lang="en-US" dirty="0"/>
              <a:t>, </a:t>
            </a:r>
            <a:r>
              <a:rPr lang="en-US" dirty="0" err="1"/>
              <a:t>republicată</a:t>
            </a:r>
            <a:r>
              <a:rPr lang="en-US" dirty="0"/>
              <a:t>, cu </a:t>
            </a:r>
            <a:r>
              <a:rPr lang="en-US" dirty="0" err="1"/>
              <a:t>modificările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completările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dd)</a:t>
            </a:r>
            <a:r>
              <a:rPr lang="en-US" dirty="0"/>
              <a:t> </a:t>
            </a:r>
            <a:r>
              <a:rPr lang="en-US" dirty="0" err="1"/>
              <a:t>stabileşte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aprobă</a:t>
            </a:r>
            <a:r>
              <a:rPr lang="en-US" dirty="0"/>
              <a:t> </a:t>
            </a:r>
            <a:r>
              <a:rPr lang="en-US" dirty="0" err="1"/>
              <a:t>mărcile</a:t>
            </a:r>
            <a:r>
              <a:rPr lang="en-US" dirty="0"/>
              <a:t> de </a:t>
            </a:r>
            <a:r>
              <a:rPr lang="en-US" dirty="0" err="1"/>
              <a:t>certificare</a:t>
            </a:r>
            <a:r>
              <a:rPr lang="en-US" dirty="0"/>
              <a:t>, de </a:t>
            </a:r>
            <a:r>
              <a:rPr lang="en-US" dirty="0" err="1"/>
              <a:t>garanţie</a:t>
            </a:r>
            <a:r>
              <a:rPr lang="en-US" dirty="0"/>
              <a:t> </a:t>
            </a:r>
            <a:r>
              <a:rPr lang="en-US" dirty="0" err="1"/>
              <a:t>proprie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de </a:t>
            </a:r>
            <a:r>
              <a:rPr lang="en-US" dirty="0" err="1"/>
              <a:t>trasabilitate</a:t>
            </a:r>
            <a:r>
              <a:rPr lang="en-US" dirty="0"/>
              <a:t>, pe </a:t>
            </a:r>
            <a:r>
              <a:rPr lang="en-US" dirty="0" err="1"/>
              <a:t>bază</a:t>
            </a:r>
            <a:r>
              <a:rPr lang="en-US" dirty="0"/>
              <a:t> de </a:t>
            </a:r>
            <a:r>
              <a:rPr lang="en-US" dirty="0" err="1"/>
              <a:t>tarife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,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prevederilor</a:t>
            </a:r>
            <a:r>
              <a:rPr lang="en-US" dirty="0"/>
              <a:t> </a:t>
            </a:r>
            <a:r>
              <a:rPr lang="en-US" dirty="0" err="1"/>
              <a:t>Ordonanţei</a:t>
            </a:r>
            <a:r>
              <a:rPr lang="en-US" dirty="0"/>
              <a:t> de </a:t>
            </a:r>
            <a:r>
              <a:rPr lang="en-US" dirty="0" err="1"/>
              <a:t>urgenţă</a:t>
            </a:r>
            <a:r>
              <a:rPr lang="en-US" dirty="0"/>
              <a:t> a </a:t>
            </a:r>
            <a:r>
              <a:rPr lang="en-US" dirty="0" err="1"/>
              <a:t>Guvernului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nr. 190/2000</a:t>
            </a:r>
            <a:r>
              <a:rPr lang="en-US" dirty="0"/>
              <a:t>, </a:t>
            </a:r>
            <a:r>
              <a:rPr lang="en-US" dirty="0" err="1"/>
              <a:t>republicată</a:t>
            </a:r>
            <a:r>
              <a:rPr lang="en-US" dirty="0"/>
              <a:t>, cu </a:t>
            </a:r>
            <a:r>
              <a:rPr lang="en-US" dirty="0" err="1"/>
              <a:t>modificările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completările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en-US" dirty="0"/>
              <a:t>; </a:t>
            </a:r>
          </a:p>
        </p:txBody>
      </p:sp>
    </p:spTree>
    <p:extLst>
      <p:ext uri="{BB962C8B-B14F-4D97-AF65-F5344CB8AC3E}">
        <p14:creationId xmlns:p14="http://schemas.microsoft.com/office/powerpoint/2010/main" val="400045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E19848-BA99-46D5-B57B-70648F9B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378872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  </a:t>
            </a:r>
            <a:r>
              <a:rPr lang="en-US" b="1" dirty="0" err="1"/>
              <a:t>ee</a:t>
            </a:r>
            <a:r>
              <a:rPr lang="en-US" b="1" dirty="0"/>
              <a:t>)</a:t>
            </a:r>
            <a:r>
              <a:rPr lang="en-US" dirty="0"/>
              <a:t> </a:t>
            </a:r>
            <a:r>
              <a:rPr lang="en-US" dirty="0" err="1"/>
              <a:t>efectuează</a:t>
            </a:r>
            <a:r>
              <a:rPr lang="en-US" dirty="0"/>
              <a:t> </a:t>
            </a:r>
            <a:r>
              <a:rPr lang="en-US" dirty="0" err="1"/>
              <a:t>expertize</a:t>
            </a:r>
            <a:r>
              <a:rPr lang="en-US" dirty="0"/>
              <a:t> ale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,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prevederilor</a:t>
            </a:r>
            <a:r>
              <a:rPr lang="en-US" dirty="0"/>
              <a:t> </a:t>
            </a:r>
            <a:r>
              <a:rPr lang="en-US" dirty="0" err="1"/>
              <a:t>Ordonanţei</a:t>
            </a:r>
            <a:r>
              <a:rPr lang="en-US" dirty="0"/>
              <a:t> de </a:t>
            </a:r>
            <a:r>
              <a:rPr lang="en-US" dirty="0" err="1"/>
              <a:t>urgenţă</a:t>
            </a:r>
            <a:r>
              <a:rPr lang="en-US" dirty="0"/>
              <a:t> a </a:t>
            </a:r>
            <a:r>
              <a:rPr lang="en-US" dirty="0" err="1"/>
              <a:t>Guvernului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nr. 190/2000</a:t>
            </a:r>
            <a:r>
              <a:rPr lang="en-US" dirty="0"/>
              <a:t>, </a:t>
            </a:r>
            <a:r>
              <a:rPr lang="en-US" dirty="0" err="1"/>
              <a:t>republicată</a:t>
            </a:r>
            <a:r>
              <a:rPr lang="en-US" dirty="0"/>
              <a:t>, cu </a:t>
            </a:r>
            <a:r>
              <a:rPr lang="en-US" dirty="0" err="1"/>
              <a:t>modificările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completările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ff)</a:t>
            </a:r>
            <a:r>
              <a:rPr lang="en-US" dirty="0"/>
              <a:t> </a:t>
            </a:r>
            <a:r>
              <a:rPr lang="en-US" dirty="0" err="1"/>
              <a:t>efectuează</a:t>
            </a:r>
            <a:r>
              <a:rPr lang="en-US" dirty="0"/>
              <a:t> </a:t>
            </a:r>
            <a:r>
              <a:rPr lang="en-US" dirty="0" err="1"/>
              <a:t>operaţiuni</a:t>
            </a:r>
            <a:r>
              <a:rPr lang="en-US" dirty="0"/>
              <a:t> de </a:t>
            </a:r>
            <a:r>
              <a:rPr lang="en-US" dirty="0" err="1"/>
              <a:t>marcare</a:t>
            </a:r>
            <a:r>
              <a:rPr lang="en-US" dirty="0"/>
              <a:t> a </a:t>
            </a:r>
            <a:r>
              <a:rPr lang="en-US" dirty="0" err="1"/>
              <a:t>bijuteriilor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din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, la </a:t>
            </a:r>
            <a:r>
              <a:rPr lang="en-US" dirty="0" err="1"/>
              <a:t>cererea</a:t>
            </a:r>
            <a:r>
              <a:rPr lang="en-US" dirty="0"/>
              <a:t> </a:t>
            </a:r>
            <a:r>
              <a:rPr lang="en-US" dirty="0" err="1"/>
              <a:t>persoanelor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juridice</a:t>
            </a:r>
            <a:r>
              <a:rPr lang="en-US" dirty="0"/>
              <a:t> </a:t>
            </a:r>
            <a:r>
              <a:rPr lang="en-US" dirty="0" err="1"/>
              <a:t>interesate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gg)</a:t>
            </a:r>
            <a:r>
              <a:rPr lang="en-US" dirty="0"/>
              <a:t> </a:t>
            </a:r>
            <a:r>
              <a:rPr lang="en-US" dirty="0" err="1"/>
              <a:t>acordă</a:t>
            </a:r>
            <a:r>
              <a:rPr lang="en-US" dirty="0"/>
              <a:t> </a:t>
            </a:r>
            <a:r>
              <a:rPr lang="en-US" dirty="0" err="1"/>
              <a:t>consultanţă</a:t>
            </a:r>
            <a:r>
              <a:rPr lang="en-US" dirty="0"/>
              <a:t> de </a:t>
            </a:r>
            <a:r>
              <a:rPr lang="en-US" dirty="0" err="1"/>
              <a:t>specialitate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sprijin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realizării</a:t>
            </a:r>
            <a:r>
              <a:rPr lang="en-US" dirty="0"/>
              <a:t> de </a:t>
            </a:r>
            <a:r>
              <a:rPr lang="en-US" dirty="0" err="1"/>
              <a:t>coduri</a:t>
            </a:r>
            <a:r>
              <a:rPr lang="en-US" dirty="0"/>
              <a:t> de </a:t>
            </a:r>
            <a:r>
              <a:rPr lang="en-US" dirty="0" err="1"/>
              <a:t>conduită</a:t>
            </a:r>
            <a:r>
              <a:rPr lang="en-US" dirty="0"/>
              <a:t>, la </a:t>
            </a:r>
            <a:r>
              <a:rPr lang="en-US" dirty="0" err="1"/>
              <a:t>solicitarea</a:t>
            </a:r>
            <a:r>
              <a:rPr lang="en-US" dirty="0"/>
              <a:t>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 err="1"/>
              <a:t>hh</a:t>
            </a:r>
            <a:r>
              <a:rPr lang="en-US" b="1" dirty="0"/>
              <a:t>)</a:t>
            </a:r>
            <a:r>
              <a:rPr lang="en-US" dirty="0"/>
              <a:t> </a:t>
            </a:r>
            <a:r>
              <a:rPr lang="en-US" dirty="0" err="1"/>
              <a:t>instituie</a:t>
            </a:r>
            <a:r>
              <a:rPr lang="en-US" dirty="0"/>
              <a:t> </a:t>
            </a:r>
            <a:r>
              <a:rPr lang="en-US" dirty="0" err="1"/>
              <a:t>procedurile</a:t>
            </a:r>
            <a:r>
              <a:rPr lang="en-US" dirty="0"/>
              <a:t> </a:t>
            </a:r>
            <a:r>
              <a:rPr lang="en-US" dirty="0" err="1"/>
              <a:t>legale</a:t>
            </a:r>
            <a:r>
              <a:rPr lang="en-US" dirty="0"/>
              <a:t> </a:t>
            </a:r>
            <a:r>
              <a:rPr lang="en-US" dirty="0" err="1"/>
              <a:t>corespunzătoare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încetarea</a:t>
            </a:r>
            <a:r>
              <a:rPr lang="en-US" dirty="0"/>
              <a:t> </a:t>
            </a:r>
            <a:r>
              <a:rPr lang="en-US" dirty="0" err="1"/>
              <a:t>practicilor</a:t>
            </a:r>
            <a:r>
              <a:rPr lang="en-US" dirty="0"/>
              <a:t> </a:t>
            </a:r>
            <a:r>
              <a:rPr lang="en-US" dirty="0" err="1"/>
              <a:t>comerciale</a:t>
            </a:r>
            <a:r>
              <a:rPr lang="en-US" dirty="0"/>
              <a:t> </a:t>
            </a:r>
            <a:r>
              <a:rPr lang="en-US" dirty="0" err="1"/>
              <a:t>incorecte</a:t>
            </a:r>
            <a:r>
              <a:rPr lang="en-US" dirty="0"/>
              <a:t>;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ii)</a:t>
            </a:r>
            <a:r>
              <a:rPr lang="en-US" dirty="0"/>
              <a:t> </a:t>
            </a:r>
            <a:r>
              <a:rPr lang="en-US" dirty="0" err="1"/>
              <a:t>comunică</a:t>
            </a:r>
            <a:r>
              <a:rPr lang="en-US" dirty="0"/>
              <a:t> </a:t>
            </a:r>
            <a:r>
              <a:rPr lang="en-US" dirty="0" err="1"/>
              <a:t>Comisiei</a:t>
            </a:r>
            <a:r>
              <a:rPr lang="en-US" dirty="0"/>
              <a:t> </a:t>
            </a:r>
            <a:r>
              <a:rPr lang="en-US" dirty="0" err="1"/>
              <a:t>Europene</a:t>
            </a:r>
            <a:r>
              <a:rPr lang="en-US" dirty="0"/>
              <a:t> </a:t>
            </a:r>
            <a:r>
              <a:rPr lang="en-US" dirty="0" err="1"/>
              <a:t>măsurile</a:t>
            </a:r>
            <a:r>
              <a:rPr lang="en-US" dirty="0"/>
              <a:t> legislative </a:t>
            </a:r>
            <a:r>
              <a:rPr lang="en-US" dirty="0" err="1"/>
              <a:t>adoptate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domeniile</a:t>
            </a:r>
            <a:r>
              <a:rPr lang="en-US" dirty="0"/>
              <a:t> </a:t>
            </a:r>
            <a:r>
              <a:rPr lang="en-US" dirty="0" err="1"/>
              <a:t>guvernate</a:t>
            </a:r>
            <a:r>
              <a:rPr lang="en-US" dirty="0"/>
              <a:t> de </a:t>
            </a:r>
            <a:r>
              <a:rPr lang="en-US" dirty="0" err="1"/>
              <a:t>directivele</a:t>
            </a:r>
            <a:r>
              <a:rPr lang="en-US" dirty="0"/>
              <a:t>, </a:t>
            </a:r>
            <a:r>
              <a:rPr lang="en-US" dirty="0" err="1"/>
              <a:t>regulamentele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deciziile</a:t>
            </a:r>
            <a:r>
              <a:rPr lang="en-US" dirty="0"/>
              <a:t> </a:t>
            </a:r>
            <a:r>
              <a:rPr lang="en-US" dirty="0" err="1"/>
              <a:t>comunitare</a:t>
            </a:r>
            <a:r>
              <a:rPr lang="en-US" dirty="0"/>
              <a:t> </a:t>
            </a:r>
            <a:r>
              <a:rPr lang="en-US" dirty="0" err="1"/>
              <a:t>transpuse</a:t>
            </a:r>
            <a:r>
              <a:rPr lang="en-US" dirty="0"/>
              <a:t>,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domeniilor</a:t>
            </a:r>
            <a:r>
              <a:rPr lang="en-US" dirty="0"/>
              <a:t> sale de </a:t>
            </a:r>
            <a:r>
              <a:rPr lang="en-US" dirty="0" err="1"/>
              <a:t>responsabilitate</a:t>
            </a:r>
            <a:r>
              <a:rPr lang="en-US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419509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FE4ED6-C325-4934-BFAA-C469B24CE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  (2)</a:t>
            </a:r>
            <a:r>
              <a:rPr lang="en-US" dirty="0"/>
              <a:t> </a:t>
            </a:r>
            <a:r>
              <a:rPr lang="en-US" dirty="0" err="1"/>
              <a:t>Autoritatea</a:t>
            </a:r>
            <a:r>
              <a:rPr lang="en-US" dirty="0"/>
              <a:t> </a:t>
            </a:r>
            <a:r>
              <a:rPr lang="en-US" dirty="0" err="1"/>
              <a:t>controlează</a:t>
            </a:r>
            <a:r>
              <a:rPr lang="en-US" dirty="0"/>
              <a:t> </a:t>
            </a:r>
            <a:r>
              <a:rPr lang="en-US" dirty="0" err="1"/>
              <a:t>respectarea</a:t>
            </a:r>
            <a:r>
              <a:rPr lang="en-US" dirty="0"/>
              <a:t> </a:t>
            </a:r>
            <a:r>
              <a:rPr lang="en-US" dirty="0" err="1"/>
              <a:t>prevederilor</a:t>
            </a:r>
            <a:r>
              <a:rPr lang="en-US" dirty="0"/>
              <a:t> </a:t>
            </a:r>
            <a:r>
              <a:rPr lang="en-US" dirty="0" err="1"/>
              <a:t>regulamentelor</a:t>
            </a:r>
            <a:r>
              <a:rPr lang="en-US" dirty="0"/>
              <a:t> </a:t>
            </a:r>
            <a:r>
              <a:rPr lang="en-US" dirty="0" err="1"/>
              <a:t>emise</a:t>
            </a:r>
            <a:r>
              <a:rPr lang="en-US" dirty="0"/>
              <a:t> de </a:t>
            </a:r>
            <a:r>
              <a:rPr lang="en-US" dirty="0" err="1"/>
              <a:t>Comisia</a:t>
            </a:r>
            <a:r>
              <a:rPr lang="en-US" dirty="0"/>
              <a:t> </a:t>
            </a:r>
            <a:r>
              <a:rPr lang="en-US" dirty="0" err="1"/>
              <a:t>Europeană</a:t>
            </a:r>
            <a:r>
              <a:rPr lang="en-US" dirty="0"/>
              <a:t> din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de </a:t>
            </a:r>
            <a:r>
              <a:rPr lang="en-US" dirty="0" err="1"/>
              <a:t>competenţă</a:t>
            </a:r>
            <a:r>
              <a:rPr lang="en-US" dirty="0"/>
              <a:t>.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(3)</a:t>
            </a:r>
            <a:r>
              <a:rPr lang="en-US" dirty="0"/>
              <a:t> </a:t>
            </a:r>
            <a:r>
              <a:rPr lang="en-US" dirty="0" err="1"/>
              <a:t>Autoritatea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punct</a:t>
            </a:r>
            <a:r>
              <a:rPr lang="en-US" dirty="0"/>
              <a:t> </a:t>
            </a:r>
            <a:r>
              <a:rPr lang="en-US" dirty="0" err="1"/>
              <a:t>naţional</a:t>
            </a:r>
            <a:r>
              <a:rPr lang="en-US" dirty="0"/>
              <a:t> de contact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schimb</a:t>
            </a:r>
            <a:r>
              <a:rPr lang="en-US" dirty="0"/>
              <a:t> rapid de </a:t>
            </a:r>
            <a:r>
              <a:rPr lang="en-US" dirty="0" err="1"/>
              <a:t>informaţii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produsele</a:t>
            </a:r>
            <a:r>
              <a:rPr lang="en-US" dirty="0"/>
              <a:t> </a:t>
            </a:r>
            <a:r>
              <a:rPr lang="en-US" dirty="0" err="1"/>
              <a:t>periculoase</a:t>
            </a:r>
            <a:r>
              <a:rPr lang="en-US" dirty="0"/>
              <a:t> - RAPEX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statele</a:t>
            </a:r>
            <a:r>
              <a:rPr lang="en-US" dirty="0"/>
              <a:t> </a:t>
            </a:r>
            <a:r>
              <a:rPr lang="en-US" dirty="0" err="1"/>
              <a:t>membre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Comisie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Directivei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2001/95/CE</a:t>
            </a:r>
            <a:r>
              <a:rPr lang="en-US" dirty="0"/>
              <a:t> a </a:t>
            </a:r>
            <a:r>
              <a:rPr lang="en-US" dirty="0" err="1"/>
              <a:t>Parlamentului</a:t>
            </a:r>
            <a:r>
              <a:rPr lang="en-US" dirty="0"/>
              <a:t> European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Consiliului</a:t>
            </a:r>
            <a:r>
              <a:rPr lang="en-US" dirty="0"/>
              <a:t> din 3 </a:t>
            </a:r>
            <a:r>
              <a:rPr lang="en-US" dirty="0" err="1"/>
              <a:t>decembrie</a:t>
            </a:r>
            <a:r>
              <a:rPr lang="en-US" dirty="0"/>
              <a:t> 2001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siguranţa</a:t>
            </a:r>
            <a:r>
              <a:rPr lang="en-US" dirty="0"/>
              <a:t> </a:t>
            </a:r>
            <a:r>
              <a:rPr lang="en-US" dirty="0" err="1"/>
              <a:t>generală</a:t>
            </a:r>
            <a:r>
              <a:rPr lang="en-US" dirty="0"/>
              <a:t> a </a:t>
            </a:r>
            <a:r>
              <a:rPr lang="en-US" dirty="0" err="1"/>
              <a:t>produselor</a:t>
            </a:r>
            <a:r>
              <a:rPr lang="en-US" dirty="0"/>
              <a:t> - GPSD.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(4)</a:t>
            </a:r>
            <a:r>
              <a:rPr lang="en-US" dirty="0"/>
              <a:t> </a:t>
            </a:r>
            <a:r>
              <a:rPr lang="en-US" dirty="0" err="1"/>
              <a:t>Autoritatea</a:t>
            </a:r>
            <a:r>
              <a:rPr lang="en-US" dirty="0"/>
              <a:t> </a:t>
            </a:r>
            <a:r>
              <a:rPr lang="en-US" dirty="0" err="1"/>
              <a:t>îndeplineşte</a:t>
            </a:r>
            <a:r>
              <a:rPr lang="en-US" dirty="0"/>
              <a:t>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atribuţii</a:t>
            </a:r>
            <a:r>
              <a:rPr lang="en-US" dirty="0"/>
              <a:t> </a:t>
            </a:r>
            <a:r>
              <a:rPr lang="en-US" dirty="0" err="1"/>
              <a:t>stabilite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actele</a:t>
            </a:r>
            <a:r>
              <a:rPr lang="en-US" dirty="0"/>
              <a:t> normative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de </a:t>
            </a:r>
            <a:r>
              <a:rPr lang="en-US" dirty="0" err="1"/>
              <a:t>activitate</a:t>
            </a:r>
            <a:r>
              <a:rPr lang="en-US" dirty="0"/>
              <a:t>. </a:t>
            </a:r>
            <a:br>
              <a:rPr lang="en-US" dirty="0"/>
            </a:br>
            <a:r>
              <a:rPr lang="en-US" dirty="0"/>
              <a:t>   </a:t>
            </a:r>
            <a:r>
              <a:rPr lang="en-US" b="1" dirty="0"/>
              <a:t>(5)</a:t>
            </a:r>
            <a:r>
              <a:rPr lang="en-US" dirty="0"/>
              <a:t> </a:t>
            </a:r>
            <a:r>
              <a:rPr lang="en-US" dirty="0" err="1"/>
              <a:t>Taxele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tarifele</a:t>
            </a:r>
            <a:r>
              <a:rPr lang="en-US" dirty="0"/>
              <a:t> </a:t>
            </a:r>
            <a:r>
              <a:rPr lang="en-US" dirty="0" err="1"/>
              <a:t>percepute</a:t>
            </a:r>
            <a:r>
              <a:rPr lang="en-US" dirty="0"/>
              <a:t> de </a:t>
            </a:r>
            <a:r>
              <a:rPr lang="en-US" dirty="0" err="1"/>
              <a:t>Autoritate</a:t>
            </a:r>
            <a:r>
              <a:rPr lang="en-US" dirty="0"/>
              <a:t> se fac integral </a:t>
            </a:r>
            <a:r>
              <a:rPr lang="en-US" dirty="0" err="1"/>
              <a:t>venit</a:t>
            </a:r>
            <a:r>
              <a:rPr lang="en-US" dirty="0"/>
              <a:t> la </a:t>
            </a:r>
            <a:r>
              <a:rPr lang="en-US" dirty="0" err="1"/>
              <a:t>bugetul</a:t>
            </a:r>
            <a:r>
              <a:rPr lang="en-US" dirty="0"/>
              <a:t> de stat. </a:t>
            </a:r>
          </a:p>
        </p:txBody>
      </p:sp>
    </p:spTree>
    <p:extLst>
      <p:ext uri="{BB962C8B-B14F-4D97-AF65-F5344CB8AC3E}">
        <p14:creationId xmlns:p14="http://schemas.microsoft.com/office/powerpoint/2010/main" val="27053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A58B7B-8C07-4400-B54A-698370F8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Reprezentantii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asociatiilor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consumatori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nu au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drept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control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283B3F-0651-40B3-873C-BE5355B6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Reprezentantii</a:t>
            </a:r>
            <a:r>
              <a:rPr lang="en-US" dirty="0"/>
              <a:t> </a:t>
            </a:r>
            <a:r>
              <a:rPr lang="en-US" dirty="0" err="1"/>
              <a:t>asociatiilor</a:t>
            </a:r>
            <a:r>
              <a:rPr lang="en-US" dirty="0"/>
              <a:t> de </a:t>
            </a:r>
            <a:r>
              <a:rPr lang="en-US" dirty="0" err="1"/>
              <a:t>consumatori</a:t>
            </a:r>
            <a:r>
              <a:rPr lang="en-US" dirty="0"/>
              <a:t> nu au </a:t>
            </a:r>
            <a:r>
              <a:rPr lang="en-US" dirty="0" err="1"/>
              <a:t>drept</a:t>
            </a:r>
            <a:r>
              <a:rPr lang="en-US" dirty="0"/>
              <a:t> de control al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, conform art.42 din O.G. nr. 21/1992 </a:t>
            </a:r>
          </a:p>
          <a:p>
            <a:r>
              <a:rPr lang="en-US" dirty="0"/>
              <a:t>In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sens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·         Este </a:t>
            </a:r>
            <a:r>
              <a:rPr lang="en-US" dirty="0" err="1"/>
              <a:t>ilegala</a:t>
            </a:r>
            <a:r>
              <a:rPr lang="en-US" dirty="0"/>
              <a:t> </a:t>
            </a:r>
            <a:r>
              <a:rPr lang="en-US" dirty="0" err="1"/>
              <a:t>solicitarea</a:t>
            </a:r>
            <a:r>
              <a:rPr lang="en-US" dirty="0"/>
              <a:t> de </a:t>
            </a:r>
            <a:r>
              <a:rPr lang="en-US" dirty="0" err="1"/>
              <a:t>acte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documente</a:t>
            </a:r>
            <a:r>
              <a:rPr lang="en-US" dirty="0"/>
              <a:t> ale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membrii</a:t>
            </a:r>
            <a:r>
              <a:rPr lang="en-US" dirty="0"/>
              <a:t> </a:t>
            </a:r>
            <a:r>
              <a:rPr lang="en-US" dirty="0" err="1"/>
              <a:t>asociatiilor</a:t>
            </a:r>
            <a:r>
              <a:rPr lang="en-US" dirty="0"/>
              <a:t> de </a:t>
            </a:r>
            <a:r>
              <a:rPr lang="en-US" dirty="0" err="1"/>
              <a:t>consumatori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·         </a:t>
            </a:r>
            <a:r>
              <a:rPr lang="en-US" dirty="0" err="1"/>
              <a:t>Folosirea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membrii</a:t>
            </a:r>
            <a:r>
              <a:rPr lang="en-US" dirty="0"/>
              <a:t> </a:t>
            </a:r>
            <a:r>
              <a:rPr lang="en-US" dirty="0" err="1"/>
              <a:t>asociatiilor</a:t>
            </a:r>
            <a:r>
              <a:rPr lang="en-US" dirty="0"/>
              <a:t> de </a:t>
            </a:r>
            <a:r>
              <a:rPr lang="en-US" dirty="0" err="1"/>
              <a:t>consumatori</a:t>
            </a:r>
            <a:r>
              <a:rPr lang="en-US" dirty="0"/>
              <a:t> de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</a:t>
            </a:r>
            <a:r>
              <a:rPr lang="en-US" dirty="0" err="1"/>
              <a:t>calitati</a:t>
            </a:r>
            <a:r>
              <a:rPr lang="en-US" dirty="0"/>
              <a:t> </a:t>
            </a:r>
            <a:r>
              <a:rPr lang="en-US" dirty="0" err="1"/>
              <a:t>mincinoase</a:t>
            </a:r>
            <a:r>
              <a:rPr lang="en-US" dirty="0"/>
              <a:t> in </a:t>
            </a:r>
            <a:r>
              <a:rPr lang="en-US" dirty="0" err="1"/>
              <a:t>scopul</a:t>
            </a:r>
            <a:r>
              <a:rPr lang="en-US" dirty="0"/>
              <a:t> </a:t>
            </a:r>
            <a:r>
              <a:rPr lang="en-US" dirty="0" err="1"/>
              <a:t>efectuarii</a:t>
            </a:r>
            <a:r>
              <a:rPr lang="en-US" dirty="0"/>
              <a:t> de </a:t>
            </a:r>
            <a:r>
              <a:rPr lang="en-US" dirty="0" err="1"/>
              <a:t>controale</a:t>
            </a:r>
            <a:r>
              <a:rPr lang="en-US" dirty="0"/>
              <a:t> la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</a:t>
            </a:r>
            <a:r>
              <a:rPr lang="en-US" dirty="0" err="1"/>
              <a:t>infractiune</a:t>
            </a:r>
            <a:r>
              <a:rPr lang="en-US" dirty="0"/>
              <a:t> (art. 244, </a:t>
            </a:r>
            <a:r>
              <a:rPr lang="en-US" dirty="0" err="1"/>
              <a:t>alin</a:t>
            </a:r>
            <a:r>
              <a:rPr lang="en-US" dirty="0"/>
              <a:t> 1 </a:t>
            </a:r>
            <a:r>
              <a:rPr lang="en-US" dirty="0" err="1"/>
              <a:t>Nou</a:t>
            </a:r>
            <a:r>
              <a:rPr lang="en-US" dirty="0"/>
              <a:t> Cod Penal);</a:t>
            </a:r>
            <a:br>
              <a:rPr lang="en-US" dirty="0"/>
            </a:br>
            <a:r>
              <a:rPr lang="en-US" dirty="0"/>
              <a:t>·         Este </a:t>
            </a:r>
            <a:r>
              <a:rPr lang="en-US" dirty="0" err="1"/>
              <a:t>interzisa</a:t>
            </a:r>
            <a:r>
              <a:rPr lang="en-US" dirty="0"/>
              <a:t>, in </a:t>
            </a:r>
            <a:r>
              <a:rPr lang="en-US" dirty="0" err="1"/>
              <a:t>relatia</a:t>
            </a:r>
            <a:r>
              <a:rPr lang="en-US" dirty="0"/>
              <a:t> cu </a:t>
            </a:r>
            <a:r>
              <a:rPr lang="en-US" dirty="0" err="1"/>
              <a:t>operatorii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, </a:t>
            </a:r>
            <a:r>
              <a:rPr lang="en-US" dirty="0" err="1"/>
              <a:t>utilizarea</a:t>
            </a:r>
            <a:r>
              <a:rPr lang="en-US" dirty="0"/>
              <a:t> de </a:t>
            </a:r>
            <a:r>
              <a:rPr lang="en-US" dirty="0" err="1"/>
              <a:t>insemne</a:t>
            </a:r>
            <a:r>
              <a:rPr lang="en-US" dirty="0"/>
              <a:t>, </a:t>
            </a:r>
            <a:r>
              <a:rPr lang="en-US" dirty="0" err="1"/>
              <a:t>formulare</a:t>
            </a:r>
            <a:r>
              <a:rPr lang="en-US" dirty="0"/>
              <a:t> </a:t>
            </a:r>
            <a:r>
              <a:rPr lang="en-US" dirty="0" err="1"/>
              <a:t>standardizate</a:t>
            </a:r>
            <a:r>
              <a:rPr lang="en-US" dirty="0"/>
              <a:t>, </a:t>
            </a:r>
            <a:r>
              <a:rPr lang="en-US" dirty="0" err="1"/>
              <a:t>ordine</a:t>
            </a:r>
            <a:r>
              <a:rPr lang="en-US" dirty="0"/>
              <a:t> de </a:t>
            </a:r>
            <a:r>
              <a:rPr lang="en-US" dirty="0" err="1"/>
              <a:t>serviciu</a:t>
            </a:r>
            <a:r>
              <a:rPr lang="en-US" dirty="0"/>
              <a:t>, </a:t>
            </a:r>
            <a:r>
              <a:rPr lang="en-US" dirty="0" err="1"/>
              <a:t>legitimatii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insigne care </a:t>
            </a:r>
            <a:r>
              <a:rPr lang="en-US" dirty="0" err="1"/>
              <a:t>creeaza</a:t>
            </a:r>
            <a:r>
              <a:rPr lang="en-US" dirty="0"/>
              <a:t> </a:t>
            </a:r>
            <a:r>
              <a:rPr lang="en-US" dirty="0" err="1"/>
              <a:t>impresia</a:t>
            </a:r>
            <a:r>
              <a:rPr lang="en-US" dirty="0"/>
              <a:t> falsa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</a:t>
            </a:r>
            <a:r>
              <a:rPr lang="en-US" dirty="0" err="1"/>
              <a:t>membrilor</a:t>
            </a:r>
            <a:r>
              <a:rPr lang="en-US" dirty="0"/>
              <a:t> </a:t>
            </a:r>
            <a:r>
              <a:rPr lang="en-US" dirty="0" err="1"/>
              <a:t>asociatiilor</a:t>
            </a:r>
            <a:r>
              <a:rPr lang="en-US" dirty="0"/>
              <a:t>, </a:t>
            </a:r>
            <a:r>
              <a:rPr lang="en-US" dirty="0" err="1"/>
              <a:t>inducand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ca </a:t>
            </a:r>
            <a:r>
              <a:rPr lang="en-US" dirty="0" err="1"/>
              <a:t>acestia</a:t>
            </a:r>
            <a:r>
              <a:rPr lang="en-US" dirty="0"/>
              <a:t> sunt din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institutii</a:t>
            </a:r>
            <a:r>
              <a:rPr lang="en-US" dirty="0"/>
              <a:t> </a:t>
            </a:r>
            <a:r>
              <a:rPr lang="en-US" dirty="0" err="1"/>
              <a:t>oficiale</a:t>
            </a:r>
            <a:r>
              <a:rPr lang="en-US" dirty="0"/>
              <a:t>, cu </a:t>
            </a:r>
            <a:r>
              <a:rPr lang="en-US" dirty="0" err="1"/>
              <a:t>rol</a:t>
            </a:r>
            <a:r>
              <a:rPr lang="en-US" dirty="0"/>
              <a:t> de control;</a:t>
            </a:r>
            <a:br>
              <a:rPr lang="en-US" dirty="0"/>
            </a:br>
            <a:r>
              <a:rPr lang="en-US" dirty="0"/>
              <a:t>·         </a:t>
            </a:r>
            <a:r>
              <a:rPr lang="en-US" dirty="0" err="1"/>
              <a:t>Presedintii</a:t>
            </a:r>
            <a:r>
              <a:rPr lang="en-US" dirty="0"/>
              <a:t> </a:t>
            </a:r>
            <a:r>
              <a:rPr lang="en-US" dirty="0" err="1"/>
              <a:t>asociatiilor</a:t>
            </a:r>
            <a:r>
              <a:rPr lang="en-US" dirty="0"/>
              <a:t> sunt </a:t>
            </a:r>
            <a:r>
              <a:rPr lang="en-US" dirty="0" err="1"/>
              <a:t>obligati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aduca</a:t>
            </a:r>
            <a:r>
              <a:rPr lang="en-US" dirty="0"/>
              <a:t> la </a:t>
            </a:r>
            <a:r>
              <a:rPr lang="en-US" dirty="0" err="1"/>
              <a:t>cunostinta</a:t>
            </a:r>
            <a:r>
              <a:rPr lang="en-US" dirty="0"/>
              <a:t> </a:t>
            </a:r>
            <a:r>
              <a:rPr lang="en-US" dirty="0" err="1"/>
              <a:t>membrilor</a:t>
            </a:r>
            <a:r>
              <a:rPr lang="en-US" dirty="0"/>
              <a:t> </a:t>
            </a:r>
            <a:r>
              <a:rPr lang="en-US" dirty="0" err="1"/>
              <a:t>asociatiei</a:t>
            </a:r>
            <a:r>
              <a:rPr lang="en-US" dirty="0"/>
              <a:t> </a:t>
            </a:r>
            <a:r>
              <a:rPr lang="en-US" dirty="0" err="1"/>
              <a:t>drepturile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obligatiile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, conform OG nr. 21/1992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in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dirty="0" err="1"/>
              <a:t>contrar</a:t>
            </a:r>
            <a:r>
              <a:rPr lang="en-US" dirty="0"/>
              <a:t>, </a:t>
            </a:r>
            <a:r>
              <a:rPr lang="en-US" dirty="0" err="1"/>
              <a:t>considerandu</a:t>
            </a:r>
            <a:r>
              <a:rPr lang="en-US" dirty="0"/>
              <a:t>-se ca </a:t>
            </a:r>
            <a:r>
              <a:rPr lang="en-US" dirty="0" err="1"/>
              <a:t>acestia</a:t>
            </a:r>
            <a:r>
              <a:rPr lang="en-US" dirty="0"/>
              <a:t> </a:t>
            </a:r>
            <a:r>
              <a:rPr lang="en-US" dirty="0" err="1"/>
              <a:t>incurajeaza</a:t>
            </a:r>
            <a:r>
              <a:rPr lang="en-US" dirty="0"/>
              <a:t> </a:t>
            </a:r>
            <a:r>
              <a:rPr lang="en-US" dirty="0" err="1"/>
              <a:t>practicile</a:t>
            </a:r>
            <a:r>
              <a:rPr lang="en-US" dirty="0"/>
              <a:t> </a:t>
            </a:r>
            <a:r>
              <a:rPr lang="en-US" dirty="0" err="1"/>
              <a:t>ilegale</a:t>
            </a:r>
            <a:r>
              <a:rPr lang="en-US" dirty="0"/>
              <a:t> de control,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putand</a:t>
            </a:r>
            <a:r>
              <a:rPr lang="en-US" dirty="0"/>
              <a:t> fi </a:t>
            </a:r>
            <a:r>
              <a:rPr lang="en-US" dirty="0" err="1"/>
              <a:t>asimilat</a:t>
            </a:r>
            <a:r>
              <a:rPr lang="en-US" dirty="0"/>
              <a:t> cu </a:t>
            </a:r>
            <a:r>
              <a:rPr lang="en-US" dirty="0" err="1"/>
              <a:t>fapta</a:t>
            </a:r>
            <a:r>
              <a:rPr lang="en-US" dirty="0"/>
              <a:t> </a:t>
            </a:r>
            <a:r>
              <a:rPr lang="en-US" dirty="0" err="1"/>
              <a:t>prevazuta</a:t>
            </a:r>
            <a:r>
              <a:rPr lang="en-US" dirty="0"/>
              <a:t> la art. 48, </a:t>
            </a:r>
            <a:r>
              <a:rPr lang="en-US" dirty="0" err="1"/>
              <a:t>alin</a:t>
            </a:r>
            <a:r>
              <a:rPr lang="en-US" dirty="0"/>
              <a:t>. 2  </a:t>
            </a:r>
            <a:r>
              <a:rPr lang="en-US" dirty="0" err="1"/>
              <a:t>Nou</a:t>
            </a:r>
            <a:r>
              <a:rPr lang="en-US" dirty="0"/>
              <a:t> Cod Penal.</a:t>
            </a:r>
          </a:p>
        </p:txBody>
      </p:sp>
    </p:spTree>
    <p:extLst>
      <p:ext uri="{BB962C8B-B14F-4D97-AF65-F5344CB8AC3E}">
        <p14:creationId xmlns:p14="http://schemas.microsoft.com/office/powerpoint/2010/main" val="3654453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A400C7-3692-49B7-96C0-1426464B5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33438"/>
          </a:xfrm>
        </p:spPr>
        <p:txBody>
          <a:bodyPr>
            <a:normAutofit/>
          </a:bodyPr>
          <a:lstStyle/>
          <a:p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Operatorii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economici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sunt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sfatuiti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1D4BD6-E264-4A69-9357-977761AED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 </a:t>
            </a:r>
            <a:r>
              <a:rPr lang="en-US" dirty="0" err="1"/>
              <a:t>solicite</a:t>
            </a:r>
            <a:r>
              <a:rPr lang="en-US" dirty="0"/>
              <a:t> </a:t>
            </a:r>
            <a:r>
              <a:rPr lang="en-US" dirty="0" err="1"/>
              <a:t>ordinul</a:t>
            </a:r>
            <a:r>
              <a:rPr lang="en-US" dirty="0"/>
              <a:t> de </a:t>
            </a:r>
            <a:r>
              <a:rPr lang="en-US" dirty="0" err="1"/>
              <a:t>serviciu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caruia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de control;</a:t>
            </a:r>
          </a:p>
          <a:p>
            <a:r>
              <a:rPr lang="en-US" dirty="0" err="1"/>
              <a:t>Ordinele</a:t>
            </a:r>
            <a:r>
              <a:rPr lang="en-US" dirty="0"/>
              <a:t> sunt </a:t>
            </a:r>
            <a:r>
              <a:rPr lang="en-US" dirty="0" err="1"/>
              <a:t>semnate</a:t>
            </a:r>
            <a:r>
              <a:rPr lang="en-US" dirty="0"/>
              <a:t> de </a:t>
            </a:r>
            <a:r>
              <a:rPr lang="en-US" dirty="0" err="1"/>
              <a:t>comisarul</a:t>
            </a:r>
            <a:r>
              <a:rPr lang="en-US" dirty="0"/>
              <a:t> </a:t>
            </a:r>
            <a:r>
              <a:rPr lang="en-US" dirty="0" err="1"/>
              <a:t>sef</a:t>
            </a:r>
            <a:r>
              <a:rPr lang="en-US" dirty="0"/>
              <a:t>/</a:t>
            </a:r>
            <a:r>
              <a:rPr lang="en-US" dirty="0" err="1"/>
              <a:t>comisarul</a:t>
            </a:r>
            <a:r>
              <a:rPr lang="en-US" dirty="0"/>
              <a:t> </a:t>
            </a:r>
            <a:r>
              <a:rPr lang="en-US" dirty="0" err="1"/>
              <a:t>sef</a:t>
            </a:r>
            <a:r>
              <a:rPr lang="en-US" dirty="0"/>
              <a:t> adj.;</a:t>
            </a:r>
          </a:p>
          <a:p>
            <a:r>
              <a:rPr lang="en-US" dirty="0"/>
              <a:t>Sa </a:t>
            </a:r>
            <a:r>
              <a:rPr lang="en-US" dirty="0" err="1"/>
              <a:t>verifice</a:t>
            </a:r>
            <a:r>
              <a:rPr lang="en-US" dirty="0"/>
              <a:t> </a:t>
            </a:r>
            <a:r>
              <a:rPr lang="en-US" dirty="0" err="1"/>
              <a:t>legitimatiile</a:t>
            </a:r>
            <a:r>
              <a:rPr lang="en-US" dirty="0"/>
              <a:t> </a:t>
            </a:r>
            <a:r>
              <a:rPr lang="en-US" dirty="0" err="1"/>
              <a:t>comisarilor</a:t>
            </a:r>
            <a:r>
              <a:rPr lang="en-US" dirty="0"/>
              <a:t>;</a:t>
            </a:r>
          </a:p>
          <a:p>
            <a:r>
              <a:rPr lang="en-US" dirty="0"/>
              <a:t>Sa nu </a:t>
            </a:r>
            <a:r>
              <a:rPr lang="en-US" dirty="0" err="1"/>
              <a:t>achite</a:t>
            </a:r>
            <a:r>
              <a:rPr lang="en-US" dirty="0"/>
              <a:t> in </a:t>
            </a:r>
            <a:r>
              <a:rPr lang="en-US" dirty="0" err="1"/>
              <a:t>numerar</a:t>
            </a:r>
            <a:r>
              <a:rPr lang="en-US" dirty="0"/>
              <a:t> </a:t>
            </a:r>
            <a:r>
              <a:rPr lang="en-US" dirty="0" err="1"/>
              <a:t>amenzile</a:t>
            </a:r>
            <a:r>
              <a:rPr lang="en-US" dirty="0"/>
              <a:t> </a:t>
            </a:r>
            <a:r>
              <a:rPr lang="en-US" dirty="0" err="1"/>
              <a:t>aplicate</a:t>
            </a:r>
            <a:r>
              <a:rPr lang="en-US" dirty="0"/>
              <a:t> de </a:t>
            </a:r>
            <a:r>
              <a:rPr lang="en-US" dirty="0" err="1"/>
              <a:t>comisarii</a:t>
            </a:r>
            <a:r>
              <a:rPr lang="en-US" dirty="0"/>
              <a:t> ANPC. </a:t>
            </a:r>
            <a:r>
              <a:rPr lang="en-US" dirty="0" err="1"/>
              <a:t>Amenzile</a:t>
            </a:r>
            <a:r>
              <a:rPr lang="en-US" dirty="0"/>
              <a:t> se </a:t>
            </a:r>
            <a:r>
              <a:rPr lang="en-US" dirty="0" err="1"/>
              <a:t>achita</a:t>
            </a:r>
            <a:r>
              <a:rPr lang="en-US" dirty="0"/>
              <a:t> la </a:t>
            </a:r>
            <a:r>
              <a:rPr lang="en-US" dirty="0" err="1"/>
              <a:t>trezoreria</a:t>
            </a:r>
            <a:r>
              <a:rPr lang="en-US" dirty="0"/>
              <a:t> pe </a:t>
            </a:r>
            <a:r>
              <a:rPr lang="en-US" dirty="0" err="1"/>
              <a:t>raza</a:t>
            </a:r>
            <a:r>
              <a:rPr lang="en-US" dirty="0"/>
              <a:t> </a:t>
            </a:r>
            <a:r>
              <a:rPr lang="en-US" dirty="0" err="1"/>
              <a:t>careia</a:t>
            </a:r>
            <a:r>
              <a:rPr lang="en-US" dirty="0"/>
              <a:t> se </a:t>
            </a:r>
            <a:r>
              <a:rPr lang="en-US" dirty="0" err="1"/>
              <a:t>afla</a:t>
            </a:r>
            <a:r>
              <a:rPr lang="en-US" dirty="0"/>
              <a:t> </a:t>
            </a:r>
            <a:r>
              <a:rPr lang="en-US" dirty="0" err="1"/>
              <a:t>sediul</a:t>
            </a:r>
            <a:r>
              <a:rPr lang="en-US" dirty="0"/>
              <a:t> social al </a:t>
            </a:r>
            <a:r>
              <a:rPr lang="en-US" dirty="0" err="1"/>
              <a:t>operatorului</a:t>
            </a:r>
            <a:r>
              <a:rPr lang="en-US" dirty="0"/>
              <a:t> economic;</a:t>
            </a:r>
          </a:p>
          <a:p>
            <a:r>
              <a:rPr lang="en-US" dirty="0"/>
              <a:t>Sa </a:t>
            </a:r>
            <a:r>
              <a:rPr lang="en-US" dirty="0" err="1"/>
              <a:t>anunte</a:t>
            </a:r>
            <a:r>
              <a:rPr lang="en-US" dirty="0"/>
              <a:t> </a:t>
            </a:r>
            <a:r>
              <a:rPr lang="en-US" dirty="0" err="1"/>
              <a:t>imediat</a:t>
            </a:r>
            <a:r>
              <a:rPr lang="en-US" dirty="0"/>
              <a:t> </a:t>
            </a:r>
            <a:r>
              <a:rPr lang="en-US" dirty="0" err="1"/>
              <a:t>politia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in care sunt </a:t>
            </a:r>
            <a:r>
              <a:rPr lang="en-US" dirty="0" err="1"/>
              <a:t>victimele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tentative de control din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 </a:t>
            </a:r>
            <a:r>
              <a:rPr lang="en-US" dirty="0" err="1"/>
              <a:t>neautorizate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142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A3CD44-1DEA-488D-A6F8-8661947B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Comisarii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Autoritatii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Nationale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Protectia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Consumatorilor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au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obligatia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E84AB8-619E-4EEA-AC16-087E52992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33711"/>
            <a:ext cx="9603275" cy="3032634"/>
          </a:xfrm>
        </p:spPr>
        <p:txBody>
          <a:bodyPr/>
          <a:lstStyle/>
          <a:p>
            <a:r>
              <a:rPr lang="en-US" dirty="0"/>
              <a:t>Sa </a:t>
            </a:r>
            <a:r>
              <a:rPr lang="en-US" dirty="0" err="1"/>
              <a:t>prezinte</a:t>
            </a:r>
            <a:r>
              <a:rPr lang="en-US" dirty="0"/>
              <a:t> </a:t>
            </a:r>
            <a:r>
              <a:rPr lang="en-US" dirty="0" err="1"/>
              <a:t>ordinul</a:t>
            </a:r>
            <a:r>
              <a:rPr lang="en-US" dirty="0"/>
              <a:t> de </a:t>
            </a:r>
            <a:r>
              <a:rPr lang="en-US" dirty="0" err="1"/>
              <a:t>serviciu</a:t>
            </a:r>
            <a:r>
              <a:rPr lang="en-US" dirty="0"/>
              <a:t> in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caruia</a:t>
            </a:r>
            <a:r>
              <a:rPr lang="en-US" dirty="0"/>
              <a:t> se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de control;</a:t>
            </a:r>
          </a:p>
          <a:p>
            <a:r>
              <a:rPr lang="en-US" dirty="0"/>
              <a:t>Sa se </a:t>
            </a:r>
            <a:r>
              <a:rPr lang="en-US" dirty="0" err="1"/>
              <a:t>inregistreze</a:t>
            </a:r>
            <a:r>
              <a:rPr lang="en-US" dirty="0"/>
              <a:t> in </a:t>
            </a:r>
            <a:r>
              <a:rPr lang="en-US" dirty="0" err="1"/>
              <a:t>Registrul</a:t>
            </a:r>
            <a:r>
              <a:rPr lang="en-US" dirty="0"/>
              <a:t> </a:t>
            </a:r>
            <a:r>
              <a:rPr lang="en-US" dirty="0" err="1"/>
              <a:t>Unic</a:t>
            </a:r>
            <a:r>
              <a:rPr lang="en-US" dirty="0"/>
              <a:t> de Control;</a:t>
            </a:r>
          </a:p>
          <a:p>
            <a:r>
              <a:rPr lang="en-US" dirty="0"/>
              <a:t>Sa nu </a:t>
            </a:r>
            <a:r>
              <a:rPr lang="en-US" dirty="0" err="1"/>
              <a:t>solicite</a:t>
            </a:r>
            <a:r>
              <a:rPr lang="en-US" dirty="0"/>
              <a:t>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 </a:t>
            </a:r>
            <a:r>
              <a:rPr lang="en-US" dirty="0" err="1"/>
              <a:t>achitarea</a:t>
            </a:r>
            <a:r>
              <a:rPr lang="en-US" dirty="0"/>
              <a:t> cu </a:t>
            </a:r>
            <a:r>
              <a:rPr lang="en-US" dirty="0" err="1"/>
              <a:t>numerar</a:t>
            </a:r>
            <a:r>
              <a:rPr lang="en-US" dirty="0"/>
              <a:t> a </a:t>
            </a:r>
            <a:r>
              <a:rPr lang="en-US" dirty="0" err="1"/>
              <a:t>eventualelor</a:t>
            </a:r>
            <a:r>
              <a:rPr lang="en-US" dirty="0"/>
              <a:t> </a:t>
            </a:r>
            <a:r>
              <a:rPr lang="en-US" dirty="0" err="1"/>
              <a:t>amenzi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/>
              <a:t>controlului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078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0CABCAE3-64FC-4149-819F-2C18128241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012FDCFE-9AD2-4D8A-8CBF-B3AA37EBF6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FBD463FC-4CA8-4FF4-85A3-AF9F4B98D2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BECF35C3-8B44-4F4B-BD25-4C01823DB2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xmlns="" id="{D0712110-0BC1-4B31-B3BB-63B44222E8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4466B5F3-C053-4580-B04A-1EF9498882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D6BC98-C8AE-4678-BA85-048C4392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Specimen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legitimatie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FA6123F2-4B61-414F-A7E5-5B7828EACA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7" name="Content Placeholder 5">
            <a:extLst>
              <a:ext uri="{FF2B5EF4-FFF2-40B4-BE49-F238E27FC236}">
                <a16:creationId xmlns:a16="http://schemas.microsoft.com/office/drawing/2014/main" xmlns="" id="{CAF9F20C-9E8A-4DAF-A3BC-1928CE9C9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3791" y="448542"/>
            <a:ext cx="2129657" cy="529107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xmlns="" id="{25CED634-E2D0-4AB7-96DD-816C9B52C5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xmlns="" id="{FCDDCDFB-696D-4FDF-9B58-24F71B7C37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551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684E9C-0348-4087-91B7-2E17087A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Entitati</a:t>
            </a:r>
            <a:r>
              <a:rPr lang="en-US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9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subordonate</a:t>
            </a:r>
            <a:r>
              <a:rPr lang="en-US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9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Anpc</a:t>
            </a:r>
            <a:r>
              <a:rPr lang="en-US" sz="2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0433C1-A429-4DCB-86D4-068D17060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 CRPC si CJPC (</a:t>
            </a:r>
            <a:r>
              <a:rPr lang="en-US" dirty="0" err="1"/>
              <a:t>Comisariate</a:t>
            </a:r>
            <a:r>
              <a:rPr lang="en-US" dirty="0"/>
              <a:t> </a:t>
            </a:r>
            <a:r>
              <a:rPr lang="en-US" dirty="0" err="1"/>
              <a:t>Regionale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Comisariate</a:t>
            </a:r>
            <a:r>
              <a:rPr lang="en-US" dirty="0"/>
              <a:t> </a:t>
            </a:r>
            <a:r>
              <a:rPr lang="en-US" dirty="0" err="1"/>
              <a:t>Judetene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)</a:t>
            </a:r>
            <a:endParaRPr lang="it-IT" dirty="0"/>
          </a:p>
          <a:p>
            <a:r>
              <a:rPr lang="it-IT" dirty="0"/>
              <a:t> LAREX</a:t>
            </a:r>
          </a:p>
          <a:p>
            <a:r>
              <a:rPr lang="it-IT" dirty="0"/>
              <a:t> Laborator vinuri si bauturi alcoolice</a:t>
            </a:r>
          </a:p>
          <a:p>
            <a:r>
              <a:rPr lang="it-IT" dirty="0"/>
              <a:t> Metale si pietre pretioase</a:t>
            </a:r>
            <a:r>
              <a:rPr lang="it-IT" dirty="0">
                <a:hlinkClick r:id="rId2" tooltip="Metale si pietre pretioas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/>
            </a:r>
            <a:br>
              <a:rPr lang="it-IT" dirty="0">
                <a:hlinkClick r:id="rId2" tooltip="Metale si pietre pretioas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98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8330E5-A6BD-4974-B9B0-1398E863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it-IT" b="1" dirty="0">
                <a:solidFill>
                  <a:schemeClr val="accent1">
                    <a:lumMod val="75000"/>
                  </a:schemeClr>
                </a:solidFill>
              </a:rPr>
              <a:t>LAREX</a:t>
            </a:r>
            <a:r>
              <a:rPr lang="it-IT" dirty="0"/>
              <a:t/>
            </a:r>
            <a:br>
              <a:rPr lang="it-IT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F858DC-A540-4890-968F-3D07C4084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Înfiinţat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anul</a:t>
            </a:r>
            <a:r>
              <a:rPr lang="en-US" dirty="0"/>
              <a:t> 1954 ca </a:t>
            </a:r>
            <a:r>
              <a:rPr lang="en-US" dirty="0" err="1"/>
              <a:t>laborator</a:t>
            </a:r>
            <a:r>
              <a:rPr lang="en-US" dirty="0"/>
              <a:t> al </a:t>
            </a:r>
            <a:r>
              <a:rPr lang="en-US" dirty="0" err="1"/>
              <a:t>Oficiului</a:t>
            </a:r>
            <a:r>
              <a:rPr lang="en-US" dirty="0"/>
              <a:t> de Control al </a:t>
            </a:r>
            <a:r>
              <a:rPr lang="en-US" dirty="0" err="1"/>
              <a:t>Mărfurilor</a:t>
            </a:r>
            <a:r>
              <a:rPr lang="en-US" dirty="0"/>
              <a:t>, </a:t>
            </a:r>
            <a:r>
              <a:rPr lang="en-US" b="1" dirty="0"/>
              <a:t>LAREX</a:t>
            </a:r>
            <a:r>
              <a:rPr lang="en-US" dirty="0"/>
              <a:t> s-a </a:t>
            </a:r>
            <a:r>
              <a:rPr lang="en-US" dirty="0" err="1"/>
              <a:t>dezvoltat</a:t>
            </a:r>
            <a:r>
              <a:rPr lang="en-US" dirty="0"/>
              <a:t> permanent, </a:t>
            </a:r>
            <a:r>
              <a:rPr lang="en-US" dirty="0" err="1"/>
              <a:t>devenind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anul</a:t>
            </a:r>
            <a:r>
              <a:rPr lang="en-US" dirty="0"/>
              <a:t> 1990 </a:t>
            </a:r>
            <a:r>
              <a:rPr lang="en-US" b="1" dirty="0" err="1"/>
              <a:t>Centrul</a:t>
            </a:r>
            <a:r>
              <a:rPr lang="en-US" b="1" dirty="0"/>
              <a:t> </a:t>
            </a:r>
            <a:r>
              <a:rPr lang="en-US" b="1" dirty="0" err="1"/>
              <a:t>Naţional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Încercarea</a:t>
            </a:r>
            <a:r>
              <a:rPr lang="en-US" b="1" dirty="0"/>
              <a:t> </a:t>
            </a:r>
            <a:r>
              <a:rPr lang="en-US" b="1" dirty="0" err="1"/>
              <a:t>şi</a:t>
            </a:r>
            <a:r>
              <a:rPr lang="en-US" b="1" dirty="0"/>
              <a:t> </a:t>
            </a:r>
            <a:r>
              <a:rPr lang="en-US" b="1" dirty="0" err="1"/>
              <a:t>Expertizarea</a:t>
            </a:r>
            <a:r>
              <a:rPr lang="en-US" b="1" dirty="0"/>
              <a:t> </a:t>
            </a:r>
            <a:r>
              <a:rPr lang="en-US" b="1" dirty="0" err="1"/>
              <a:t>Produselor</a:t>
            </a:r>
            <a:r>
              <a:rPr lang="en-US" b="1" dirty="0"/>
              <a:t>. 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b="1" dirty="0"/>
              <a:t>CNIEP-LAREX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instituţie</a:t>
            </a:r>
            <a:r>
              <a:rPr lang="en-US" dirty="0"/>
              <a:t> </a:t>
            </a:r>
            <a:r>
              <a:rPr lang="en-US" dirty="0" err="1"/>
              <a:t>publică</a:t>
            </a:r>
            <a:r>
              <a:rPr lang="en-US" dirty="0"/>
              <a:t> </a:t>
            </a:r>
            <a:r>
              <a:rPr lang="en-US" dirty="0" err="1"/>
              <a:t>finanţată</a:t>
            </a:r>
            <a:r>
              <a:rPr lang="en-US" dirty="0"/>
              <a:t> integral din </a:t>
            </a:r>
            <a:r>
              <a:rPr lang="en-US" dirty="0" err="1"/>
              <a:t>fonduri</a:t>
            </a:r>
            <a:r>
              <a:rPr lang="en-US" dirty="0"/>
              <a:t> </a:t>
            </a:r>
            <a:r>
              <a:rPr lang="en-US" dirty="0" err="1"/>
              <a:t>extrabugetare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subordinea</a:t>
            </a:r>
            <a:r>
              <a:rPr lang="en-US" dirty="0"/>
              <a:t> </a:t>
            </a:r>
            <a:r>
              <a:rPr lang="en-US" dirty="0" err="1"/>
              <a:t>Autorităţii</a:t>
            </a:r>
            <a:r>
              <a:rPr lang="en-US" dirty="0"/>
              <a:t> </a:t>
            </a:r>
            <a:r>
              <a:rPr lang="en-US" dirty="0" err="1"/>
              <a:t>Naţionale</a:t>
            </a:r>
            <a:r>
              <a:rPr lang="en-US" dirty="0"/>
              <a:t> 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Protecţia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b="1" dirty="0"/>
              <a:t>CNIEP-LAREX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calitate</a:t>
            </a:r>
            <a:r>
              <a:rPr lang="en-US" dirty="0"/>
              <a:t> de organism </a:t>
            </a:r>
            <a:r>
              <a:rPr lang="en-US" dirty="0" err="1"/>
              <a:t>neutru</a:t>
            </a:r>
            <a:r>
              <a:rPr lang="en-US" dirty="0"/>
              <a:t> </a:t>
            </a:r>
            <a:r>
              <a:rPr lang="en-US" dirty="0" err="1"/>
              <a:t>notificat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Hotarare</a:t>
            </a:r>
            <a:r>
              <a:rPr lang="en-US" dirty="0"/>
              <a:t> de </a:t>
            </a:r>
            <a:r>
              <a:rPr lang="en-US" dirty="0" err="1"/>
              <a:t>Guvern</a:t>
            </a:r>
            <a:r>
              <a:rPr lang="en-US" dirty="0"/>
              <a:t>, </a:t>
            </a:r>
            <a:r>
              <a:rPr lang="en-US" dirty="0" err="1"/>
              <a:t>desfăşoară</a:t>
            </a:r>
            <a:r>
              <a:rPr lang="en-US" dirty="0"/>
              <a:t> </a:t>
            </a:r>
            <a:r>
              <a:rPr lang="en-US" dirty="0" err="1"/>
              <a:t>activităţi</a:t>
            </a:r>
            <a:r>
              <a:rPr lang="en-US" dirty="0"/>
              <a:t> de </a:t>
            </a:r>
            <a:r>
              <a:rPr lang="en-US" dirty="0" err="1"/>
              <a:t>încercări</a:t>
            </a:r>
            <a:r>
              <a:rPr lang="en-US" dirty="0"/>
              <a:t>, </a:t>
            </a:r>
            <a:r>
              <a:rPr lang="en-US" dirty="0" err="1"/>
              <a:t>expertiză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certificarea</a:t>
            </a:r>
            <a:r>
              <a:rPr lang="en-US" dirty="0"/>
              <a:t> </a:t>
            </a:r>
            <a:r>
              <a:rPr lang="en-US" dirty="0" err="1"/>
              <a:t>conformităţii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 err="1"/>
              <a:t>Laboratorul</a:t>
            </a:r>
            <a:r>
              <a:rPr lang="en-US" dirty="0"/>
              <a:t> are </a:t>
            </a:r>
            <a:r>
              <a:rPr lang="en-US" dirty="0" err="1"/>
              <a:t>implementat</a:t>
            </a:r>
            <a:r>
              <a:rPr lang="en-US" dirty="0"/>
              <a:t> un </a:t>
            </a:r>
            <a:r>
              <a:rPr lang="en-US" dirty="0" err="1"/>
              <a:t>sistem</a:t>
            </a:r>
            <a:r>
              <a:rPr lang="en-US" dirty="0"/>
              <a:t> de management al </a:t>
            </a:r>
            <a:r>
              <a:rPr lang="en-US" dirty="0" err="1"/>
              <a:t>calităţii</a:t>
            </a:r>
            <a:r>
              <a:rPr lang="en-US" dirty="0"/>
              <a:t> </a:t>
            </a:r>
            <a:r>
              <a:rPr lang="en-US" dirty="0" err="1"/>
              <a:t>întocmit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conformitate</a:t>
            </a:r>
            <a:r>
              <a:rPr lang="en-US" dirty="0"/>
              <a:t> cu </a:t>
            </a:r>
            <a:r>
              <a:rPr lang="en-US" dirty="0" err="1"/>
              <a:t>cerintele</a:t>
            </a:r>
            <a:r>
              <a:rPr lang="en-US" dirty="0"/>
              <a:t> ISO 9001 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in curs de </a:t>
            </a:r>
            <a:r>
              <a:rPr lang="en-US" dirty="0" err="1"/>
              <a:t>acreditare</a:t>
            </a:r>
            <a:r>
              <a:rPr lang="en-US" b="1" dirty="0"/>
              <a:t> RENAR</a:t>
            </a:r>
            <a:r>
              <a:rPr lang="en-US" dirty="0"/>
              <a:t> (organism </a:t>
            </a:r>
            <a:r>
              <a:rPr lang="en-US" dirty="0" err="1"/>
              <a:t>naţional</a:t>
            </a:r>
            <a:r>
              <a:rPr lang="en-US" dirty="0"/>
              <a:t> de </a:t>
            </a:r>
            <a:r>
              <a:rPr lang="en-US" dirty="0" err="1"/>
              <a:t>acreditare</a:t>
            </a:r>
            <a:r>
              <a:rPr lang="en-US" dirty="0"/>
              <a:t>, </a:t>
            </a:r>
            <a:r>
              <a:rPr lang="en-US" dirty="0" err="1"/>
              <a:t>recunoscut</a:t>
            </a:r>
            <a:r>
              <a:rPr lang="en-US" dirty="0"/>
              <a:t> pe plan </a:t>
            </a:r>
            <a:r>
              <a:rPr lang="en-US" dirty="0" err="1"/>
              <a:t>european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internaţional</a:t>
            </a:r>
            <a:r>
              <a:rPr lang="en-US" dirty="0"/>
              <a:t>) conform SR EN ISO/CEI 17025:2005. </a:t>
            </a:r>
          </a:p>
        </p:txBody>
      </p:sp>
    </p:spTree>
    <p:extLst>
      <p:ext uri="{BB962C8B-B14F-4D97-AF65-F5344CB8AC3E}">
        <p14:creationId xmlns:p14="http://schemas.microsoft.com/office/powerpoint/2010/main" val="2526639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C3C4A4-4851-4102-8BE6-47081C1E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Laborator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pentru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Analiza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Calitatii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Vinurilor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si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Bauturilor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Alcoolice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745336-BFD1-4118-8AB7-0DE4FE052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39814"/>
            <a:ext cx="9603275" cy="4013667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Laboratorul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</a:t>
            </a:r>
            <a:r>
              <a:rPr lang="en-US" dirty="0" err="1"/>
              <a:t>Vinurilor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Bauturilor</a:t>
            </a:r>
            <a:r>
              <a:rPr lang="en-US" dirty="0"/>
              <a:t> </a:t>
            </a:r>
            <a:r>
              <a:rPr lang="en-US" dirty="0" err="1"/>
              <a:t>Alcoolice</a:t>
            </a:r>
            <a:r>
              <a:rPr lang="en-US" dirty="0"/>
              <a:t>, </a:t>
            </a:r>
            <a:r>
              <a:rPr lang="en-US" dirty="0" err="1"/>
              <a:t>functioneaza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compartiment</a:t>
            </a:r>
            <a:r>
              <a:rPr lang="en-US" dirty="0"/>
              <a:t> independent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Directiei</a:t>
            </a:r>
            <a:r>
              <a:rPr lang="en-US" dirty="0"/>
              <a:t> </a:t>
            </a:r>
            <a:r>
              <a:rPr lang="en-US" dirty="0" err="1"/>
              <a:t>Generale</a:t>
            </a:r>
            <a:r>
              <a:rPr lang="en-US" dirty="0"/>
              <a:t>  de Control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Supraveghere</a:t>
            </a:r>
            <a:r>
              <a:rPr lang="en-US" dirty="0"/>
              <a:t> </a:t>
            </a:r>
            <a:r>
              <a:rPr lang="en-US" dirty="0" err="1"/>
              <a:t>Piata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Armonizare</a:t>
            </a:r>
            <a:r>
              <a:rPr lang="en-US" dirty="0"/>
              <a:t> </a:t>
            </a:r>
            <a:r>
              <a:rPr lang="en-US" dirty="0" err="1"/>
              <a:t>Europeana</a:t>
            </a:r>
            <a:r>
              <a:rPr lang="en-US" dirty="0"/>
              <a:t> din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Autoritatii</a:t>
            </a:r>
            <a:r>
              <a:rPr lang="en-US" dirty="0"/>
              <a:t> </a:t>
            </a:r>
            <a:r>
              <a:rPr lang="en-US" dirty="0" err="1"/>
              <a:t>Nationale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in </a:t>
            </a:r>
            <a:r>
              <a:rPr lang="en-US" dirty="0" err="1"/>
              <a:t>conformitate</a:t>
            </a:r>
            <a:r>
              <a:rPr lang="en-US" dirty="0"/>
              <a:t> cu H.G. nr.700/2012 </a:t>
            </a:r>
            <a:r>
              <a:rPr lang="en-US" dirty="0" err="1"/>
              <a:t>modificata</a:t>
            </a:r>
            <a:r>
              <a:rPr lang="en-US" dirty="0"/>
              <a:t> de H.G. 878/2014. 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anii</a:t>
            </a:r>
            <a:r>
              <a:rPr lang="en-US" dirty="0"/>
              <a:t> 1976-2012 </a:t>
            </a:r>
            <a:r>
              <a:rPr lang="en-US" dirty="0" err="1"/>
              <a:t>laboratorul</a:t>
            </a:r>
            <a:r>
              <a:rPr lang="en-US" dirty="0"/>
              <a:t> a </a:t>
            </a:r>
            <a:r>
              <a:rPr lang="en-US" dirty="0" err="1"/>
              <a:t>functionat</a:t>
            </a:r>
            <a:r>
              <a:rPr lang="en-US" dirty="0"/>
              <a:t> in </a:t>
            </a:r>
            <a:r>
              <a:rPr lang="en-US" dirty="0" err="1"/>
              <a:t>Bucuresti</a:t>
            </a:r>
            <a:r>
              <a:rPr lang="en-US" dirty="0"/>
              <a:t>, </a:t>
            </a:r>
            <a:r>
              <a:rPr lang="en-US" dirty="0" err="1"/>
              <a:t>strada</a:t>
            </a:r>
            <a:r>
              <a:rPr lang="en-US" dirty="0"/>
              <a:t> </a:t>
            </a:r>
            <a:r>
              <a:rPr lang="en-US" dirty="0" err="1"/>
              <a:t>Povernei</a:t>
            </a:r>
            <a:r>
              <a:rPr lang="en-US" dirty="0"/>
              <a:t> 19-21,sector 1. </a:t>
            </a:r>
            <a:r>
              <a:rPr lang="en-US" dirty="0" err="1"/>
              <a:t>Laboratorul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autorizat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efectueze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</a:t>
            </a:r>
            <a:r>
              <a:rPr lang="en-US" dirty="0" err="1"/>
              <a:t>vitivinicole</a:t>
            </a:r>
            <a:r>
              <a:rPr lang="en-US" dirty="0"/>
              <a:t> 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Ordinului</a:t>
            </a:r>
            <a:r>
              <a:rPr lang="en-US" dirty="0"/>
              <a:t> </a:t>
            </a:r>
            <a:r>
              <a:rPr lang="en-US" dirty="0" err="1"/>
              <a:t>Ministrului</a:t>
            </a:r>
            <a:r>
              <a:rPr lang="en-US" dirty="0"/>
              <a:t> </a:t>
            </a:r>
            <a:r>
              <a:rPr lang="en-US" dirty="0" err="1"/>
              <a:t>Agriculturii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Industriei</a:t>
            </a:r>
            <a:r>
              <a:rPr lang="en-US" dirty="0"/>
              <a:t> </a:t>
            </a:r>
            <a:r>
              <a:rPr lang="en-US" dirty="0" err="1"/>
              <a:t>Alimentare</a:t>
            </a:r>
            <a:r>
              <a:rPr lang="en-US" dirty="0"/>
              <a:t> Nr. 41/1972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normele</a:t>
            </a:r>
            <a:r>
              <a:rPr lang="en-US" dirty="0"/>
              <a:t> </a:t>
            </a:r>
            <a:r>
              <a:rPr lang="en-US" dirty="0" err="1"/>
              <a:t>tehnice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măsuri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prevederilor</a:t>
            </a:r>
            <a:r>
              <a:rPr lang="en-US" dirty="0"/>
              <a:t> </a:t>
            </a:r>
            <a:r>
              <a:rPr lang="en-US" dirty="0" err="1"/>
              <a:t>Legii</a:t>
            </a:r>
            <a:r>
              <a:rPr lang="en-US" dirty="0"/>
              <a:t> </a:t>
            </a:r>
            <a:r>
              <a:rPr lang="en-US" dirty="0" err="1"/>
              <a:t>Viei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Vinului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autorizat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Ordinul</a:t>
            </a:r>
            <a:r>
              <a:rPr lang="en-US" dirty="0"/>
              <a:t> nr. 147/1976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</a:t>
            </a:r>
            <a:r>
              <a:rPr lang="en-US" dirty="0" err="1"/>
              <a:t>analizelor</a:t>
            </a:r>
            <a:r>
              <a:rPr lang="en-US" dirty="0"/>
              <a:t> la </a:t>
            </a:r>
            <a:r>
              <a:rPr lang="en-US" dirty="0" err="1"/>
              <a:t>vinurile</a:t>
            </a:r>
            <a:r>
              <a:rPr lang="en-US" dirty="0"/>
              <a:t>  </a:t>
            </a:r>
            <a:r>
              <a:rPr lang="en-US" dirty="0" err="1"/>
              <a:t>pentru</a:t>
            </a:r>
            <a:r>
              <a:rPr lang="en-US" dirty="0"/>
              <a:t> export, </a:t>
            </a:r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specialisti</a:t>
            </a:r>
            <a:r>
              <a:rPr lang="en-US" dirty="0"/>
              <a:t> </a:t>
            </a:r>
            <a:r>
              <a:rPr lang="en-US" dirty="0" err="1"/>
              <a:t>împuterniciţi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semneze</a:t>
            </a:r>
            <a:r>
              <a:rPr lang="en-US" dirty="0"/>
              <a:t> </a:t>
            </a:r>
            <a:r>
              <a:rPr lang="en-US" dirty="0" err="1"/>
              <a:t>documente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Piata</a:t>
            </a:r>
            <a:r>
              <a:rPr lang="en-US" dirty="0"/>
              <a:t> </a:t>
            </a:r>
            <a:r>
              <a:rPr lang="en-US" dirty="0" err="1"/>
              <a:t>Comuna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33647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85894B-F750-4F22-8728-C433B1C9F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Laboratorul</a:t>
            </a:r>
            <a:r>
              <a:rPr lang="en-US" b="1" dirty="0"/>
              <a:t> 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acreditat</a:t>
            </a:r>
            <a:r>
              <a:rPr lang="en-US" b="1" dirty="0"/>
              <a:t> RENAR</a:t>
            </a:r>
            <a:r>
              <a:rPr lang="en-US" dirty="0"/>
              <a:t> din </a:t>
            </a:r>
            <a:r>
              <a:rPr lang="en-US" dirty="0" err="1"/>
              <a:t>anul</a:t>
            </a:r>
            <a:r>
              <a:rPr lang="en-US" dirty="0"/>
              <a:t> 2005 </a:t>
            </a:r>
            <a:r>
              <a:rPr lang="en-US" b="1" dirty="0"/>
              <a:t>(</a:t>
            </a:r>
            <a:r>
              <a:rPr lang="en-US" b="1" dirty="0" err="1"/>
              <a:t>Certificat</a:t>
            </a:r>
            <a:r>
              <a:rPr lang="en-US" b="1" dirty="0"/>
              <a:t> </a:t>
            </a:r>
            <a:r>
              <a:rPr lang="en-US" b="1" dirty="0" err="1"/>
              <a:t>Acreditare</a:t>
            </a:r>
            <a:r>
              <a:rPr lang="en-US" b="1" dirty="0"/>
              <a:t>  LI 399),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autorizat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Ministerul</a:t>
            </a:r>
            <a:r>
              <a:rPr lang="en-US" dirty="0"/>
              <a:t> </a:t>
            </a:r>
            <a:r>
              <a:rPr lang="en-US" dirty="0" err="1"/>
              <a:t>Agriculturii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Dezvoltarii</a:t>
            </a:r>
            <a:r>
              <a:rPr lang="en-US" dirty="0"/>
              <a:t> </a:t>
            </a:r>
            <a:r>
              <a:rPr lang="en-US" dirty="0" err="1"/>
              <a:t>Rurale</a:t>
            </a:r>
            <a:r>
              <a:rPr lang="en-US" dirty="0"/>
              <a:t> 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Ordinului</a:t>
            </a:r>
            <a:r>
              <a:rPr lang="en-US" dirty="0"/>
              <a:t> nr. 277/20.04.2006, in </a:t>
            </a:r>
            <a:r>
              <a:rPr lang="en-US" dirty="0" err="1"/>
              <a:t>vederea</a:t>
            </a:r>
            <a:r>
              <a:rPr lang="en-US" dirty="0"/>
              <a:t> </a:t>
            </a:r>
            <a:r>
              <a:rPr lang="en-US" dirty="0" err="1"/>
              <a:t>executarii</a:t>
            </a:r>
            <a:r>
              <a:rPr lang="en-US" dirty="0"/>
              <a:t> de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vinuri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produse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de must </a:t>
            </a:r>
            <a:r>
              <a:rPr lang="en-US" dirty="0" err="1"/>
              <a:t>si</a:t>
            </a:r>
            <a:r>
              <a:rPr lang="en-US" dirty="0"/>
              <a:t> vin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nominalizat</a:t>
            </a:r>
            <a:r>
              <a:rPr lang="en-US" dirty="0"/>
              <a:t> de </a:t>
            </a:r>
            <a:r>
              <a:rPr lang="en-US" dirty="0" err="1"/>
              <a:t>Ministerul</a:t>
            </a:r>
            <a:r>
              <a:rPr lang="en-US" dirty="0"/>
              <a:t> </a:t>
            </a:r>
            <a:r>
              <a:rPr lang="en-US" dirty="0" err="1"/>
              <a:t>Agriculturii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Dezvoltarii</a:t>
            </a:r>
            <a:r>
              <a:rPr lang="en-US" dirty="0"/>
              <a:t> </a:t>
            </a:r>
            <a:r>
              <a:rPr lang="en-US" dirty="0" err="1"/>
              <a:t>Rurale</a:t>
            </a:r>
            <a:r>
              <a:rPr lang="en-US" dirty="0"/>
              <a:t> in </a:t>
            </a:r>
            <a:r>
              <a:rPr lang="en-US" dirty="0" err="1"/>
              <a:t>Ordinul</a:t>
            </a:r>
            <a:r>
              <a:rPr lang="en-US" dirty="0"/>
              <a:t> 272/2010 </a:t>
            </a:r>
            <a:r>
              <a:rPr lang="en-US" dirty="0" err="1"/>
              <a:t>modificat</a:t>
            </a:r>
            <a:r>
              <a:rPr lang="en-US" dirty="0"/>
              <a:t> in 2015 pe</a:t>
            </a:r>
            <a:r>
              <a:rPr lang="en-US" b="1" dirty="0"/>
              <a:t> </a:t>
            </a:r>
            <a:r>
              <a:rPr lang="en-US" b="1" dirty="0" err="1"/>
              <a:t>lista</a:t>
            </a:r>
            <a:r>
              <a:rPr lang="en-US" b="1" dirty="0"/>
              <a:t> </a:t>
            </a:r>
            <a:r>
              <a:rPr lang="en-US" b="1" dirty="0" err="1"/>
              <a:t>laboratoarelor</a:t>
            </a:r>
            <a:r>
              <a:rPr lang="en-US" b="1" dirty="0"/>
              <a:t> </a:t>
            </a:r>
            <a:r>
              <a:rPr lang="en-US" b="1" dirty="0" err="1"/>
              <a:t>desemnate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efectuarea</a:t>
            </a:r>
            <a:r>
              <a:rPr lang="en-US" b="1" dirty="0"/>
              <a:t> </a:t>
            </a:r>
            <a:r>
              <a:rPr lang="en-US" b="1" dirty="0" err="1"/>
              <a:t>controlului</a:t>
            </a:r>
            <a:r>
              <a:rPr lang="en-US" b="1" dirty="0"/>
              <a:t> </a:t>
            </a:r>
            <a:r>
              <a:rPr lang="en-US" b="1" dirty="0" err="1"/>
              <a:t>oficial</a:t>
            </a:r>
            <a:r>
              <a:rPr lang="en-US" b="1" dirty="0"/>
              <a:t> in </a:t>
            </a:r>
            <a:r>
              <a:rPr lang="en-US" b="1" dirty="0" err="1"/>
              <a:t>sectorul</a:t>
            </a:r>
            <a:r>
              <a:rPr lang="en-US" b="1" dirty="0"/>
              <a:t> </a:t>
            </a:r>
            <a:r>
              <a:rPr lang="en-US" b="1" dirty="0" err="1"/>
              <a:t>vitivinicol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 err="1"/>
              <a:t>Personalul</a:t>
            </a:r>
            <a:r>
              <a:rPr lang="en-US" dirty="0"/>
              <a:t> </a:t>
            </a:r>
            <a:r>
              <a:rPr lang="en-US" dirty="0" err="1"/>
              <a:t>laboratorului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format din </a:t>
            </a:r>
            <a:r>
              <a:rPr lang="en-US" dirty="0" err="1"/>
              <a:t>doi</a:t>
            </a:r>
            <a:r>
              <a:rPr lang="en-US" dirty="0"/>
              <a:t> </a:t>
            </a:r>
            <a:r>
              <a:rPr lang="en-US" dirty="0" err="1"/>
              <a:t>chimisti</a:t>
            </a:r>
            <a:r>
              <a:rPr lang="en-US" dirty="0"/>
              <a:t> cu </a:t>
            </a:r>
            <a:r>
              <a:rPr lang="en-US" dirty="0" err="1"/>
              <a:t>vechime</a:t>
            </a:r>
            <a:r>
              <a:rPr lang="en-US" dirty="0"/>
              <a:t> de 10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 30 ani in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analizei</a:t>
            </a:r>
            <a:r>
              <a:rPr lang="en-US" dirty="0"/>
              <a:t> de vin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bauturi</a:t>
            </a:r>
            <a:r>
              <a:rPr lang="en-US" dirty="0"/>
              <a:t> </a:t>
            </a:r>
            <a:r>
              <a:rPr lang="en-US" dirty="0" err="1"/>
              <a:t>alcoolice</a:t>
            </a:r>
            <a:r>
              <a:rPr lang="en-US" dirty="0"/>
              <a:t> , cu </a:t>
            </a:r>
            <a:r>
              <a:rPr lang="en-US" dirty="0" err="1"/>
              <a:t>atestat</a:t>
            </a:r>
            <a:r>
              <a:rPr lang="en-US" dirty="0"/>
              <a:t> de </a:t>
            </a:r>
            <a:r>
              <a:rPr lang="en-US" dirty="0" err="1"/>
              <a:t>degustator</a:t>
            </a:r>
            <a:r>
              <a:rPr lang="en-US" dirty="0"/>
              <a:t> expert, </a:t>
            </a:r>
            <a:r>
              <a:rPr lang="en-US" dirty="0" err="1"/>
              <a:t>membru</a:t>
            </a:r>
            <a:r>
              <a:rPr lang="en-US" dirty="0"/>
              <a:t> in </a:t>
            </a:r>
            <a:r>
              <a:rPr lang="en-US" dirty="0" err="1"/>
              <a:t>Asociatia</a:t>
            </a:r>
            <a:r>
              <a:rPr lang="en-US" dirty="0"/>
              <a:t> </a:t>
            </a:r>
            <a:r>
              <a:rPr lang="en-US" dirty="0" err="1"/>
              <a:t>Degustarorilor</a:t>
            </a:r>
            <a:r>
              <a:rPr lang="en-US" dirty="0"/>
              <a:t> </a:t>
            </a:r>
            <a:r>
              <a:rPr lang="en-US" dirty="0" err="1"/>
              <a:t>Autorizati</a:t>
            </a:r>
            <a:r>
              <a:rPr lang="en-US" dirty="0"/>
              <a:t> din Romania (ADAR).</a:t>
            </a:r>
            <a:r>
              <a:rPr lang="en-US" b="1" dirty="0"/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45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CC06C9-6E5B-4C79-9D05-4D4733321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PORTOFOLIU DE SERVICII</a:t>
            </a:r>
            <a:r>
              <a:rPr lang="en-US" b="1" u="sng" dirty="0"/>
              <a:t>:</a:t>
            </a:r>
          </a:p>
          <a:p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organoleptice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fizico-chimice</a:t>
            </a:r>
            <a:r>
              <a:rPr lang="en-US" dirty="0"/>
              <a:t> conform </a:t>
            </a:r>
            <a:r>
              <a:rPr lang="en-US" dirty="0" err="1"/>
              <a:t>comenzilor</a:t>
            </a:r>
            <a:r>
              <a:rPr lang="en-US" dirty="0"/>
              <a:t> </a:t>
            </a:r>
            <a:r>
              <a:rPr lang="en-US" dirty="0" err="1"/>
              <a:t>anexate</a:t>
            </a:r>
            <a:r>
              <a:rPr lang="en-US" dirty="0"/>
              <a:t>;</a:t>
            </a:r>
          </a:p>
          <a:p>
            <a:r>
              <a:rPr lang="en-US" dirty="0" err="1"/>
              <a:t>Acordare</a:t>
            </a:r>
            <a:r>
              <a:rPr lang="en-US" dirty="0"/>
              <a:t> de </a:t>
            </a:r>
            <a:r>
              <a:rPr lang="en-US" dirty="0" err="1"/>
              <a:t>consultanta</a:t>
            </a:r>
            <a:r>
              <a:rPr lang="en-US" dirty="0"/>
              <a:t> in </a:t>
            </a:r>
            <a:r>
              <a:rPr lang="en-US" dirty="0" err="1"/>
              <a:t>legatura</a:t>
            </a:r>
            <a:r>
              <a:rPr lang="en-US" dirty="0"/>
              <a:t> cu </a:t>
            </a:r>
            <a:r>
              <a:rPr lang="en-US" dirty="0" err="1"/>
              <a:t>legislatia</a:t>
            </a:r>
            <a:r>
              <a:rPr lang="en-US" dirty="0"/>
              <a:t> in </a:t>
            </a:r>
            <a:r>
              <a:rPr lang="en-US" dirty="0" err="1"/>
              <a:t>vigoare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vin /</a:t>
            </a:r>
            <a:r>
              <a:rPr lang="en-US" dirty="0" err="1"/>
              <a:t>bauturi</a:t>
            </a:r>
            <a:r>
              <a:rPr lang="en-US" dirty="0"/>
              <a:t> </a:t>
            </a:r>
            <a:r>
              <a:rPr lang="en-US" dirty="0" err="1"/>
              <a:t>alcoolice</a:t>
            </a:r>
            <a:r>
              <a:rPr lang="en-US" dirty="0"/>
              <a:t>;</a:t>
            </a:r>
          </a:p>
          <a:p>
            <a:r>
              <a:rPr lang="en-US" dirty="0" err="1"/>
              <a:t>Tratamente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conditionarea</a:t>
            </a:r>
            <a:r>
              <a:rPr lang="en-US" dirty="0"/>
              <a:t> </a:t>
            </a:r>
            <a:r>
              <a:rPr lang="en-US" dirty="0" err="1"/>
              <a:t>vinurilor</a:t>
            </a:r>
            <a:r>
              <a:rPr lang="en-US" dirty="0"/>
              <a:t> (</a:t>
            </a:r>
            <a:r>
              <a:rPr lang="en-US" dirty="0" err="1"/>
              <a:t>stabilirea</a:t>
            </a:r>
            <a:r>
              <a:rPr lang="en-US" dirty="0"/>
              <a:t> </a:t>
            </a:r>
            <a:r>
              <a:rPr lang="en-US" dirty="0" err="1"/>
              <a:t>dozelor</a:t>
            </a:r>
            <a:r>
              <a:rPr lang="en-US" dirty="0"/>
              <a:t> de </a:t>
            </a:r>
            <a:r>
              <a:rPr lang="en-US" dirty="0" err="1"/>
              <a:t>agenti</a:t>
            </a:r>
            <a:r>
              <a:rPr lang="en-US" dirty="0"/>
              <a:t> de </a:t>
            </a:r>
            <a:r>
              <a:rPr lang="en-US" dirty="0" err="1"/>
              <a:t>cleire</a:t>
            </a:r>
            <a:r>
              <a:rPr lang="en-US" dirty="0"/>
              <a:t>, </a:t>
            </a:r>
            <a:r>
              <a:rPr lang="en-US" dirty="0" err="1"/>
              <a:t>dioxid</a:t>
            </a:r>
            <a:r>
              <a:rPr lang="en-US" dirty="0"/>
              <a:t> de </a:t>
            </a:r>
            <a:r>
              <a:rPr lang="en-US" dirty="0" err="1"/>
              <a:t>sulf</a:t>
            </a:r>
            <a:r>
              <a:rPr lang="en-US" dirty="0"/>
              <a:t>, </a:t>
            </a:r>
            <a:r>
              <a:rPr lang="en-US" dirty="0" err="1"/>
              <a:t>corectii</a:t>
            </a:r>
            <a:r>
              <a:rPr lang="en-US" dirty="0"/>
              <a:t> de </a:t>
            </a:r>
            <a:r>
              <a:rPr lang="en-US" dirty="0" err="1"/>
              <a:t>aciditate</a:t>
            </a:r>
            <a:r>
              <a:rPr lang="en-US" dirty="0"/>
              <a:t>, </a:t>
            </a:r>
            <a:r>
              <a:rPr lang="en-US" dirty="0" err="1"/>
              <a:t>tratarea</a:t>
            </a:r>
            <a:r>
              <a:rPr lang="en-US" dirty="0"/>
              <a:t> </a:t>
            </a:r>
            <a:r>
              <a:rPr lang="en-US" dirty="0" err="1"/>
              <a:t>vinurilor</a:t>
            </a:r>
            <a:r>
              <a:rPr lang="en-US" dirty="0"/>
              <a:t> </a:t>
            </a:r>
            <a:r>
              <a:rPr lang="en-US" dirty="0" err="1"/>
              <a:t>oxidate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05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987C-1E20-4FAD-B1A9-F3A499D3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Metale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Preţioase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Pietre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Pretioase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şi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Proces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Kimberley (DMPPPPK)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FE64FE-86E3-47A4-8E8E-4674999D7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360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Potrivit</a:t>
            </a:r>
            <a:r>
              <a:rPr lang="en-US" dirty="0"/>
              <a:t> </a:t>
            </a:r>
            <a:r>
              <a:rPr lang="en-US" dirty="0" err="1"/>
              <a:t>prevederilor</a:t>
            </a:r>
            <a:r>
              <a:rPr lang="en-US" dirty="0"/>
              <a:t> H.G. nr. 700/2012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organizarea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funcţionarea</a:t>
            </a:r>
            <a:r>
              <a:rPr lang="en-US" dirty="0"/>
              <a:t> </a:t>
            </a:r>
            <a:r>
              <a:rPr lang="en-US" dirty="0" err="1"/>
              <a:t>Autorităţii</a:t>
            </a:r>
            <a:r>
              <a:rPr lang="en-US" dirty="0"/>
              <a:t> </a:t>
            </a:r>
            <a:r>
              <a:rPr lang="en-US" dirty="0" err="1"/>
              <a:t>Naţionale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Protecţia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are </a:t>
            </a:r>
            <a:r>
              <a:rPr lang="en-US" dirty="0" err="1"/>
              <a:t>atribuţii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, </a:t>
            </a:r>
            <a:r>
              <a:rPr lang="en-US" dirty="0" err="1"/>
              <a:t>domeniu</a:t>
            </a:r>
            <a:r>
              <a:rPr lang="en-US" dirty="0"/>
              <a:t> </a:t>
            </a:r>
            <a:r>
              <a:rPr lang="en-US" dirty="0" err="1"/>
              <a:t>reglementat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O.U.G nr. 190/2000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regimul</a:t>
            </a:r>
            <a:r>
              <a:rPr lang="en-US" dirty="0"/>
              <a:t>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România</a:t>
            </a:r>
            <a:r>
              <a:rPr lang="en-US" dirty="0"/>
              <a:t>, </a:t>
            </a:r>
            <a:r>
              <a:rPr lang="en-US" dirty="0" err="1"/>
              <a:t>republicată</a:t>
            </a:r>
            <a:r>
              <a:rPr lang="en-US" dirty="0"/>
              <a:t>, cu </a:t>
            </a:r>
            <a:r>
              <a:rPr lang="en-US" dirty="0" err="1"/>
              <a:t>modificările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completările</a:t>
            </a:r>
            <a:r>
              <a:rPr lang="en-US" dirty="0"/>
              <a:t> </a:t>
            </a:r>
            <a:r>
              <a:rPr lang="en-US" dirty="0" err="1"/>
              <a:t>ulterioare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Competenţele</a:t>
            </a:r>
            <a:r>
              <a:rPr lang="en-US" dirty="0"/>
              <a:t> </a:t>
            </a:r>
            <a:r>
              <a:rPr lang="en-US" dirty="0" err="1"/>
              <a:t>Autorităţii</a:t>
            </a:r>
            <a:r>
              <a:rPr lang="en-US" dirty="0"/>
              <a:t> </a:t>
            </a:r>
            <a:r>
              <a:rPr lang="en-US" dirty="0" err="1"/>
              <a:t>Naţionale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Protecţia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materia</a:t>
            </a:r>
            <a:r>
              <a:rPr lang="en-US" dirty="0"/>
              <a:t>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, sunt </a:t>
            </a:r>
            <a:r>
              <a:rPr lang="en-US" dirty="0" err="1"/>
              <a:t>următoarele</a:t>
            </a:r>
            <a:r>
              <a:rPr lang="en-US" dirty="0"/>
              <a:t>:</a:t>
            </a:r>
          </a:p>
          <a:p>
            <a:r>
              <a:rPr lang="en-US" dirty="0" err="1"/>
              <a:t>autorizarea</a:t>
            </a:r>
            <a:r>
              <a:rPr lang="en-US" dirty="0"/>
              <a:t>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 care </a:t>
            </a:r>
            <a:r>
              <a:rPr lang="en-US" dirty="0" err="1"/>
              <a:t>efectuează</a:t>
            </a:r>
            <a:r>
              <a:rPr lang="en-US" dirty="0"/>
              <a:t> </a:t>
            </a:r>
            <a:r>
              <a:rPr lang="en-US" dirty="0" err="1"/>
              <a:t>operaţiuni</a:t>
            </a:r>
            <a:r>
              <a:rPr lang="en-US" dirty="0"/>
              <a:t> cu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;</a:t>
            </a:r>
          </a:p>
          <a:p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Sistemului</a:t>
            </a:r>
            <a:r>
              <a:rPr lang="en-US" dirty="0"/>
              <a:t> de </a:t>
            </a:r>
            <a:r>
              <a:rPr lang="en-US" dirty="0" err="1"/>
              <a:t>Certificare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Kimberley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comerţul</a:t>
            </a:r>
            <a:r>
              <a:rPr lang="en-US" dirty="0"/>
              <a:t> </a:t>
            </a:r>
            <a:r>
              <a:rPr lang="en-US" dirty="0" err="1"/>
              <a:t>internaţional</a:t>
            </a:r>
            <a:r>
              <a:rPr lang="en-US" dirty="0"/>
              <a:t> cu diamante brute,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calitate</a:t>
            </a:r>
            <a:r>
              <a:rPr lang="en-US" dirty="0"/>
              <a:t> de </a:t>
            </a:r>
            <a:r>
              <a:rPr lang="en-US" dirty="0" err="1"/>
              <a:t>autoritate</a:t>
            </a:r>
            <a:r>
              <a:rPr lang="en-US" dirty="0"/>
              <a:t> </a:t>
            </a:r>
            <a:r>
              <a:rPr lang="en-US" dirty="0" err="1"/>
              <a:t>comunitară</a:t>
            </a:r>
            <a:r>
              <a:rPr lang="en-US" dirty="0"/>
              <a:t>;</a:t>
            </a:r>
          </a:p>
          <a:p>
            <a:r>
              <a:rPr lang="en-US" dirty="0" err="1"/>
              <a:t>expertizarea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precum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altor</a:t>
            </a:r>
            <a:r>
              <a:rPr lang="en-US" dirty="0"/>
              <a:t> </a:t>
            </a:r>
            <a:r>
              <a:rPr lang="en-US" dirty="0" err="1"/>
              <a:t>pietre</a:t>
            </a:r>
            <a:r>
              <a:rPr lang="en-US" dirty="0"/>
              <a:t> </a:t>
            </a:r>
            <a:r>
              <a:rPr lang="en-US" dirty="0" err="1"/>
              <a:t>naturale</a:t>
            </a:r>
            <a:r>
              <a:rPr lang="en-US" dirty="0"/>
              <a:t>, fine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ornamentale</a:t>
            </a:r>
            <a:r>
              <a:rPr lang="en-US" dirty="0"/>
              <a:t>, </a:t>
            </a:r>
            <a:r>
              <a:rPr lang="en-US" dirty="0" err="1"/>
              <a:t>sintetice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perlelor</a:t>
            </a:r>
            <a:r>
              <a:rPr lang="en-US" dirty="0"/>
              <a:t> </a:t>
            </a:r>
            <a:r>
              <a:rPr lang="en-US" dirty="0" err="1"/>
              <a:t>libere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montate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bijuterii</a:t>
            </a:r>
            <a:r>
              <a:rPr lang="en-US" dirty="0"/>
              <a:t>,  la </a:t>
            </a:r>
            <a:r>
              <a:rPr lang="en-US" dirty="0" err="1"/>
              <a:t>solicitarea</a:t>
            </a:r>
            <a:r>
              <a:rPr lang="en-US" dirty="0"/>
              <a:t> </a:t>
            </a:r>
            <a:r>
              <a:rPr lang="en-US" dirty="0" err="1"/>
              <a:t>persoanelor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economici</a:t>
            </a:r>
            <a:r>
              <a:rPr lang="en-US" dirty="0"/>
              <a:t> </a:t>
            </a:r>
            <a:r>
              <a:rPr lang="en-US" dirty="0" err="1"/>
              <a:t>autorizaţi</a:t>
            </a:r>
            <a:endParaRPr lang="en-US" dirty="0"/>
          </a:p>
          <a:p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marcarea</a:t>
            </a:r>
            <a:r>
              <a:rPr lang="en-US" dirty="0"/>
              <a:t> </a:t>
            </a:r>
            <a:r>
              <a:rPr lang="en-US" dirty="0" err="1"/>
              <a:t>obiectelor</a:t>
            </a:r>
            <a:r>
              <a:rPr lang="en-US" dirty="0"/>
              <a:t> din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;</a:t>
            </a:r>
          </a:p>
          <a:p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distructive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nedistructive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laboratorului</a:t>
            </a:r>
            <a:r>
              <a:rPr lang="en-US" dirty="0"/>
              <a:t> de </a:t>
            </a:r>
            <a:r>
              <a:rPr lang="en-US" dirty="0" err="1"/>
              <a:t>încercări</a:t>
            </a:r>
            <a:r>
              <a:rPr lang="en-US" dirty="0"/>
              <a:t>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endParaRPr lang="en-US" dirty="0"/>
          </a:p>
          <a:p>
            <a:r>
              <a:rPr lang="en-US" dirty="0" err="1"/>
              <a:t>topirea</a:t>
            </a:r>
            <a:r>
              <a:rPr lang="en-US" dirty="0"/>
              <a:t>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lingourilor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laboratorului</a:t>
            </a:r>
            <a:r>
              <a:rPr lang="en-US" dirty="0"/>
              <a:t> de </a:t>
            </a:r>
            <a:r>
              <a:rPr lang="en-US" dirty="0" err="1"/>
              <a:t>încercări</a:t>
            </a:r>
            <a:r>
              <a:rPr lang="en-US" dirty="0"/>
              <a:t> </a:t>
            </a:r>
            <a:r>
              <a:rPr lang="en-US" dirty="0" err="1"/>
              <a:t>metale</a:t>
            </a:r>
            <a:r>
              <a:rPr lang="en-US" dirty="0"/>
              <a:t> </a:t>
            </a:r>
            <a:r>
              <a:rPr lang="en-US" dirty="0" err="1"/>
              <a:t>preţioase</a:t>
            </a:r>
            <a:endParaRPr lang="en-US" dirty="0"/>
          </a:p>
          <a:p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expertize</a:t>
            </a:r>
            <a:r>
              <a:rPr lang="en-US" dirty="0"/>
              <a:t> </a:t>
            </a:r>
            <a:r>
              <a:rPr lang="en-US" dirty="0" err="1"/>
              <a:t>judiciare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extrajudiciare</a:t>
            </a:r>
            <a:r>
              <a:rPr lang="en-US" dirty="0"/>
              <a:t> ale </a:t>
            </a:r>
            <a:r>
              <a:rPr lang="en-US" dirty="0" err="1"/>
              <a:t>metalelor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pietrelor</a:t>
            </a:r>
            <a:r>
              <a:rPr lang="en-US" dirty="0"/>
              <a:t> </a:t>
            </a:r>
            <a:r>
              <a:rPr lang="en-US" dirty="0" err="1"/>
              <a:t>preţioase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250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7412D2-78A0-4ADF-BCCF-966AADC8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Proiecte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și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campanii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73E69C-0970-49D7-B1E9-2FE81D5F8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InfoCons</a:t>
            </a:r>
            <a:r>
              <a:rPr lang="en-US" dirty="0"/>
              <a:t> – </a:t>
            </a:r>
            <a:r>
              <a:rPr lang="en-US" dirty="0" err="1"/>
              <a:t>InfoCons</a:t>
            </a:r>
            <a:r>
              <a:rPr lang="en-US" dirty="0"/>
              <a:t>, </a:t>
            </a:r>
            <a:r>
              <a:rPr lang="en-US" dirty="0" err="1"/>
              <a:t>Asociație</a:t>
            </a:r>
            <a:r>
              <a:rPr lang="en-US" dirty="0"/>
              <a:t> de </a:t>
            </a:r>
            <a:r>
              <a:rPr lang="en-US" dirty="0" err="1"/>
              <a:t>Protecția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, are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cadrul</a:t>
            </a:r>
            <a:r>
              <a:rPr lang="en-US" dirty="0"/>
              <a:t> </a:t>
            </a:r>
            <a:r>
              <a:rPr lang="en-US" dirty="0" err="1"/>
              <a:t>Strategiei</a:t>
            </a:r>
            <a:r>
              <a:rPr lang="en-US" dirty="0"/>
              <a:t> </a:t>
            </a:r>
            <a:r>
              <a:rPr lang="en-US" dirty="0" err="1"/>
              <a:t>statutată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documentele</a:t>
            </a:r>
            <a:r>
              <a:rPr lang="en-US" dirty="0"/>
              <a:t> de </a:t>
            </a:r>
            <a:r>
              <a:rPr lang="en-US" dirty="0" err="1"/>
              <a:t>înființare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următoarelor</a:t>
            </a:r>
            <a:r>
              <a:rPr lang="en-US" dirty="0"/>
              <a:t> </a:t>
            </a:r>
            <a:r>
              <a:rPr lang="en-US" dirty="0" err="1"/>
              <a:t>activități</a:t>
            </a:r>
            <a:r>
              <a:rPr lang="en-US" dirty="0"/>
              <a:t> ca </a:t>
            </a:r>
            <a:r>
              <a:rPr lang="en-US" dirty="0" err="1"/>
              <a:t>programe</a:t>
            </a:r>
            <a:r>
              <a:rPr lang="en-US" dirty="0"/>
              <a:t> </a:t>
            </a:r>
            <a:r>
              <a:rPr lang="en-US" dirty="0" err="1"/>
              <a:t>strategice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României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schimbarea</a:t>
            </a:r>
            <a:r>
              <a:rPr lang="en-US" dirty="0"/>
              <a:t> </a:t>
            </a:r>
            <a:r>
              <a:rPr lang="en-US" dirty="0" err="1"/>
              <a:t>mentalității</a:t>
            </a:r>
            <a:r>
              <a:rPr lang="en-US" dirty="0"/>
              <a:t> </a:t>
            </a:r>
            <a:r>
              <a:rPr lang="en-US" dirty="0" err="1"/>
              <a:t>cetățenilor</a:t>
            </a:r>
            <a:r>
              <a:rPr lang="en-US" dirty="0"/>
              <a:t> din </a:t>
            </a:r>
            <a:r>
              <a:rPr lang="en-US" dirty="0" err="1"/>
              <a:t>consumatori</a:t>
            </a:r>
            <a:r>
              <a:rPr lang="en-US" dirty="0"/>
              <a:t> </a:t>
            </a:r>
            <a:r>
              <a:rPr lang="en-US" dirty="0" err="1"/>
              <a:t>pasivi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consumatori</a:t>
            </a:r>
            <a:r>
              <a:rPr lang="en-US" dirty="0"/>
              <a:t> </a:t>
            </a:r>
            <a:r>
              <a:rPr lang="en-US" dirty="0" err="1"/>
              <a:t>activi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Programul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transparenta</a:t>
            </a:r>
            <a:r>
              <a:rPr lang="en-US" b="1" dirty="0"/>
              <a:t> </a:t>
            </a:r>
            <a:r>
              <a:rPr lang="en-US" b="1" dirty="0" err="1"/>
              <a:t>informatiei</a:t>
            </a:r>
            <a:r>
              <a:rPr lang="en-US" dirty="0"/>
              <a:t> (</a:t>
            </a:r>
            <a:r>
              <a:rPr lang="en-US" dirty="0">
                <a:hlinkClick r:id="rId2"/>
              </a:rPr>
              <a:t>www.pti.ro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Trofeul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Programul</a:t>
            </a:r>
            <a:r>
              <a:rPr lang="en-US" b="1" dirty="0"/>
              <a:t> de </a:t>
            </a:r>
            <a:r>
              <a:rPr lang="en-US" b="1" dirty="0" err="1"/>
              <a:t>colaborare</a:t>
            </a:r>
            <a:r>
              <a:rPr lang="en-US" b="1" dirty="0"/>
              <a:t> </a:t>
            </a:r>
            <a:r>
              <a:rPr lang="en-US" b="1" dirty="0" err="1"/>
              <a:t>transfrontaliera</a:t>
            </a:r>
            <a:r>
              <a:rPr lang="en-US" dirty="0"/>
              <a:t> (</a:t>
            </a:r>
            <a:r>
              <a:rPr lang="en-US" dirty="0">
                <a:hlinkClick r:id="rId3"/>
              </a:rPr>
              <a:t>pct.pti.ro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Programul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promovarea</a:t>
            </a:r>
            <a:r>
              <a:rPr lang="en-US" b="1" dirty="0"/>
              <a:t> </a:t>
            </a:r>
            <a:r>
              <a:rPr lang="en-US" b="1" dirty="0" err="1"/>
              <a:t>culturii</a:t>
            </a:r>
            <a:r>
              <a:rPr lang="en-US" dirty="0"/>
              <a:t> (</a:t>
            </a:r>
            <a:r>
              <a:rPr lang="en-US" dirty="0">
                <a:hlinkClick r:id="rId4"/>
              </a:rPr>
              <a:t>ppc.pti.ro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Programul</a:t>
            </a:r>
            <a:r>
              <a:rPr lang="en-US" b="1" dirty="0"/>
              <a:t> National </a:t>
            </a:r>
            <a:r>
              <a:rPr lang="en-US" b="1" dirty="0" err="1"/>
              <a:t>AntiContrafaceri</a:t>
            </a:r>
            <a:r>
              <a:rPr lang="en-US" b="1" dirty="0"/>
              <a:t> – </a:t>
            </a:r>
            <a:r>
              <a:rPr lang="en-US" b="1" dirty="0" err="1"/>
              <a:t>Programul</a:t>
            </a:r>
            <a:r>
              <a:rPr lang="en-US" b="1" dirty="0"/>
              <a:t> National de </a:t>
            </a:r>
            <a:r>
              <a:rPr lang="en-US" b="1" dirty="0" err="1"/>
              <a:t>Protectie</a:t>
            </a:r>
            <a:r>
              <a:rPr lang="en-US" b="1" dirty="0"/>
              <a:t> a </a:t>
            </a:r>
            <a:r>
              <a:rPr lang="en-US" b="1" dirty="0" err="1"/>
              <a:t>Consumatorilor</a:t>
            </a:r>
            <a:r>
              <a:rPr lang="en-US" b="1" dirty="0"/>
              <a:t> </a:t>
            </a:r>
            <a:r>
              <a:rPr lang="en-US" b="1" dirty="0" err="1"/>
              <a:t>impotriva</a:t>
            </a:r>
            <a:r>
              <a:rPr lang="en-US" b="1" dirty="0"/>
              <a:t> </a:t>
            </a:r>
            <a:r>
              <a:rPr lang="en-US" b="1" dirty="0" err="1"/>
              <a:t>Produselor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Serviciilor</a:t>
            </a:r>
            <a:r>
              <a:rPr lang="en-US" b="1" dirty="0"/>
              <a:t> </a:t>
            </a:r>
            <a:r>
              <a:rPr lang="en-US" b="1" dirty="0" err="1"/>
              <a:t>Contrafacute</a:t>
            </a:r>
            <a:r>
              <a:rPr lang="en-US" dirty="0"/>
              <a:t>(</a:t>
            </a:r>
            <a:r>
              <a:rPr lang="en-US" dirty="0">
                <a:hlinkClick r:id="rId5"/>
              </a:rPr>
              <a:t>www.anticontrafaceri.ro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382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67635E-1E42-451A-930E-7A5DEF76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86597"/>
            <a:ext cx="9603275" cy="4346917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etichetarea</a:t>
            </a:r>
            <a:r>
              <a:rPr lang="en-US" dirty="0"/>
              <a:t> </a:t>
            </a:r>
            <a:r>
              <a:rPr lang="en-US" dirty="0" err="1"/>
              <a:t>alimentelor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efectele</a:t>
            </a:r>
            <a:r>
              <a:rPr lang="en-US" dirty="0"/>
              <a:t> </a:t>
            </a:r>
            <a:r>
              <a:rPr lang="en-US" dirty="0" err="1"/>
              <a:t>raportarii</a:t>
            </a:r>
            <a:r>
              <a:rPr lang="en-US" dirty="0"/>
              <a:t> </a:t>
            </a:r>
            <a:r>
              <a:rPr lang="en-US" dirty="0" err="1"/>
              <a:t>financiare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efectele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drepturile</a:t>
            </a:r>
            <a:r>
              <a:rPr lang="en-US" dirty="0"/>
              <a:t> legate de </a:t>
            </a: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dirty="0" err="1"/>
              <a:t>intelectuala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industriala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 de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potabila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efectele</a:t>
            </a:r>
            <a:r>
              <a:rPr lang="en-US" dirty="0"/>
              <a:t> </a:t>
            </a:r>
            <a:r>
              <a:rPr lang="en-US" dirty="0" err="1"/>
              <a:t>licitatiilor</a:t>
            </a:r>
            <a:r>
              <a:rPr lang="en-US" dirty="0"/>
              <a:t> </a:t>
            </a:r>
            <a:r>
              <a:rPr lang="en-US" dirty="0" err="1"/>
              <a:t>publice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 </a:t>
            </a:r>
            <a:r>
              <a:rPr lang="en-US" dirty="0" err="1"/>
              <a:t>impotriva</a:t>
            </a:r>
            <a:r>
              <a:rPr lang="en-US" dirty="0"/>
              <a:t> </a:t>
            </a:r>
            <a:r>
              <a:rPr lang="en-US" dirty="0" err="1"/>
              <a:t>fraudei</a:t>
            </a:r>
            <a:r>
              <a:rPr lang="en-US" dirty="0"/>
              <a:t> in </a:t>
            </a:r>
            <a:r>
              <a:rPr lang="en-US" dirty="0" err="1"/>
              <a:t>vama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din </a:t>
            </a:r>
            <a:r>
              <a:rPr lang="en-US" dirty="0" err="1"/>
              <a:t>sectorul</a:t>
            </a:r>
            <a:r>
              <a:rPr lang="en-US" dirty="0"/>
              <a:t> </a:t>
            </a:r>
            <a:r>
              <a:rPr lang="en-US" dirty="0" err="1"/>
              <a:t>agro-zootehnic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turistice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</a:t>
            </a:r>
            <a:r>
              <a:rPr lang="en-US" dirty="0" err="1"/>
              <a:t>turismului</a:t>
            </a:r>
            <a:r>
              <a:rPr lang="en-US" dirty="0"/>
              <a:t> </a:t>
            </a:r>
            <a:r>
              <a:rPr lang="en-US" dirty="0" err="1"/>
              <a:t>durabil</a:t>
            </a:r>
            <a:endParaRPr lang="en-US" dirty="0"/>
          </a:p>
          <a:p>
            <a:pPr marL="457200" indent="-457200">
              <a:buFont typeface="+mj-lt"/>
              <a:buAutoNum type="arabicPeriod" startAt="1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prevenirea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in </a:t>
            </a:r>
            <a:r>
              <a:rPr lang="en-US" dirty="0" err="1"/>
              <a:t>caz</a:t>
            </a:r>
            <a:r>
              <a:rPr lang="en-US" dirty="0"/>
              <a:t> de </a:t>
            </a:r>
            <a:r>
              <a:rPr lang="en-US" dirty="0" err="1"/>
              <a:t>calamitati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dezastre</a:t>
            </a:r>
            <a:r>
              <a:rPr lang="en-US" dirty="0"/>
              <a:t> </a:t>
            </a:r>
            <a:r>
              <a:rPr lang="en-US" dirty="0" err="1"/>
              <a:t>naturale</a:t>
            </a:r>
            <a:endParaRPr lang="en-US" dirty="0"/>
          </a:p>
          <a:p>
            <a:pPr marL="457200" indent="-457200">
              <a:buFont typeface="+mj-lt"/>
              <a:buAutoNum type="arabicPeriod" startAt="1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–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sociale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egalitatea</a:t>
            </a:r>
            <a:r>
              <a:rPr lang="en-US" dirty="0"/>
              <a:t> de </a:t>
            </a:r>
            <a:r>
              <a:rPr lang="en-US" dirty="0" err="1"/>
              <a:t>sanse</a:t>
            </a:r>
            <a:endParaRPr lang="en-US" dirty="0"/>
          </a:p>
          <a:p>
            <a:pPr marL="457200" indent="-457200">
              <a:buFont typeface="+mj-lt"/>
              <a:buAutoNum type="arabicPeriod" startAt="6"/>
            </a:pPr>
            <a:endParaRPr lang="en-US" dirty="0"/>
          </a:p>
          <a:p>
            <a:pPr marL="457200" indent="-457200">
              <a:buFont typeface="+mj-lt"/>
              <a:buAutoNum type="arabicPeriod" startAt="6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028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212B06-8D08-4E3A-B0C3-5776E9A8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5162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in </a:t>
            </a:r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alinierii</a:t>
            </a:r>
            <a:r>
              <a:rPr lang="en-US" dirty="0"/>
              <a:t> la acquis-ul </a:t>
            </a:r>
            <a:r>
              <a:rPr lang="en-US" dirty="0" err="1"/>
              <a:t>comunitar</a:t>
            </a:r>
            <a:endParaRPr lang="en-US" dirty="0"/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Cooperarea</a:t>
            </a:r>
            <a:r>
              <a:rPr lang="en-US" dirty="0"/>
              <a:t> </a:t>
            </a:r>
            <a:r>
              <a:rPr lang="en-US" dirty="0" err="1"/>
              <a:t>administrativa</a:t>
            </a:r>
            <a:r>
              <a:rPr lang="en-US" dirty="0"/>
              <a:t> in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protectiei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endParaRPr lang="en-US" dirty="0"/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in </a:t>
            </a:r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alinierii</a:t>
            </a:r>
            <a:r>
              <a:rPr lang="en-US" dirty="0"/>
              <a:t> la </a:t>
            </a:r>
            <a:r>
              <a:rPr lang="en-US" dirty="0" err="1"/>
              <a:t>sistemul</a:t>
            </a:r>
            <a:r>
              <a:rPr lang="en-US" dirty="0"/>
              <a:t> </a:t>
            </a:r>
            <a:r>
              <a:rPr lang="en-US" dirty="0" err="1"/>
              <a:t>monetar</a:t>
            </a:r>
            <a:r>
              <a:rPr lang="en-US" dirty="0"/>
              <a:t> </a:t>
            </a:r>
            <a:r>
              <a:rPr lang="en-US" dirty="0" err="1"/>
              <a:t>unic</a:t>
            </a:r>
            <a:r>
              <a:rPr lang="en-US" dirty="0"/>
              <a:t> </a:t>
            </a:r>
            <a:r>
              <a:rPr lang="en-US" dirty="0" err="1"/>
              <a:t>european</a:t>
            </a:r>
            <a:r>
              <a:rPr lang="en-US" dirty="0"/>
              <a:t>- </a:t>
            </a:r>
            <a:r>
              <a:rPr lang="en-US" dirty="0" err="1"/>
              <a:t>Introducerea</a:t>
            </a:r>
            <a:r>
              <a:rPr lang="en-US" dirty="0"/>
              <a:t> </a:t>
            </a:r>
            <a:r>
              <a:rPr lang="en-US" dirty="0" err="1"/>
              <a:t>monedei</a:t>
            </a:r>
            <a:r>
              <a:rPr lang="en-US" dirty="0"/>
              <a:t> euro</a:t>
            </a:r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problematica</a:t>
            </a:r>
            <a:r>
              <a:rPr lang="en-US" dirty="0"/>
              <a:t> </a:t>
            </a:r>
            <a:r>
              <a:rPr lang="en-US" dirty="0" err="1"/>
              <a:t>implementarii</a:t>
            </a:r>
            <a:r>
              <a:rPr lang="en-US" dirty="0"/>
              <a:t> </a:t>
            </a:r>
            <a:r>
              <a:rPr lang="en-US" dirty="0" err="1"/>
              <a:t>legislatiei</a:t>
            </a:r>
            <a:r>
              <a:rPr lang="en-US" dirty="0"/>
              <a:t> </a:t>
            </a:r>
            <a:r>
              <a:rPr lang="en-US" dirty="0" err="1"/>
              <a:t>mediului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protejarea</a:t>
            </a:r>
            <a:r>
              <a:rPr lang="en-US" dirty="0"/>
              <a:t> </a:t>
            </a:r>
            <a:r>
              <a:rPr lang="en-US" dirty="0" err="1"/>
              <a:t>naturii</a:t>
            </a:r>
            <a:endParaRPr lang="en-US" dirty="0"/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efectele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cererea</a:t>
            </a:r>
            <a:r>
              <a:rPr lang="en-US" dirty="0"/>
              <a:t> de capital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creditare</a:t>
            </a:r>
            <a:endParaRPr lang="en-US" dirty="0"/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constientizarea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educarea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beneficiilor</a:t>
            </a:r>
            <a:r>
              <a:rPr lang="en-US" dirty="0"/>
              <a:t> </a:t>
            </a:r>
            <a:r>
              <a:rPr lang="en-US" dirty="0" err="1"/>
              <a:t>achizitionarii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de </a:t>
            </a:r>
            <a:r>
              <a:rPr lang="en-US" dirty="0" err="1"/>
              <a:t>marca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efectele</a:t>
            </a:r>
            <a:r>
              <a:rPr lang="en-US" dirty="0"/>
              <a:t> </a:t>
            </a:r>
            <a:r>
              <a:rPr lang="en-US" dirty="0" err="1"/>
              <a:t>inregistarii</a:t>
            </a:r>
            <a:r>
              <a:rPr lang="en-US" dirty="0"/>
              <a:t> </a:t>
            </a:r>
            <a:r>
              <a:rPr lang="en-US" dirty="0" err="1"/>
              <a:t>marcii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designului</a:t>
            </a:r>
            <a:endParaRPr lang="en-US" dirty="0"/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– </a:t>
            </a:r>
            <a:r>
              <a:rPr lang="en-US" dirty="0" err="1"/>
              <a:t>Problematici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efecte</a:t>
            </a:r>
            <a:r>
              <a:rPr lang="en-US" dirty="0"/>
              <a:t> pe </a:t>
            </a:r>
            <a:r>
              <a:rPr lang="en-US" dirty="0" err="1"/>
              <a:t>piata</a:t>
            </a:r>
            <a:r>
              <a:rPr lang="en-US" dirty="0"/>
              <a:t> </a:t>
            </a:r>
            <a:r>
              <a:rPr lang="en-US" dirty="0" err="1"/>
              <a:t>muncii</a:t>
            </a:r>
            <a:endParaRPr lang="en-US" dirty="0"/>
          </a:p>
          <a:p>
            <a:pPr marL="457200" indent="-457200">
              <a:buFont typeface="+mj-lt"/>
              <a:buAutoNum type="arabicPeriod" startAt="16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apelor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788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43B72F-C5C9-4208-89DE-FBC2ECE47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42868"/>
            <a:ext cx="9603275" cy="4290646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includerea</a:t>
            </a:r>
            <a:r>
              <a:rPr lang="en-US" dirty="0"/>
              <a:t> </a:t>
            </a:r>
            <a:r>
              <a:rPr lang="en-US" dirty="0" err="1"/>
              <a:t>sociala</a:t>
            </a:r>
            <a:r>
              <a:rPr lang="en-US" dirty="0"/>
              <a:t> a </a:t>
            </a:r>
            <a:r>
              <a:rPr lang="en-US" dirty="0" err="1"/>
              <a:t>persoanelor</a:t>
            </a:r>
            <a:r>
              <a:rPr lang="en-US" dirty="0"/>
              <a:t> </a:t>
            </a:r>
            <a:r>
              <a:rPr lang="en-US" dirty="0" err="1"/>
              <a:t>defavorizate</a:t>
            </a:r>
            <a:r>
              <a:rPr lang="en-US" dirty="0"/>
              <a:t> – </a:t>
            </a:r>
            <a:r>
              <a:rPr lang="en-US" dirty="0" err="1"/>
              <a:t>educatie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informare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drepturilor</a:t>
            </a:r>
            <a:r>
              <a:rPr lang="en-US" dirty="0"/>
              <a:t> legitime ale </a:t>
            </a:r>
            <a:r>
              <a:rPr lang="en-US" dirty="0" err="1"/>
              <a:t>acestora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siguranta</a:t>
            </a:r>
            <a:r>
              <a:rPr lang="en-US" dirty="0"/>
              <a:t> la </a:t>
            </a:r>
            <a:r>
              <a:rPr lang="en-US" dirty="0" err="1"/>
              <a:t>locul</a:t>
            </a:r>
            <a:r>
              <a:rPr lang="en-US" dirty="0"/>
              <a:t> de </a:t>
            </a:r>
            <a:r>
              <a:rPr lang="en-US" dirty="0" err="1"/>
              <a:t>munca</a:t>
            </a:r>
            <a:r>
              <a:rPr lang="en-US" dirty="0"/>
              <a:t> </a:t>
            </a:r>
            <a:r>
              <a:rPr lang="en-US" dirty="0" err="1"/>
              <a:t>efecte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protectiei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Ecosisteme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ajutorul</a:t>
            </a:r>
            <a:r>
              <a:rPr lang="en-US" dirty="0"/>
              <a:t> din </a:t>
            </a:r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statului</a:t>
            </a:r>
            <a:r>
              <a:rPr lang="en-US" dirty="0"/>
              <a:t> cu </a:t>
            </a:r>
            <a:r>
              <a:rPr lang="en-US" dirty="0" err="1"/>
              <a:t>respectarea</a:t>
            </a:r>
            <a:r>
              <a:rPr lang="en-US" dirty="0"/>
              <a:t> </a:t>
            </a:r>
            <a:r>
              <a:rPr lang="en-US" dirty="0" err="1"/>
              <a:t>legislatiei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drepturile</a:t>
            </a:r>
            <a:r>
              <a:rPr lang="en-US" dirty="0"/>
              <a:t> legitime ale </a:t>
            </a:r>
            <a:r>
              <a:rPr lang="en-US" dirty="0" err="1"/>
              <a:t>consumatorilor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transport pe </a:t>
            </a:r>
            <a:r>
              <a:rPr lang="en-US" dirty="0" err="1"/>
              <a:t>drumurile</a:t>
            </a:r>
            <a:r>
              <a:rPr lang="en-US" dirty="0"/>
              <a:t> </a:t>
            </a:r>
            <a:r>
              <a:rPr lang="en-US" dirty="0" err="1"/>
              <a:t>publice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protejarea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administrarea</a:t>
            </a:r>
            <a:r>
              <a:rPr lang="en-US" dirty="0"/>
              <a:t> </a:t>
            </a:r>
            <a:r>
              <a:rPr lang="en-US" dirty="0" err="1"/>
              <a:t>padurilor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zgomotul</a:t>
            </a:r>
            <a:r>
              <a:rPr lang="en-US" dirty="0"/>
              <a:t> </a:t>
            </a:r>
            <a:r>
              <a:rPr lang="en-US" dirty="0" err="1"/>
              <a:t>ambiental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monitorizarea</a:t>
            </a:r>
            <a:r>
              <a:rPr lang="en-US" dirty="0"/>
              <a:t> </a:t>
            </a:r>
            <a:r>
              <a:rPr lang="en-US" dirty="0" err="1"/>
              <a:t>acestuia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mass media</a:t>
            </a:r>
          </a:p>
          <a:p>
            <a:pPr marL="457200" indent="-457200">
              <a:buFont typeface="+mj-lt"/>
              <a:buAutoNum type="arabicPeriod" startAt="25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aviatice</a:t>
            </a:r>
            <a:r>
              <a:rPr lang="en-US" dirty="0"/>
              <a:t> in </a:t>
            </a:r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implementarii</a:t>
            </a:r>
            <a:r>
              <a:rPr lang="en-US" dirty="0"/>
              <a:t> </a:t>
            </a:r>
            <a:r>
              <a:rPr lang="en-US" dirty="0" err="1"/>
              <a:t>noilor</a:t>
            </a:r>
            <a:r>
              <a:rPr lang="en-US" dirty="0"/>
              <a:t> </a:t>
            </a:r>
            <a:r>
              <a:rPr lang="en-US" dirty="0" err="1"/>
              <a:t>tehnologii</a:t>
            </a:r>
            <a:endParaRPr lang="en-US" dirty="0"/>
          </a:p>
          <a:p>
            <a:pPr marL="457200" indent="-457200">
              <a:buFont typeface="+mj-lt"/>
              <a:buAutoNum type="arabicPeriod" startAt="25"/>
            </a:pPr>
            <a:endParaRPr lang="en-US" dirty="0"/>
          </a:p>
          <a:p>
            <a:pPr marL="457200" indent="-457200">
              <a:buFont typeface="+mj-lt"/>
              <a:buAutoNum type="arabicPeriod" startAt="21"/>
            </a:pPr>
            <a:endParaRPr lang="en-US" dirty="0"/>
          </a:p>
          <a:p>
            <a:pPr marL="457200" indent="-457200">
              <a:buFont typeface="+mj-lt"/>
              <a:buAutoNum type="arabicPeriod" startAt="21"/>
            </a:pPr>
            <a:endParaRPr lang="en-US" dirty="0"/>
          </a:p>
          <a:p>
            <a:pPr marL="457200" indent="-457200">
              <a:buFont typeface="+mj-lt"/>
              <a:buAutoNum type="arabicPeriod" startAt="21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133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E2F683-0259-4ED5-B2ED-4A11F8A1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drepturile</a:t>
            </a:r>
            <a:r>
              <a:rPr lang="en-US" dirty="0"/>
              <a:t> legitime ale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achizitionarea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Nepiratate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televiziune</a:t>
            </a:r>
            <a:r>
              <a:rPr lang="en-US" dirty="0"/>
              <a:t> </a:t>
            </a:r>
            <a:r>
              <a:rPr lang="en-US" dirty="0" err="1"/>
              <a:t>digitala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transport </a:t>
            </a:r>
            <a:r>
              <a:rPr lang="en-US" dirty="0" err="1"/>
              <a:t>maritim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fluvial</a:t>
            </a:r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 de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financiare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tipografice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politica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media</a:t>
            </a:r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publicatii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de </a:t>
            </a:r>
            <a:r>
              <a:rPr lang="en-US" dirty="0" err="1"/>
              <a:t>asigurari</a:t>
            </a:r>
            <a:endParaRPr lang="en-US" dirty="0"/>
          </a:p>
          <a:p>
            <a:pPr marL="457200" indent="-457200">
              <a:buFont typeface="+mj-lt"/>
              <a:buAutoNum type="arabicPeriod" startAt="34"/>
            </a:pPr>
            <a:r>
              <a:rPr lang="it-IT" dirty="0"/>
              <a:t>Programul National de Crestere a Accesului la Justitie si de Dezvoltare a Solutiilor Alternative de Mediere si Arbitraj</a:t>
            </a:r>
          </a:p>
          <a:p>
            <a:pPr marL="457200" indent="-457200">
              <a:buFont typeface="+mj-lt"/>
              <a:buAutoNum type="arabicPeriod" startAt="34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0568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6A016E-28D8-47A1-9159-AC061100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Politici</a:t>
            </a:r>
            <a:r>
              <a:rPr lang="en-US" dirty="0"/>
              <a:t> de </a:t>
            </a:r>
            <a:r>
              <a:rPr lang="en-US" dirty="0" err="1"/>
              <a:t>Mediere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Actiuni</a:t>
            </a:r>
            <a:r>
              <a:rPr lang="en-US" dirty="0"/>
              <a:t> de </a:t>
            </a:r>
            <a:r>
              <a:rPr lang="en-US" dirty="0" err="1"/>
              <a:t>Protejare</a:t>
            </a:r>
            <a:r>
              <a:rPr lang="en-US" dirty="0"/>
              <a:t> a </a:t>
            </a:r>
            <a:r>
              <a:rPr lang="en-US" dirty="0" err="1"/>
              <a:t>Consumatorilor</a:t>
            </a:r>
            <a:endParaRPr lang="en-US" dirty="0"/>
          </a:p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comert</a:t>
            </a:r>
            <a:r>
              <a:rPr lang="en-US" dirty="0"/>
              <a:t> electronic</a:t>
            </a:r>
          </a:p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Colegiul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– Un program de </a:t>
            </a:r>
            <a:r>
              <a:rPr lang="en-US" dirty="0" err="1"/>
              <a:t>cursuri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training-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destinat</a:t>
            </a:r>
            <a:r>
              <a:rPr lang="en-US" dirty="0"/>
              <a:t> </a:t>
            </a:r>
            <a:r>
              <a:rPr lang="en-US" dirty="0" err="1"/>
              <a:t>furnizorilor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endParaRPr lang="en-US" dirty="0"/>
          </a:p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jocuri</a:t>
            </a:r>
            <a:r>
              <a:rPr lang="en-US" dirty="0"/>
              <a:t> de </a:t>
            </a:r>
            <a:r>
              <a:rPr lang="en-US" dirty="0" err="1"/>
              <a:t>noroc</a:t>
            </a:r>
            <a:endParaRPr lang="en-US" dirty="0"/>
          </a:p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Programul</a:t>
            </a:r>
            <a:r>
              <a:rPr lang="en-US" dirty="0"/>
              <a:t> national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farmaceutice</a:t>
            </a:r>
            <a:endParaRPr lang="en-US" dirty="0"/>
          </a:p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Programul</a:t>
            </a:r>
            <a:r>
              <a:rPr lang="en-US" dirty="0"/>
              <a:t> national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medicale</a:t>
            </a:r>
            <a:endParaRPr lang="en-US" dirty="0"/>
          </a:p>
          <a:p>
            <a:pPr marL="457200" indent="-457200">
              <a:buFont typeface="+mj-lt"/>
              <a:buAutoNum type="arabicPeriod" startAt="44"/>
            </a:pPr>
            <a:r>
              <a:rPr lang="en-US" dirty="0" err="1"/>
              <a:t>Programul</a:t>
            </a:r>
            <a:r>
              <a:rPr lang="en-US" dirty="0"/>
              <a:t> national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cosmetice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ingrijire</a:t>
            </a:r>
            <a:r>
              <a:rPr lang="en-US" dirty="0"/>
              <a:t> </a:t>
            </a:r>
            <a:r>
              <a:rPr lang="en-US" dirty="0" err="1"/>
              <a:t>corporala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84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A8F16F-0E4D-4E74-87CA-803820A1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1"/>
            </a:pPr>
            <a:r>
              <a:rPr lang="en-US" dirty="0" err="1"/>
              <a:t>Programul</a:t>
            </a:r>
            <a:r>
              <a:rPr lang="en-US" dirty="0"/>
              <a:t> national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informarea</a:t>
            </a:r>
            <a:r>
              <a:rPr lang="en-US" dirty="0"/>
              <a:t> </a:t>
            </a:r>
            <a:r>
              <a:rPr lang="en-US" dirty="0" err="1"/>
              <a:t>corecta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etichetarii</a:t>
            </a:r>
            <a:r>
              <a:rPr lang="en-US" dirty="0"/>
              <a:t> </a:t>
            </a:r>
            <a:r>
              <a:rPr lang="en-US" dirty="0" err="1"/>
              <a:t>produselor</a:t>
            </a:r>
            <a:endParaRPr lang="en-US" dirty="0"/>
          </a:p>
          <a:p>
            <a:pPr marL="457200" indent="-457200">
              <a:buFont typeface="+mj-lt"/>
              <a:buAutoNum type="arabicPeriod" startAt="51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ciocolata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produse</a:t>
            </a:r>
            <a:r>
              <a:rPr lang="en-US" dirty="0"/>
              <a:t> din </a:t>
            </a:r>
            <a:r>
              <a:rPr lang="en-US" dirty="0" err="1"/>
              <a:t>ciocolata</a:t>
            </a:r>
            <a:endParaRPr lang="en-US" dirty="0"/>
          </a:p>
          <a:p>
            <a:pPr marL="457200" indent="-457200">
              <a:buFont typeface="+mj-lt"/>
              <a:buAutoNum type="arabicPeriod" startAt="51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avicole</a:t>
            </a:r>
            <a:endParaRPr lang="en-US" dirty="0"/>
          </a:p>
          <a:p>
            <a:pPr marL="457200" indent="-457200">
              <a:buFont typeface="+mj-lt"/>
              <a:buAutoNum type="arabicPeriod" startAt="51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in </a:t>
            </a:r>
            <a:r>
              <a:rPr lang="en-US" dirty="0" err="1"/>
              <a:t>domeniul</a:t>
            </a:r>
            <a:r>
              <a:rPr lang="en-US" dirty="0"/>
              <a:t> </a:t>
            </a:r>
            <a:r>
              <a:rPr lang="en-US" dirty="0" err="1"/>
              <a:t>comertului</a:t>
            </a:r>
            <a:r>
              <a:rPr lang="en-US" dirty="0"/>
              <a:t> cu </a:t>
            </a:r>
            <a:r>
              <a:rPr lang="en-US" dirty="0" err="1"/>
              <a:t>produse</a:t>
            </a:r>
            <a:r>
              <a:rPr lang="en-US" dirty="0"/>
              <a:t> de </a:t>
            </a:r>
            <a:r>
              <a:rPr lang="en-US" dirty="0" err="1"/>
              <a:t>arta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al </a:t>
            </a:r>
            <a:r>
              <a:rPr lang="en-US" dirty="0" err="1"/>
              <a:t>creatiei</a:t>
            </a:r>
            <a:r>
              <a:rPr lang="en-US" dirty="0"/>
              <a:t> </a:t>
            </a:r>
            <a:r>
              <a:rPr lang="en-US" dirty="0" err="1"/>
              <a:t>intelectuale</a:t>
            </a:r>
            <a:endParaRPr lang="en-US" dirty="0"/>
          </a:p>
          <a:p>
            <a:pPr marL="457200" indent="-457200">
              <a:buFont typeface="+mj-lt"/>
              <a:buAutoNum type="arabicPeriod" startAt="51"/>
            </a:pPr>
            <a:r>
              <a:rPr lang="en-US" dirty="0" err="1"/>
              <a:t>Programul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consumatorilor</a:t>
            </a:r>
            <a:r>
              <a:rPr lang="en-US" dirty="0"/>
              <a:t> de </a:t>
            </a:r>
            <a:r>
              <a:rPr lang="en-US" dirty="0" err="1"/>
              <a:t>produse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servicii</a:t>
            </a:r>
            <a:r>
              <a:rPr lang="en-US" dirty="0"/>
              <a:t> </a:t>
            </a:r>
            <a:r>
              <a:rPr lang="en-US" dirty="0" err="1"/>
              <a:t>aeriene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590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8819E1-29ED-49C4-9A2D-543583A9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ce situatii te poate ajuta ANPC?</a:t>
            </a:r>
            <a:r>
              <a:rPr lang="it-IT" dirty="0"/>
              <a:t/>
            </a:r>
            <a:br>
              <a:rPr lang="it-IT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4B9823-9785-4520-B7DB-45625C3CD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incerc</a:t>
            </a:r>
            <a:r>
              <a:rPr lang="en-US" dirty="0"/>
              <a:t> in </a:t>
            </a:r>
            <a:r>
              <a:rPr lang="en-US" dirty="0" err="1"/>
              <a:t>randurile</a:t>
            </a:r>
            <a:r>
              <a:rPr lang="en-US" dirty="0"/>
              <a:t> </a:t>
            </a:r>
            <a:r>
              <a:rPr lang="en-US" dirty="0" err="1"/>
              <a:t>urmatoare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fac o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sugestiva</a:t>
            </a:r>
            <a:r>
              <a:rPr lang="en-US" dirty="0"/>
              <a:t> de </a:t>
            </a:r>
            <a:r>
              <a:rPr lang="en-US" dirty="0" err="1"/>
              <a:t>situatii</a:t>
            </a:r>
            <a:r>
              <a:rPr lang="en-US" dirty="0"/>
              <a:t> in care un </a:t>
            </a:r>
            <a:r>
              <a:rPr lang="en-US" dirty="0" err="1"/>
              <a:t>consumator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apela</a:t>
            </a:r>
            <a:r>
              <a:rPr lang="en-US" dirty="0"/>
              <a:t> la ANPC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situatii</a:t>
            </a:r>
            <a:r>
              <a:rPr lang="en-US" dirty="0"/>
              <a:t> </a:t>
            </a:r>
            <a:r>
              <a:rPr lang="en-US" dirty="0" err="1"/>
              <a:t>conflictuale</a:t>
            </a:r>
            <a:r>
              <a:rPr lang="en-US" dirty="0"/>
              <a:t> </a:t>
            </a:r>
            <a:r>
              <a:rPr lang="en-US" dirty="0" err="1"/>
              <a:t>aparute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achizitiei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serviciu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necorespunzator</a:t>
            </a:r>
            <a:r>
              <a:rPr lang="en-US" dirty="0"/>
              <a:t>. Lista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jos</a:t>
            </a:r>
            <a:r>
              <a:rPr lang="en-US" dirty="0"/>
              <a:t> nu </a:t>
            </a:r>
            <a:r>
              <a:rPr lang="en-US" dirty="0" err="1"/>
              <a:t>este</a:t>
            </a:r>
            <a:r>
              <a:rPr lang="en-US" dirty="0"/>
              <a:t> in </a:t>
            </a:r>
            <a:r>
              <a:rPr lang="en-US" dirty="0" err="1"/>
              <a:t>niciun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dirty="0" err="1"/>
              <a:t>exhaustiva</a:t>
            </a:r>
            <a:r>
              <a:rPr lang="en-US" dirty="0"/>
              <a:t>, ci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schiteze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situatii</a:t>
            </a:r>
            <a:r>
              <a:rPr lang="en-US" dirty="0"/>
              <a:t> care pot fi </a:t>
            </a:r>
            <a:r>
              <a:rPr lang="en-US" dirty="0" err="1"/>
              <a:t>rezolvate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implicarea</a:t>
            </a:r>
            <a:r>
              <a:rPr lang="en-US" dirty="0"/>
              <a:t> </a:t>
            </a:r>
            <a:r>
              <a:rPr lang="en-US" dirty="0" err="1"/>
              <a:t>autoritatii</a:t>
            </a:r>
            <a:r>
              <a:rPr lang="en-US" dirty="0"/>
              <a:t> care se </a:t>
            </a:r>
            <a:r>
              <a:rPr lang="en-US" dirty="0" err="1"/>
              <a:t>ocupa</a:t>
            </a:r>
            <a:r>
              <a:rPr lang="en-US" dirty="0"/>
              <a:t> de </a:t>
            </a:r>
            <a:r>
              <a:rPr lang="en-US" dirty="0" err="1"/>
              <a:t>protectia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.</a:t>
            </a:r>
          </a:p>
          <a:p>
            <a:pPr fontAlgn="base"/>
            <a:r>
              <a:rPr lang="en-US" dirty="0" err="1"/>
              <a:t>Ti</a:t>
            </a:r>
            <a:r>
              <a:rPr lang="en-US" dirty="0"/>
              <a:t> se </a:t>
            </a:r>
            <a:r>
              <a:rPr lang="en-US" dirty="0" err="1"/>
              <a:t>refuza</a:t>
            </a:r>
            <a:r>
              <a:rPr lang="en-US" dirty="0"/>
              <a:t> </a:t>
            </a:r>
            <a:r>
              <a:rPr lang="en-US" dirty="0" err="1"/>
              <a:t>reparatia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in </a:t>
            </a:r>
            <a:r>
              <a:rPr lang="en-US" dirty="0" err="1"/>
              <a:t>perioada</a:t>
            </a:r>
            <a:r>
              <a:rPr lang="en-US" dirty="0"/>
              <a:t> de </a:t>
            </a:r>
            <a:r>
              <a:rPr lang="en-US" dirty="0" err="1"/>
              <a:t>garantie</a:t>
            </a:r>
            <a:r>
              <a:rPr lang="en-US" dirty="0"/>
              <a:t>;</a:t>
            </a:r>
          </a:p>
          <a:p>
            <a:pPr fontAlgn="base"/>
            <a:r>
              <a:rPr lang="en-US" dirty="0"/>
              <a:t>Ai </a:t>
            </a:r>
            <a:r>
              <a:rPr lang="en-US" dirty="0" err="1"/>
              <a:t>comandat</a:t>
            </a:r>
            <a:r>
              <a:rPr lang="en-US" dirty="0"/>
              <a:t> </a:t>
            </a:r>
            <a:r>
              <a:rPr lang="en-US" dirty="0" err="1"/>
              <a:t>produsul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posta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magazinul</a:t>
            </a:r>
            <a:r>
              <a:rPr lang="en-US" dirty="0"/>
              <a:t> </a:t>
            </a:r>
            <a:r>
              <a:rPr lang="en-US" dirty="0" err="1"/>
              <a:t>refuza</a:t>
            </a:r>
            <a:r>
              <a:rPr lang="en-US" dirty="0"/>
              <a:t> </a:t>
            </a:r>
            <a:r>
              <a:rPr lang="en-US" dirty="0" err="1"/>
              <a:t>returul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in </a:t>
            </a:r>
            <a:r>
              <a:rPr lang="en-US" dirty="0" err="1"/>
              <a:t>perioada</a:t>
            </a:r>
            <a:r>
              <a:rPr lang="en-US" dirty="0"/>
              <a:t> </a:t>
            </a:r>
            <a:r>
              <a:rPr lang="en-US" dirty="0" err="1"/>
              <a:t>legala</a:t>
            </a:r>
            <a:r>
              <a:rPr lang="en-US" dirty="0"/>
              <a:t> de 14 </a:t>
            </a:r>
            <a:r>
              <a:rPr lang="en-US" dirty="0" err="1"/>
              <a:t>zile</a:t>
            </a:r>
            <a:r>
              <a:rPr lang="en-US" dirty="0"/>
              <a:t>;</a:t>
            </a:r>
          </a:p>
          <a:p>
            <a:pPr fontAlgn="base"/>
            <a:r>
              <a:rPr lang="en-US" dirty="0" err="1"/>
              <a:t>Produsul</a:t>
            </a:r>
            <a:r>
              <a:rPr lang="en-US" dirty="0"/>
              <a:t> </a:t>
            </a:r>
            <a:r>
              <a:rPr lang="en-US" dirty="0" err="1"/>
              <a:t>livrat</a:t>
            </a:r>
            <a:r>
              <a:rPr lang="en-US" dirty="0"/>
              <a:t> nu </a:t>
            </a:r>
            <a:r>
              <a:rPr lang="en-US" dirty="0" err="1"/>
              <a:t>corespunde</a:t>
            </a:r>
            <a:r>
              <a:rPr lang="en-US" dirty="0"/>
              <a:t> cu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comandat</a:t>
            </a:r>
            <a:r>
              <a:rPr lang="en-US" dirty="0"/>
              <a:t> din </a:t>
            </a:r>
            <a:r>
              <a:rPr lang="en-US" dirty="0" err="1"/>
              <a:t>magazin</a:t>
            </a:r>
            <a:r>
              <a:rPr lang="en-US" dirty="0"/>
              <a:t>;</a:t>
            </a:r>
          </a:p>
          <a:p>
            <a:pPr fontAlgn="base"/>
            <a:r>
              <a:rPr lang="en-US" dirty="0" err="1"/>
              <a:t>Pretul</a:t>
            </a:r>
            <a:r>
              <a:rPr lang="en-US" dirty="0"/>
              <a:t> de pe </a:t>
            </a:r>
            <a:r>
              <a:rPr lang="en-US" dirty="0" err="1"/>
              <a:t>factura</a:t>
            </a:r>
            <a:r>
              <a:rPr lang="en-US" dirty="0"/>
              <a:t> </a:t>
            </a:r>
            <a:r>
              <a:rPr lang="en-US" dirty="0" err="1"/>
              <a:t>difera</a:t>
            </a:r>
            <a:r>
              <a:rPr lang="en-US" dirty="0"/>
              <a:t> de </a:t>
            </a:r>
            <a:r>
              <a:rPr lang="en-US" dirty="0" err="1"/>
              <a:t>cel</a:t>
            </a:r>
            <a:r>
              <a:rPr lang="en-US" dirty="0"/>
              <a:t> de pe site;</a:t>
            </a:r>
          </a:p>
          <a:p>
            <a:pPr fontAlgn="base"/>
            <a:r>
              <a:rPr lang="en-US" dirty="0" err="1"/>
              <a:t>Produsul</a:t>
            </a:r>
            <a:r>
              <a:rPr lang="en-US" dirty="0"/>
              <a:t> nu </a:t>
            </a:r>
            <a:r>
              <a:rPr lang="en-US" dirty="0" err="1"/>
              <a:t>functioneaza</a:t>
            </a:r>
            <a:r>
              <a:rPr lang="en-US" dirty="0"/>
              <a:t> </a:t>
            </a:r>
            <a:r>
              <a:rPr lang="en-US" dirty="0" err="1"/>
              <a:t>corespunzator</a:t>
            </a:r>
            <a:r>
              <a:rPr lang="en-US" dirty="0"/>
              <a:t> cu </a:t>
            </a:r>
            <a:r>
              <a:rPr lang="en-US" dirty="0" err="1"/>
              <a:t>specificatiile</a:t>
            </a:r>
            <a:r>
              <a:rPr lang="en-US" dirty="0"/>
              <a:t> </a:t>
            </a:r>
            <a:r>
              <a:rPr lang="en-US" dirty="0" err="1"/>
              <a:t>mentionate</a:t>
            </a:r>
            <a:r>
              <a:rPr lang="en-US" dirty="0"/>
              <a:t> pe site;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5157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940C35-AE9C-48B4-9FCA-3CDCB2FE3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Ca o </a:t>
            </a:r>
            <a:r>
              <a:rPr lang="en-US" sz="2800" dirty="0" err="1"/>
              <a:t>mentiune</a:t>
            </a:r>
            <a:r>
              <a:rPr lang="en-US" sz="2800" dirty="0"/>
              <a:t>, </a:t>
            </a:r>
            <a:r>
              <a:rPr lang="en-US" sz="2800" dirty="0" err="1"/>
              <a:t>implicarea</a:t>
            </a:r>
            <a:r>
              <a:rPr lang="en-US" sz="2800" dirty="0"/>
              <a:t> ANPC nu </a:t>
            </a:r>
            <a:r>
              <a:rPr lang="en-US" sz="2800" dirty="0" err="1"/>
              <a:t>inseamna</a:t>
            </a:r>
            <a:r>
              <a:rPr lang="en-US" sz="2800" dirty="0"/>
              <a:t> </a:t>
            </a:r>
            <a:r>
              <a:rPr lang="en-US" sz="2800" dirty="0" err="1"/>
              <a:t>insa</a:t>
            </a:r>
            <a:r>
              <a:rPr lang="en-US" sz="2800" dirty="0"/>
              <a:t> ca </a:t>
            </a:r>
            <a:r>
              <a:rPr lang="en-US" sz="2800" dirty="0" err="1"/>
              <a:t>ti</a:t>
            </a:r>
            <a:r>
              <a:rPr lang="en-US" sz="2800" dirty="0"/>
              <a:t> se </a:t>
            </a:r>
            <a:r>
              <a:rPr lang="en-US" sz="2800" dirty="0" err="1"/>
              <a:t>va</a:t>
            </a:r>
            <a:r>
              <a:rPr lang="en-US" sz="2800" dirty="0"/>
              <a:t> da </a:t>
            </a:r>
            <a:r>
              <a:rPr lang="en-US" sz="2800" dirty="0" err="1"/>
              <a:t>dreptate</a:t>
            </a:r>
            <a:r>
              <a:rPr lang="en-US" sz="2800" dirty="0"/>
              <a:t>, </a:t>
            </a:r>
            <a:r>
              <a:rPr lang="en-US" sz="2800" dirty="0" err="1"/>
              <a:t>chiar</a:t>
            </a:r>
            <a:r>
              <a:rPr lang="en-US" sz="2800" dirty="0"/>
              <a:t> </a:t>
            </a:r>
            <a:r>
              <a:rPr lang="en-US" sz="2800" dirty="0" err="1"/>
              <a:t>daca</a:t>
            </a:r>
            <a:r>
              <a:rPr lang="en-US" sz="2800" dirty="0"/>
              <a:t> </a:t>
            </a:r>
            <a:r>
              <a:rPr lang="en-US" sz="2800" dirty="0" err="1"/>
              <a:t>tu</a:t>
            </a:r>
            <a:r>
              <a:rPr lang="en-US" sz="2800" dirty="0"/>
              <a:t> personal </a:t>
            </a:r>
            <a:r>
              <a:rPr lang="en-US" sz="2800" dirty="0" err="1"/>
              <a:t>crezi</a:t>
            </a:r>
            <a:r>
              <a:rPr lang="en-US" sz="2800" dirty="0"/>
              <a:t> ca ai </a:t>
            </a:r>
            <a:r>
              <a:rPr lang="en-US" sz="2800" dirty="0" err="1"/>
              <a:t>fost</a:t>
            </a:r>
            <a:r>
              <a:rPr lang="en-US" sz="2800" dirty="0"/>
              <a:t> </a:t>
            </a:r>
            <a:r>
              <a:rPr lang="en-US" sz="2800" dirty="0" err="1"/>
              <a:t>nedreptatit</a:t>
            </a:r>
            <a:r>
              <a:rPr lang="en-US" sz="2800" dirty="0"/>
              <a:t>.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trebui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</a:t>
            </a:r>
            <a:r>
              <a:rPr lang="en-US" sz="2800" dirty="0" err="1"/>
              <a:t>iti</a:t>
            </a:r>
            <a:r>
              <a:rPr lang="en-US" sz="2800" dirty="0"/>
              <a:t> </a:t>
            </a:r>
            <a:r>
              <a:rPr lang="en-US" sz="2800" dirty="0" err="1"/>
              <a:t>sustii</a:t>
            </a:r>
            <a:r>
              <a:rPr lang="en-US" sz="2800" dirty="0"/>
              <a:t> </a:t>
            </a:r>
            <a:r>
              <a:rPr lang="en-US" sz="2800" dirty="0" err="1"/>
              <a:t>cazul</a:t>
            </a:r>
            <a:r>
              <a:rPr lang="en-US" sz="2800" dirty="0"/>
              <a:t> cu </a:t>
            </a:r>
            <a:r>
              <a:rPr lang="en-US" sz="2800" dirty="0" err="1"/>
              <a:t>documente</a:t>
            </a:r>
            <a:r>
              <a:rPr lang="en-US" sz="2800" dirty="0"/>
              <a:t>, pe care </a:t>
            </a:r>
            <a:r>
              <a:rPr lang="en-US" sz="2800" dirty="0" err="1"/>
              <a:t>apoi</a:t>
            </a:r>
            <a:r>
              <a:rPr lang="en-US" sz="2800" dirty="0"/>
              <a:t> ANPC le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lua</a:t>
            </a:r>
            <a:r>
              <a:rPr lang="en-US" sz="2800" dirty="0"/>
              <a:t> in </a:t>
            </a:r>
            <a:r>
              <a:rPr lang="en-US" sz="2800" dirty="0" err="1"/>
              <a:t>considerare</a:t>
            </a:r>
            <a:r>
              <a:rPr lang="en-US" sz="2800" dirty="0"/>
              <a:t>, </a:t>
            </a:r>
            <a:r>
              <a:rPr lang="en-US" sz="2800" dirty="0" err="1"/>
              <a:t>impreuna</a:t>
            </a:r>
            <a:r>
              <a:rPr lang="en-US" sz="2800" dirty="0"/>
              <a:t> cu </a:t>
            </a:r>
            <a:r>
              <a:rPr lang="en-US" sz="2800" dirty="0" err="1"/>
              <a:t>raspunsul</a:t>
            </a:r>
            <a:r>
              <a:rPr lang="en-US" sz="2800" dirty="0"/>
              <a:t> </a:t>
            </a:r>
            <a:r>
              <a:rPr lang="en-US" sz="2800" dirty="0" err="1"/>
              <a:t>magazinului</a:t>
            </a:r>
            <a:r>
              <a:rPr lang="en-US" sz="2800" dirty="0"/>
              <a:t>. In </a:t>
            </a:r>
            <a:r>
              <a:rPr lang="en-US" sz="2800" dirty="0" err="1"/>
              <a:t>capitolele</a:t>
            </a:r>
            <a:r>
              <a:rPr lang="en-US" sz="2800" dirty="0"/>
              <a:t> </a:t>
            </a:r>
            <a:r>
              <a:rPr lang="en-US" sz="2800" dirty="0" err="1"/>
              <a:t>urmatoare</a:t>
            </a:r>
            <a:r>
              <a:rPr lang="en-US" sz="2800" dirty="0"/>
              <a:t> </a:t>
            </a:r>
            <a:r>
              <a:rPr lang="en-US" sz="2800" dirty="0" err="1"/>
              <a:t>vom</a:t>
            </a:r>
            <a:r>
              <a:rPr lang="en-US" sz="2800" dirty="0"/>
              <a:t> </a:t>
            </a:r>
            <a:r>
              <a:rPr lang="en-US" sz="2800" dirty="0" err="1"/>
              <a:t>vedea</a:t>
            </a:r>
            <a:r>
              <a:rPr lang="en-US" sz="2800" dirty="0"/>
              <a:t> exact cum se </a:t>
            </a:r>
            <a:r>
              <a:rPr lang="en-US" sz="2800" dirty="0" err="1"/>
              <a:t>poate</a:t>
            </a:r>
            <a:r>
              <a:rPr lang="en-US" sz="2800" dirty="0"/>
              <a:t> </a:t>
            </a:r>
            <a:r>
              <a:rPr lang="en-US" sz="2800" dirty="0" err="1"/>
              <a:t>depune</a:t>
            </a:r>
            <a:r>
              <a:rPr lang="en-US" sz="2800" dirty="0"/>
              <a:t> o </a:t>
            </a:r>
            <a:r>
              <a:rPr lang="en-US" sz="2800" dirty="0" err="1"/>
              <a:t>plangere</a:t>
            </a:r>
            <a:r>
              <a:rPr lang="en-US" sz="2800" dirty="0"/>
              <a:t> la ANPC.</a:t>
            </a:r>
          </a:p>
        </p:txBody>
      </p:sp>
    </p:spTree>
    <p:extLst>
      <p:ext uri="{BB962C8B-B14F-4D97-AF65-F5344CB8AC3E}">
        <p14:creationId xmlns:p14="http://schemas.microsoft.com/office/powerpoint/2010/main" val="3945295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F95B90-C046-4A6A-83EA-F4E0B470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reclamaţie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sesizare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955AEF-0E2C-4754-BFEF-5FBCB8F3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6195784" cy="403774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“</a:t>
            </a:r>
            <a:r>
              <a:rPr lang="en-US" sz="1900" dirty="0" err="1"/>
              <a:t>Prin</a:t>
            </a:r>
            <a:r>
              <a:rPr lang="en-US" sz="1900" dirty="0"/>
              <a:t> </a:t>
            </a:r>
            <a:r>
              <a:rPr lang="en-US" sz="1900" dirty="0" err="1"/>
              <a:t>petiţie</a:t>
            </a:r>
            <a:r>
              <a:rPr lang="en-US" sz="1900" dirty="0"/>
              <a:t> se </a:t>
            </a:r>
            <a:r>
              <a:rPr lang="en-US" sz="1900" dirty="0" err="1"/>
              <a:t>înţelege</a:t>
            </a:r>
            <a:r>
              <a:rPr lang="en-US" sz="1900" dirty="0"/>
              <a:t> </a:t>
            </a:r>
            <a:r>
              <a:rPr lang="en-US" sz="1900" dirty="0" err="1"/>
              <a:t>cererea</a:t>
            </a:r>
            <a:r>
              <a:rPr lang="en-US" sz="1900" dirty="0"/>
              <a:t>, </a:t>
            </a:r>
            <a:r>
              <a:rPr lang="en-US" sz="1900" dirty="0" err="1"/>
              <a:t>reclamaţia</a:t>
            </a:r>
            <a:r>
              <a:rPr lang="en-US" sz="1900" dirty="0"/>
              <a:t>, </a:t>
            </a:r>
            <a:r>
              <a:rPr lang="en-US" sz="1900" dirty="0" err="1"/>
              <a:t>sesizarea</a:t>
            </a:r>
            <a:r>
              <a:rPr lang="en-US" sz="1900" dirty="0"/>
              <a:t> </a:t>
            </a:r>
            <a:r>
              <a:rPr lang="en-US" sz="1900" dirty="0" err="1"/>
              <a:t>sau</a:t>
            </a:r>
            <a:r>
              <a:rPr lang="en-US" sz="1900" dirty="0"/>
              <a:t> </a:t>
            </a:r>
            <a:r>
              <a:rPr lang="en-US" sz="1900" dirty="0" err="1"/>
              <a:t>propunerea</a:t>
            </a:r>
            <a:r>
              <a:rPr lang="en-US" sz="1900" dirty="0"/>
              <a:t> </a:t>
            </a:r>
            <a:r>
              <a:rPr lang="en-US" sz="1900" dirty="0" err="1"/>
              <a:t>formulată</a:t>
            </a:r>
            <a:r>
              <a:rPr lang="en-US" sz="1900" dirty="0"/>
              <a:t> </a:t>
            </a:r>
            <a:r>
              <a:rPr lang="en-US" sz="1900" dirty="0" err="1"/>
              <a:t>în</a:t>
            </a:r>
            <a:r>
              <a:rPr lang="en-US" sz="1900" dirty="0"/>
              <a:t> </a:t>
            </a:r>
            <a:r>
              <a:rPr lang="en-US" sz="1900" dirty="0" err="1"/>
              <a:t>scris</a:t>
            </a:r>
            <a:r>
              <a:rPr lang="en-US" sz="1900" dirty="0"/>
              <a:t> </a:t>
            </a:r>
            <a:r>
              <a:rPr lang="en-US" sz="1900" dirty="0" err="1"/>
              <a:t>ori</a:t>
            </a:r>
            <a:r>
              <a:rPr lang="en-US" sz="1900" dirty="0"/>
              <a:t> </a:t>
            </a:r>
            <a:r>
              <a:rPr lang="en-US" sz="1900" dirty="0" err="1"/>
              <a:t>prin</a:t>
            </a:r>
            <a:r>
              <a:rPr lang="en-US" sz="1900" dirty="0"/>
              <a:t> </a:t>
            </a:r>
            <a:r>
              <a:rPr lang="en-US" sz="1900" dirty="0" err="1"/>
              <a:t>poştă</a:t>
            </a:r>
            <a:r>
              <a:rPr lang="en-US" sz="1900" dirty="0"/>
              <a:t> </a:t>
            </a:r>
            <a:r>
              <a:rPr lang="en-US" sz="1900" dirty="0" err="1"/>
              <a:t>electronică</a:t>
            </a:r>
            <a:r>
              <a:rPr lang="en-US" sz="1900" dirty="0"/>
              <a:t>, pe care un </a:t>
            </a:r>
            <a:r>
              <a:rPr lang="en-US" sz="1900" dirty="0" err="1"/>
              <a:t>cetăţean</a:t>
            </a:r>
            <a:r>
              <a:rPr lang="en-US" sz="1900" dirty="0"/>
              <a:t> </a:t>
            </a:r>
            <a:r>
              <a:rPr lang="en-US" sz="1900" dirty="0" err="1"/>
              <a:t>sau</a:t>
            </a:r>
            <a:r>
              <a:rPr lang="en-US" sz="1900" dirty="0"/>
              <a:t> o </a:t>
            </a:r>
            <a:r>
              <a:rPr lang="en-US" sz="1900" dirty="0" err="1"/>
              <a:t>organizaţie</a:t>
            </a:r>
            <a:r>
              <a:rPr lang="en-US" sz="1900" dirty="0"/>
              <a:t> legal </a:t>
            </a:r>
            <a:r>
              <a:rPr lang="en-US" sz="1900" dirty="0" err="1"/>
              <a:t>constituită</a:t>
            </a:r>
            <a:r>
              <a:rPr lang="en-US" sz="1900" dirty="0"/>
              <a:t> o </a:t>
            </a:r>
            <a:r>
              <a:rPr lang="en-US" sz="1900" dirty="0" err="1"/>
              <a:t>poate</a:t>
            </a:r>
            <a:r>
              <a:rPr lang="en-US" sz="1900" dirty="0"/>
              <a:t> </a:t>
            </a:r>
            <a:r>
              <a:rPr lang="en-US" sz="1900" dirty="0" err="1"/>
              <a:t>adresa</a:t>
            </a:r>
            <a:r>
              <a:rPr lang="en-US" sz="1900" dirty="0"/>
              <a:t> </a:t>
            </a:r>
            <a:r>
              <a:rPr lang="en-US" sz="1900" dirty="0" err="1"/>
              <a:t>autorităţilor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instituţiilor</a:t>
            </a:r>
            <a:r>
              <a:rPr lang="en-US" sz="1900" dirty="0"/>
              <a:t> </a:t>
            </a:r>
            <a:r>
              <a:rPr lang="en-US" sz="1900" dirty="0" err="1"/>
              <a:t>publice</a:t>
            </a:r>
            <a:r>
              <a:rPr lang="en-US" sz="1900" dirty="0"/>
              <a:t> </a:t>
            </a:r>
            <a:r>
              <a:rPr lang="en-US" sz="1900" dirty="0" err="1"/>
              <a:t>centrale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locale, </a:t>
            </a:r>
            <a:r>
              <a:rPr lang="en-US" sz="1900" dirty="0" err="1"/>
              <a:t>serviciilor</a:t>
            </a:r>
            <a:r>
              <a:rPr lang="en-US" sz="1900" dirty="0"/>
              <a:t> </a:t>
            </a:r>
            <a:r>
              <a:rPr lang="en-US" sz="1900" dirty="0" err="1"/>
              <a:t>publice</a:t>
            </a:r>
            <a:r>
              <a:rPr lang="en-US" sz="1900" dirty="0"/>
              <a:t> </a:t>
            </a:r>
            <a:r>
              <a:rPr lang="en-US" sz="1900" dirty="0" err="1"/>
              <a:t>descentralizate</a:t>
            </a:r>
            <a:r>
              <a:rPr lang="en-US" sz="1900" dirty="0"/>
              <a:t> ale </a:t>
            </a:r>
            <a:r>
              <a:rPr lang="en-US" sz="1900" dirty="0" err="1"/>
              <a:t>ministerelor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ale </a:t>
            </a:r>
            <a:r>
              <a:rPr lang="en-US" sz="1900" dirty="0" err="1"/>
              <a:t>celorlalte</a:t>
            </a:r>
            <a:r>
              <a:rPr lang="en-US" sz="1900" dirty="0"/>
              <a:t> </a:t>
            </a:r>
            <a:r>
              <a:rPr lang="en-US" sz="1900" dirty="0" err="1"/>
              <a:t>organe</a:t>
            </a:r>
            <a:r>
              <a:rPr lang="en-US" sz="1900" dirty="0"/>
              <a:t> </a:t>
            </a:r>
            <a:r>
              <a:rPr lang="en-US" sz="1900" dirty="0" err="1"/>
              <a:t>centrale</a:t>
            </a:r>
            <a:r>
              <a:rPr lang="en-US" sz="1900" dirty="0"/>
              <a:t>, </a:t>
            </a:r>
            <a:r>
              <a:rPr lang="en-US" sz="1900" dirty="0" err="1"/>
              <a:t>companiilor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societăţilor</a:t>
            </a:r>
            <a:r>
              <a:rPr lang="en-US" sz="1900" dirty="0"/>
              <a:t> </a:t>
            </a:r>
            <a:r>
              <a:rPr lang="en-US" sz="1900" dirty="0" err="1"/>
              <a:t>naţionale</a:t>
            </a:r>
            <a:r>
              <a:rPr lang="en-US" sz="1900" dirty="0"/>
              <a:t>, </a:t>
            </a:r>
            <a:r>
              <a:rPr lang="en-US" sz="1900" dirty="0" err="1"/>
              <a:t>societăţilor</a:t>
            </a:r>
            <a:r>
              <a:rPr lang="en-US" sz="1900" dirty="0"/>
              <a:t> </a:t>
            </a:r>
            <a:r>
              <a:rPr lang="en-US" sz="1900" dirty="0" err="1"/>
              <a:t>comerciale</a:t>
            </a:r>
            <a:r>
              <a:rPr lang="en-US" sz="1900" dirty="0"/>
              <a:t> de </a:t>
            </a:r>
            <a:r>
              <a:rPr lang="en-US" sz="1900" dirty="0" err="1"/>
              <a:t>interes</a:t>
            </a:r>
            <a:r>
              <a:rPr lang="en-US" sz="1900" dirty="0"/>
              <a:t> </a:t>
            </a:r>
            <a:r>
              <a:rPr lang="en-US" sz="1900" dirty="0" err="1"/>
              <a:t>judeţean</a:t>
            </a:r>
            <a:r>
              <a:rPr lang="en-US" sz="1900" dirty="0"/>
              <a:t> </a:t>
            </a:r>
            <a:r>
              <a:rPr lang="en-US" sz="1900" dirty="0" err="1"/>
              <a:t>sau</a:t>
            </a:r>
            <a:r>
              <a:rPr lang="en-US" sz="1900" dirty="0"/>
              <a:t> local, precum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regiilor</a:t>
            </a:r>
            <a:r>
              <a:rPr lang="en-US" sz="1900" dirty="0"/>
              <a:t> </a:t>
            </a:r>
            <a:r>
              <a:rPr lang="en-US" sz="1900" dirty="0" err="1"/>
              <a:t>autonome</a:t>
            </a:r>
            <a:r>
              <a:rPr lang="en-US" sz="1900" dirty="0"/>
              <a:t>, </a:t>
            </a:r>
            <a:r>
              <a:rPr lang="en-US" sz="1900" dirty="0" err="1"/>
              <a:t>denumite</a:t>
            </a:r>
            <a:r>
              <a:rPr lang="en-US" sz="1900" dirty="0"/>
              <a:t> </a:t>
            </a:r>
            <a:r>
              <a:rPr lang="en-US" sz="1900" dirty="0" err="1"/>
              <a:t>în</a:t>
            </a:r>
            <a:r>
              <a:rPr lang="en-US" sz="1900" dirty="0"/>
              <a:t> </a:t>
            </a:r>
            <a:r>
              <a:rPr lang="en-US" sz="1900" dirty="0" err="1"/>
              <a:t>continuare</a:t>
            </a:r>
            <a:r>
              <a:rPr lang="en-US" sz="1900" dirty="0"/>
              <a:t> </a:t>
            </a:r>
            <a:r>
              <a:rPr lang="en-US" sz="1900" dirty="0" err="1"/>
              <a:t>autorităţi</a:t>
            </a:r>
            <a:r>
              <a:rPr lang="en-US" sz="1900" dirty="0"/>
              <a:t> </a:t>
            </a:r>
            <a:r>
              <a:rPr lang="en-US" sz="1900" dirty="0" err="1"/>
              <a:t>şi</a:t>
            </a:r>
            <a:r>
              <a:rPr lang="en-US" sz="1900" dirty="0"/>
              <a:t> </a:t>
            </a:r>
            <a:r>
              <a:rPr lang="en-US" sz="1900" dirty="0" err="1"/>
              <a:t>instituţii</a:t>
            </a:r>
            <a:r>
              <a:rPr lang="en-US" sz="1900" dirty="0"/>
              <a:t> </a:t>
            </a:r>
            <a:r>
              <a:rPr lang="en-US" sz="1900" dirty="0" err="1"/>
              <a:t>publice</a:t>
            </a:r>
            <a:r>
              <a:rPr lang="en-US" sz="1900" dirty="0"/>
              <a:t>”, conform art. 2 din O.G. nr. 27/2002 </a:t>
            </a:r>
            <a:r>
              <a:rPr lang="en-US" sz="1900" dirty="0" err="1"/>
              <a:t>privind</a:t>
            </a:r>
            <a:r>
              <a:rPr lang="en-US" sz="1900" dirty="0"/>
              <a:t> </a:t>
            </a:r>
            <a:r>
              <a:rPr lang="en-US" sz="1900" dirty="0" err="1"/>
              <a:t>reglementarea</a:t>
            </a:r>
            <a:r>
              <a:rPr lang="en-US" sz="1900" dirty="0"/>
              <a:t> </a:t>
            </a:r>
            <a:r>
              <a:rPr lang="en-US" sz="1900" dirty="0" err="1"/>
              <a:t>activităţii</a:t>
            </a:r>
            <a:r>
              <a:rPr lang="en-US" sz="1900" dirty="0"/>
              <a:t> de </a:t>
            </a:r>
            <a:r>
              <a:rPr lang="en-US" sz="1900" dirty="0" err="1"/>
              <a:t>soluţionare</a:t>
            </a:r>
            <a:r>
              <a:rPr lang="en-US" sz="1900" dirty="0"/>
              <a:t> a </a:t>
            </a:r>
            <a:r>
              <a:rPr lang="en-US" sz="1900" dirty="0" err="1"/>
              <a:t>petiţiilor</a:t>
            </a:r>
            <a:r>
              <a:rPr lang="en-US" sz="1900" dirty="0"/>
              <a:t>.</a:t>
            </a:r>
          </a:p>
        </p:txBody>
      </p:sp>
      <p:pic>
        <p:nvPicPr>
          <p:cNvPr id="5" name="Graphic 4" descr="Document">
            <a:extLst>
              <a:ext uri="{FF2B5EF4-FFF2-40B4-BE49-F238E27FC236}">
                <a16:creationId xmlns:a16="http://schemas.microsoft.com/office/drawing/2014/main" xmlns="" id="{BF5E9C82-7CB5-4820-85C7-EEDBD75CD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128756" y="2277991"/>
            <a:ext cx="2926098" cy="292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05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1EA395-A77A-441D-A78C-8877D61D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Cine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poate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depune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reclamaţie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ANPC?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676AE371-F64E-4497-B5E2-79CB7CCF2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31776"/>
            <a:ext cx="6906358" cy="402170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„</a:t>
            </a:r>
            <a:r>
              <a:rPr lang="en-US" sz="1800" dirty="0" err="1"/>
              <a:t>Consumatorul</a:t>
            </a:r>
            <a:r>
              <a:rPr lang="en-US" sz="1800" dirty="0"/>
              <a:t> – </a:t>
            </a:r>
            <a:r>
              <a:rPr lang="en-US" sz="1800" dirty="0" err="1"/>
              <a:t>orice</a:t>
            </a:r>
            <a:r>
              <a:rPr lang="en-US" sz="1800" dirty="0"/>
              <a:t> </a:t>
            </a:r>
            <a:r>
              <a:rPr lang="en-US" sz="1800" dirty="0" err="1"/>
              <a:t>persoană</a:t>
            </a:r>
            <a:r>
              <a:rPr lang="en-US" sz="1800" dirty="0"/>
              <a:t> </a:t>
            </a:r>
            <a:r>
              <a:rPr lang="en-US" sz="1800" dirty="0" err="1"/>
              <a:t>fizică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grup</a:t>
            </a:r>
            <a:r>
              <a:rPr lang="en-US" sz="1800" dirty="0"/>
              <a:t> de </a:t>
            </a:r>
            <a:r>
              <a:rPr lang="en-US" sz="1800" dirty="0" err="1"/>
              <a:t>persoane</a:t>
            </a:r>
            <a:r>
              <a:rPr lang="en-US" sz="1800" dirty="0"/>
              <a:t> </a:t>
            </a:r>
            <a:r>
              <a:rPr lang="en-US" sz="1800" dirty="0" err="1"/>
              <a:t>fizice</a:t>
            </a:r>
            <a:r>
              <a:rPr lang="en-US" sz="1800" dirty="0"/>
              <a:t> </a:t>
            </a:r>
            <a:r>
              <a:rPr lang="en-US" sz="1800" dirty="0" err="1"/>
              <a:t>constituite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asociaţii</a:t>
            </a:r>
            <a:r>
              <a:rPr lang="en-US" sz="1800" dirty="0"/>
              <a:t>, care </a:t>
            </a:r>
            <a:r>
              <a:rPr lang="en-US" sz="1800" dirty="0" err="1"/>
              <a:t>acţionează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scopuri</a:t>
            </a:r>
            <a:r>
              <a:rPr lang="en-US" sz="1800" dirty="0"/>
              <a:t> din </a:t>
            </a:r>
            <a:r>
              <a:rPr lang="en-US" sz="1800" dirty="0" err="1"/>
              <a:t>afara</a:t>
            </a:r>
            <a:r>
              <a:rPr lang="en-US" sz="1800" dirty="0"/>
              <a:t> </a:t>
            </a:r>
            <a:r>
              <a:rPr lang="en-US" sz="1800" dirty="0" err="1"/>
              <a:t>activităţii</a:t>
            </a:r>
            <a:r>
              <a:rPr lang="en-US" sz="1800" dirty="0"/>
              <a:t> sale </a:t>
            </a:r>
            <a:r>
              <a:rPr lang="en-US" sz="1800" dirty="0" err="1"/>
              <a:t>comerciale</a:t>
            </a:r>
            <a:r>
              <a:rPr lang="en-US" sz="1800" dirty="0"/>
              <a:t>, </a:t>
            </a:r>
            <a:r>
              <a:rPr lang="en-US" sz="1800" dirty="0" err="1"/>
              <a:t>industriale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de </a:t>
            </a:r>
            <a:r>
              <a:rPr lang="en-US" sz="1800" dirty="0" err="1"/>
              <a:t>producţie</a:t>
            </a:r>
            <a:r>
              <a:rPr lang="en-US" sz="1800" dirty="0"/>
              <a:t>, </a:t>
            </a:r>
            <a:r>
              <a:rPr lang="en-US" sz="1800" dirty="0" err="1"/>
              <a:t>artizanale</a:t>
            </a:r>
            <a:r>
              <a:rPr lang="en-US" sz="1800" dirty="0"/>
              <a:t> </a:t>
            </a:r>
            <a:r>
              <a:rPr lang="en-US" sz="1800" dirty="0" err="1"/>
              <a:t>ori</a:t>
            </a:r>
            <a:r>
              <a:rPr lang="en-US" sz="1800" dirty="0"/>
              <a:t> </a:t>
            </a:r>
            <a:r>
              <a:rPr lang="en-US" sz="1800" dirty="0" err="1"/>
              <a:t>liberale</a:t>
            </a:r>
            <a:r>
              <a:rPr lang="en-US" sz="1800" dirty="0"/>
              <a:t> ”, conform art. 2, pct. 2 din O.G. nr. 21/1992 </a:t>
            </a:r>
            <a:r>
              <a:rPr lang="en-US" sz="1800" dirty="0" err="1"/>
              <a:t>privind</a:t>
            </a:r>
            <a:r>
              <a:rPr lang="en-US" sz="1800" dirty="0"/>
              <a:t> </a:t>
            </a:r>
            <a:r>
              <a:rPr lang="en-US" sz="1800" dirty="0" err="1"/>
              <a:t>protecţia</a:t>
            </a:r>
            <a:r>
              <a:rPr lang="en-US" sz="1800" dirty="0"/>
              <a:t> </a:t>
            </a:r>
            <a:r>
              <a:rPr lang="en-US" sz="1800" dirty="0" err="1"/>
              <a:t>consumatorilor</a:t>
            </a:r>
            <a:r>
              <a:rPr lang="en-US" sz="1800" dirty="0"/>
              <a:t>, </a:t>
            </a:r>
            <a:r>
              <a:rPr lang="en-US" sz="1800" dirty="0" err="1"/>
              <a:t>republicată</a:t>
            </a:r>
            <a:r>
              <a:rPr lang="en-US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800" dirty="0" err="1"/>
              <a:t>Reclamaţiile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</a:t>
            </a:r>
            <a:r>
              <a:rPr lang="en-US" sz="1800" dirty="0" err="1"/>
              <a:t>sesizările</a:t>
            </a:r>
            <a:r>
              <a:rPr lang="en-US" sz="1800" dirty="0"/>
              <a:t> </a:t>
            </a:r>
            <a:r>
              <a:rPr lang="en-US" sz="1800" dirty="0" err="1"/>
              <a:t>adresate</a:t>
            </a:r>
            <a:r>
              <a:rPr lang="en-US" sz="1800" dirty="0"/>
              <a:t> ANPC pot fi </a:t>
            </a:r>
            <a:r>
              <a:rPr lang="en-US" sz="1800" dirty="0" err="1"/>
              <a:t>depuse</a:t>
            </a:r>
            <a:r>
              <a:rPr lang="en-US" sz="1800" dirty="0"/>
              <a:t> </a:t>
            </a:r>
            <a:r>
              <a:rPr lang="en-US" sz="1800" dirty="0" err="1"/>
              <a:t>doar</a:t>
            </a:r>
            <a:r>
              <a:rPr lang="en-US" sz="1800" dirty="0"/>
              <a:t> de </a:t>
            </a:r>
            <a:r>
              <a:rPr lang="en-US" sz="1800" dirty="0" err="1"/>
              <a:t>către</a:t>
            </a:r>
            <a:r>
              <a:rPr lang="en-US" sz="1800" dirty="0"/>
              <a:t> </a:t>
            </a:r>
            <a:r>
              <a:rPr lang="en-US" sz="1800" dirty="0" err="1"/>
              <a:t>consumatori</a:t>
            </a:r>
            <a:r>
              <a:rPr lang="en-US" sz="1800" dirty="0"/>
              <a:t> </a:t>
            </a:r>
            <a:r>
              <a:rPr lang="en-US" sz="1800" dirty="0" err="1"/>
              <a:t>persoane</a:t>
            </a:r>
            <a:r>
              <a:rPr lang="en-US" sz="1800" dirty="0"/>
              <a:t> </a:t>
            </a:r>
            <a:r>
              <a:rPr lang="en-US" sz="1800" dirty="0" err="1"/>
              <a:t>fizice</a:t>
            </a:r>
            <a:r>
              <a:rPr lang="en-US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800" dirty="0" err="1"/>
              <a:t>Divergenţele</a:t>
            </a:r>
            <a:r>
              <a:rPr lang="en-US" sz="1800" dirty="0"/>
              <a:t> </a:t>
            </a:r>
            <a:r>
              <a:rPr lang="en-US" sz="1800" dirty="0" err="1"/>
              <a:t>între</a:t>
            </a:r>
            <a:r>
              <a:rPr lang="en-US" sz="1800" dirty="0"/>
              <a:t> </a:t>
            </a:r>
            <a:r>
              <a:rPr lang="en-US" sz="1800" dirty="0" err="1"/>
              <a:t>operatorii</a:t>
            </a:r>
            <a:r>
              <a:rPr lang="en-US" sz="1800" dirty="0"/>
              <a:t> </a:t>
            </a:r>
            <a:r>
              <a:rPr lang="en-US" sz="1800" dirty="0" err="1"/>
              <a:t>economici</a:t>
            </a:r>
            <a:r>
              <a:rPr lang="en-US" sz="1800" dirty="0"/>
              <a:t> nu </a:t>
            </a:r>
            <a:r>
              <a:rPr lang="en-US" sz="1800" dirty="0" err="1"/>
              <a:t>intră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sfera</a:t>
            </a:r>
            <a:r>
              <a:rPr lang="en-US" sz="1800" dirty="0"/>
              <a:t> de </a:t>
            </a:r>
            <a:r>
              <a:rPr lang="en-US" sz="1800" dirty="0" err="1"/>
              <a:t>competenţă</a:t>
            </a:r>
            <a:r>
              <a:rPr lang="en-US" sz="1800" dirty="0"/>
              <a:t> a </a:t>
            </a:r>
            <a:r>
              <a:rPr lang="en-US" sz="1800" dirty="0" err="1"/>
              <a:t>Autorităţii</a:t>
            </a:r>
            <a:r>
              <a:rPr lang="en-US" sz="1800" dirty="0"/>
              <a:t> </a:t>
            </a:r>
            <a:r>
              <a:rPr lang="en-US" sz="1800" dirty="0" err="1"/>
              <a:t>Naţionale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Protecţia</a:t>
            </a:r>
            <a:r>
              <a:rPr lang="en-US" sz="1800" dirty="0"/>
              <a:t> </a:t>
            </a:r>
            <a:r>
              <a:rPr lang="en-US" sz="1800" dirty="0" err="1"/>
              <a:t>Consumatorilor</a:t>
            </a:r>
            <a:r>
              <a:rPr lang="en-US" sz="18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“</a:t>
            </a:r>
            <a:r>
              <a:rPr lang="en-US" sz="1800" dirty="0" err="1"/>
              <a:t>Petiţiile</a:t>
            </a:r>
            <a:r>
              <a:rPr lang="en-US" sz="1800" dirty="0"/>
              <a:t> </a:t>
            </a:r>
            <a:r>
              <a:rPr lang="en-US" sz="1800" dirty="0" err="1"/>
              <a:t>anonime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</a:t>
            </a:r>
            <a:r>
              <a:rPr lang="en-US" sz="1800" dirty="0" err="1"/>
              <a:t>cele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care nu sunt </a:t>
            </a:r>
            <a:r>
              <a:rPr lang="en-US" sz="1800" dirty="0" err="1"/>
              <a:t>trecute</a:t>
            </a:r>
            <a:r>
              <a:rPr lang="en-US" sz="1800" dirty="0"/>
              <a:t> </a:t>
            </a:r>
            <a:r>
              <a:rPr lang="en-US" sz="1800" dirty="0" err="1"/>
              <a:t>datele</a:t>
            </a:r>
            <a:r>
              <a:rPr lang="en-US" sz="1800" dirty="0"/>
              <a:t> de </a:t>
            </a:r>
            <a:r>
              <a:rPr lang="en-US" sz="1800" dirty="0" err="1"/>
              <a:t>identificare</a:t>
            </a:r>
            <a:r>
              <a:rPr lang="en-US" sz="1800" dirty="0"/>
              <a:t> a </a:t>
            </a:r>
            <a:r>
              <a:rPr lang="en-US" sz="1800" dirty="0" err="1"/>
              <a:t>petiţionarului</a:t>
            </a:r>
            <a:r>
              <a:rPr lang="en-US" sz="1800" dirty="0"/>
              <a:t> nu se </a:t>
            </a:r>
            <a:r>
              <a:rPr lang="en-US" sz="1800" dirty="0" err="1"/>
              <a:t>iau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considerare</a:t>
            </a:r>
            <a:r>
              <a:rPr lang="en-US" sz="1800" dirty="0"/>
              <a:t> </a:t>
            </a:r>
            <a:r>
              <a:rPr lang="en-US" sz="1800" dirty="0" err="1"/>
              <a:t>şi</a:t>
            </a:r>
            <a:r>
              <a:rPr lang="en-US" sz="1800" dirty="0"/>
              <a:t> se </a:t>
            </a:r>
            <a:r>
              <a:rPr lang="en-US" sz="1800" dirty="0" err="1"/>
              <a:t>clasează</a:t>
            </a:r>
            <a:r>
              <a:rPr lang="en-US" sz="1800" dirty="0"/>
              <a:t>”, conform art. 7 din O.G. nr. 27/2002.</a:t>
            </a:r>
          </a:p>
        </p:txBody>
      </p:sp>
      <p:pic>
        <p:nvPicPr>
          <p:cNvPr id="7" name="Graphic 6" descr="Man and Woman">
            <a:extLst>
              <a:ext uri="{FF2B5EF4-FFF2-40B4-BE49-F238E27FC236}">
                <a16:creationId xmlns:a16="http://schemas.microsoft.com/office/drawing/2014/main" xmlns="" id="{245DF8E3-ED57-4C8D-86DD-C8F9DB9FD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06083" y="2399855"/>
            <a:ext cx="2748771" cy="274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67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C21047-51EC-4F61-BFA1-D0DD4753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Cum se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depune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reclamatie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 ANPC?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C9FAE7-3583-41A5-8309-CEDF68079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33849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Reclamaţiile</a:t>
            </a:r>
            <a:r>
              <a:rPr lang="en-US" dirty="0"/>
              <a:t> se fac </a:t>
            </a:r>
            <a:r>
              <a:rPr lang="en-US" dirty="0" err="1"/>
              <a:t>numai</a:t>
            </a:r>
            <a:r>
              <a:rPr lang="en-US" dirty="0"/>
              <a:t> cu </a:t>
            </a:r>
            <a:r>
              <a:rPr lang="en-US" dirty="0" err="1"/>
              <a:t>prezentarea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dovezi</a:t>
            </a:r>
            <a:r>
              <a:rPr lang="en-US" dirty="0"/>
              <a:t> concrete de </a:t>
            </a:r>
            <a:r>
              <a:rPr lang="en-US" dirty="0" err="1"/>
              <a:t>cumpărare</a:t>
            </a:r>
            <a:r>
              <a:rPr lang="en-US" dirty="0"/>
              <a:t>: </a:t>
            </a:r>
            <a:r>
              <a:rPr lang="en-US" dirty="0" err="1"/>
              <a:t>chitanţă</a:t>
            </a:r>
            <a:r>
              <a:rPr lang="en-US" dirty="0"/>
              <a:t>, contract, bon fiscal. </a:t>
            </a:r>
            <a:r>
              <a:rPr lang="en-US" dirty="0" err="1"/>
              <a:t>Specialiştii</a:t>
            </a:r>
            <a:r>
              <a:rPr lang="en-US" dirty="0"/>
              <a:t> de la </a:t>
            </a:r>
            <a:r>
              <a:rPr lang="en-US" dirty="0" err="1"/>
              <a:t>Asociaţia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Protecţia</a:t>
            </a:r>
            <a:r>
              <a:rPr lang="en-US" dirty="0"/>
              <a:t>  </a:t>
            </a:r>
            <a:r>
              <a:rPr lang="en-US" dirty="0" err="1"/>
              <a:t>Consumatorilor</a:t>
            </a:r>
            <a:r>
              <a:rPr lang="en-US" dirty="0"/>
              <a:t> (APC) spun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de a reclama </a:t>
            </a:r>
            <a:r>
              <a:rPr lang="en-US" dirty="0" err="1"/>
              <a:t>produsul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serviciul</a:t>
            </a:r>
            <a:r>
              <a:rPr lang="en-US" dirty="0"/>
              <a:t>, </a:t>
            </a:r>
            <a:r>
              <a:rPr lang="en-US" dirty="0" err="1"/>
              <a:t>consumatorul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încerce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rezolve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cu </a:t>
            </a:r>
            <a:r>
              <a:rPr lang="en-US" dirty="0" err="1"/>
              <a:t>vânzătorul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, pe </a:t>
            </a:r>
            <a:r>
              <a:rPr lang="en-US" dirty="0" err="1"/>
              <a:t>linie</a:t>
            </a:r>
            <a:r>
              <a:rPr lang="en-US" dirty="0"/>
              <a:t> </a:t>
            </a:r>
            <a:r>
              <a:rPr lang="en-US" dirty="0" err="1"/>
              <a:t>ierarhică</a:t>
            </a:r>
            <a:r>
              <a:rPr lang="en-US" dirty="0"/>
              <a:t>, </a:t>
            </a:r>
            <a:r>
              <a:rPr lang="en-US" dirty="0" err="1"/>
              <a:t>până</a:t>
            </a:r>
            <a:r>
              <a:rPr lang="en-US" dirty="0"/>
              <a:t> la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dirty="0" err="1"/>
              <a:t>magazinului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firmei</a:t>
            </a:r>
            <a:r>
              <a:rPr lang="en-US" dirty="0"/>
              <a:t>.</a:t>
            </a:r>
          </a:p>
          <a:p>
            <a:r>
              <a:rPr lang="en-US" dirty="0" err="1"/>
              <a:t>Sesizarea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face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scris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. </a:t>
            </a:r>
            <a:r>
              <a:rPr lang="en-US" dirty="0" err="1"/>
              <a:t>Indiferent</a:t>
            </a:r>
            <a:r>
              <a:rPr lang="en-US" dirty="0"/>
              <a:t> de </a:t>
            </a:r>
            <a:r>
              <a:rPr lang="en-US" dirty="0" err="1"/>
              <a:t>calea</a:t>
            </a:r>
            <a:r>
              <a:rPr lang="en-US" dirty="0"/>
              <a:t> </a:t>
            </a:r>
            <a:r>
              <a:rPr lang="en-US" dirty="0" err="1"/>
              <a:t>aleasă</a:t>
            </a:r>
            <a:r>
              <a:rPr lang="en-US" dirty="0"/>
              <a:t>, </a:t>
            </a:r>
            <a:r>
              <a:rPr lang="en-US" dirty="0" err="1"/>
              <a:t>consumatorul</a:t>
            </a:r>
            <a:r>
              <a:rPr lang="en-US" dirty="0"/>
              <a:t> 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îşi</a:t>
            </a:r>
            <a:r>
              <a:rPr lang="en-US" dirty="0"/>
              <a:t> </a:t>
            </a:r>
            <a:r>
              <a:rPr lang="en-US" dirty="0" err="1"/>
              <a:t>dea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: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telefon</a:t>
            </a:r>
            <a:r>
              <a:rPr lang="en-US" dirty="0"/>
              <a:t>. </a:t>
            </a:r>
            <a:r>
              <a:rPr lang="en-US" dirty="0" err="1"/>
              <a:t>Reclamaţia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făcută</a:t>
            </a:r>
            <a:r>
              <a:rPr lang="en-US" dirty="0"/>
              <a:t> </a:t>
            </a:r>
            <a:r>
              <a:rPr lang="en-US" dirty="0" err="1"/>
              <a:t>clar</a:t>
            </a:r>
            <a:r>
              <a:rPr lang="en-US" dirty="0"/>
              <a:t>, cu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de </a:t>
            </a:r>
            <a:r>
              <a:rPr lang="en-US" dirty="0" err="1"/>
              <a:t>identificare</a:t>
            </a:r>
            <a:r>
              <a:rPr lang="en-US" dirty="0"/>
              <a:t> a </a:t>
            </a:r>
            <a:r>
              <a:rPr lang="en-US" dirty="0" err="1"/>
              <a:t>servicului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</a:t>
            </a:r>
            <a:r>
              <a:rPr lang="en-US" dirty="0" err="1"/>
              <a:t>respectiv</a:t>
            </a:r>
            <a:r>
              <a:rPr lang="en-US" dirty="0"/>
              <a:t>, </a:t>
            </a:r>
            <a:r>
              <a:rPr lang="en-US" dirty="0" err="1"/>
              <a:t>inclusiv</a:t>
            </a:r>
            <a:r>
              <a:rPr lang="en-US" dirty="0"/>
              <a:t> </a:t>
            </a:r>
            <a:r>
              <a:rPr lang="en-US" dirty="0" err="1"/>
              <a:t>seria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. </a:t>
            </a:r>
            <a:r>
              <a:rPr lang="en-US" dirty="0" err="1"/>
              <a:t>Sesizarea</a:t>
            </a:r>
            <a:r>
              <a:rPr lang="en-US" dirty="0"/>
              <a:t> </a:t>
            </a:r>
            <a:r>
              <a:rPr lang="en-US" dirty="0" err="1"/>
              <a:t>scrisă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scurtă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la </a:t>
            </a:r>
            <a:r>
              <a:rPr lang="en-US" dirty="0" err="1"/>
              <a:t>obiect</a:t>
            </a:r>
            <a:r>
              <a:rPr lang="en-US" dirty="0"/>
              <a:t>,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conţină</a:t>
            </a:r>
            <a:r>
              <a:rPr lang="en-US" dirty="0"/>
              <a:t> </a:t>
            </a:r>
            <a:r>
              <a:rPr lang="en-US" dirty="0" err="1"/>
              <a:t>modalitatea</a:t>
            </a:r>
            <a:r>
              <a:rPr lang="en-US" dirty="0"/>
              <a:t> </a:t>
            </a:r>
            <a:r>
              <a:rPr lang="en-US" dirty="0" err="1"/>
              <a:t>dorită</a:t>
            </a:r>
            <a:r>
              <a:rPr lang="en-US" dirty="0"/>
              <a:t> de </a:t>
            </a:r>
            <a:r>
              <a:rPr lang="en-US" dirty="0" err="1"/>
              <a:t>despăgubire</a:t>
            </a:r>
            <a:r>
              <a:rPr lang="en-US" dirty="0"/>
              <a:t>: </a:t>
            </a:r>
            <a:r>
              <a:rPr lang="en-US" dirty="0" err="1"/>
              <a:t>reparare</a:t>
            </a:r>
            <a:r>
              <a:rPr lang="en-US" dirty="0"/>
              <a:t>, </a:t>
            </a:r>
            <a:r>
              <a:rPr lang="en-US" dirty="0" err="1"/>
              <a:t>înlocuire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restituirea</a:t>
            </a:r>
            <a:r>
              <a:rPr lang="en-US" dirty="0"/>
              <a:t> </a:t>
            </a:r>
            <a:r>
              <a:rPr lang="en-US" dirty="0" err="1"/>
              <a:t>banilor</a:t>
            </a:r>
            <a:r>
              <a:rPr lang="en-US" dirty="0"/>
              <a:t>, precum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copii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documentele</a:t>
            </a:r>
            <a:r>
              <a:rPr lang="en-US" dirty="0"/>
              <a:t> </a:t>
            </a:r>
            <a:r>
              <a:rPr lang="en-US" dirty="0" err="1"/>
              <a:t>doveditoare</a:t>
            </a:r>
            <a:r>
              <a:rPr lang="en-US" dirty="0"/>
              <a:t>. </a:t>
            </a:r>
            <a:r>
              <a:rPr lang="en-US" b="1" dirty="0" err="1"/>
              <a:t>Niciodată</a:t>
            </a:r>
            <a:r>
              <a:rPr lang="en-US" b="1" dirty="0"/>
              <a:t> nu se </a:t>
            </a:r>
            <a:r>
              <a:rPr lang="en-US" b="1" dirty="0" err="1"/>
              <a:t>trimit</a:t>
            </a:r>
            <a:r>
              <a:rPr lang="en-US" b="1" dirty="0"/>
              <a:t> </a:t>
            </a:r>
            <a:r>
              <a:rPr lang="en-US" b="1" dirty="0" err="1"/>
              <a:t>originalele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9232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09D33-58F0-4693-8DF0-3E0CE968A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/>
              <a:t>sesizarea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scris</a:t>
            </a:r>
            <a:r>
              <a:rPr lang="en-US" dirty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telefonică</a:t>
            </a:r>
            <a:r>
              <a:rPr lang="en-US" dirty="0"/>
              <a:t>, sunt </a:t>
            </a:r>
            <a:r>
              <a:rPr lang="en-US" dirty="0" err="1"/>
              <a:t>preluate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inspectori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redirecţionate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oficiul</a:t>
            </a:r>
            <a:r>
              <a:rPr lang="en-US" dirty="0"/>
              <a:t> </a:t>
            </a:r>
            <a:r>
              <a:rPr lang="en-US" dirty="0" err="1"/>
              <a:t>judeţean</a:t>
            </a:r>
            <a:r>
              <a:rPr lang="en-US" dirty="0"/>
              <a:t> de </a:t>
            </a:r>
            <a:r>
              <a:rPr lang="en-US" dirty="0" err="1"/>
              <a:t>unde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cumpărat</a:t>
            </a:r>
            <a:r>
              <a:rPr lang="en-US" dirty="0"/>
              <a:t> </a:t>
            </a:r>
            <a:r>
              <a:rPr lang="en-US" dirty="0" err="1"/>
              <a:t>produsul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serviciul</a:t>
            </a:r>
            <a:r>
              <a:rPr lang="en-US" dirty="0"/>
              <a:t>. Conform </a:t>
            </a:r>
            <a:r>
              <a:rPr lang="en-US" dirty="0" err="1"/>
              <a:t>legii</a:t>
            </a:r>
            <a:r>
              <a:rPr lang="en-US" dirty="0"/>
              <a:t>, </a:t>
            </a:r>
            <a:r>
              <a:rPr lang="en-US" dirty="0" err="1"/>
              <a:t>reclamantul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primească</a:t>
            </a:r>
            <a:r>
              <a:rPr lang="en-US" dirty="0"/>
              <a:t> un </a:t>
            </a:r>
            <a:r>
              <a:rPr lang="en-US" dirty="0" err="1"/>
              <a:t>răspuns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30 de </a:t>
            </a:r>
            <a:r>
              <a:rPr lang="en-US" dirty="0" err="1"/>
              <a:t>zile</a:t>
            </a:r>
            <a:r>
              <a:rPr lang="en-US" dirty="0"/>
              <a:t> de la data </a:t>
            </a:r>
            <a:r>
              <a:rPr lang="en-US" dirty="0" err="1"/>
              <a:t>depunerii</a:t>
            </a:r>
            <a:r>
              <a:rPr lang="en-US" dirty="0"/>
              <a:t> </a:t>
            </a:r>
            <a:r>
              <a:rPr lang="en-US" dirty="0" err="1"/>
              <a:t>sesizării</a:t>
            </a:r>
            <a:r>
              <a:rPr lang="en-US" dirty="0"/>
              <a:t>. </a:t>
            </a:r>
            <a:r>
              <a:rPr lang="en-US" dirty="0" err="1"/>
              <a:t>Inspectorii</a:t>
            </a:r>
            <a:r>
              <a:rPr lang="en-US" dirty="0"/>
              <a:t> </a:t>
            </a:r>
            <a:r>
              <a:rPr lang="en-US" dirty="0" err="1"/>
              <a:t>merg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control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primesc</a:t>
            </a:r>
            <a:r>
              <a:rPr lang="en-US" dirty="0"/>
              <a:t> </a:t>
            </a:r>
            <a:r>
              <a:rPr lang="en-US" dirty="0" err="1"/>
              <a:t>reclamaţia</a:t>
            </a:r>
            <a:r>
              <a:rPr lang="en-US" dirty="0"/>
              <a:t>, </a:t>
            </a:r>
            <a:r>
              <a:rPr lang="en-US" dirty="0" err="1"/>
              <a:t>constată</a:t>
            </a:r>
            <a:r>
              <a:rPr lang="en-US" dirty="0"/>
              <a:t> </a:t>
            </a:r>
            <a:r>
              <a:rPr lang="en-US" dirty="0" err="1"/>
              <a:t>deficienţele</a:t>
            </a:r>
            <a:r>
              <a:rPr lang="en-US" dirty="0"/>
              <a:t>, </a:t>
            </a:r>
            <a:r>
              <a:rPr lang="en-US" dirty="0" err="1"/>
              <a:t>dau</a:t>
            </a:r>
            <a:r>
              <a:rPr lang="en-US" dirty="0"/>
              <a:t> </a:t>
            </a:r>
            <a:r>
              <a:rPr lang="en-US" dirty="0" err="1"/>
              <a:t>amendă</a:t>
            </a:r>
            <a:r>
              <a:rPr lang="en-US" dirty="0"/>
              <a:t>,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operatorul</a:t>
            </a:r>
            <a:r>
              <a:rPr lang="en-US" dirty="0"/>
              <a:t> economic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despăgubească</a:t>
            </a:r>
            <a:r>
              <a:rPr lang="en-US" dirty="0"/>
              <a:t> pe </a:t>
            </a:r>
            <a:r>
              <a:rPr lang="en-US" dirty="0" err="1"/>
              <a:t>consumator</a:t>
            </a:r>
            <a:r>
              <a:rPr lang="en-US" dirty="0"/>
              <a:t>.</a:t>
            </a:r>
          </a:p>
          <a:p>
            <a:r>
              <a:rPr lang="en-US" dirty="0" err="1"/>
              <a:t>Cumpărătorul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primi</a:t>
            </a:r>
            <a:r>
              <a:rPr lang="en-US" dirty="0"/>
              <a:t> </a:t>
            </a:r>
            <a:r>
              <a:rPr lang="en-US" dirty="0" err="1"/>
              <a:t>daune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serviciului</a:t>
            </a:r>
            <a:r>
              <a:rPr lang="en-US" dirty="0"/>
              <a:t> </a:t>
            </a:r>
            <a:r>
              <a:rPr lang="en-US" dirty="0" err="1"/>
              <a:t>reclamat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dă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judecată</a:t>
            </a:r>
            <a:r>
              <a:rPr lang="en-US" dirty="0"/>
              <a:t> pe </a:t>
            </a:r>
            <a:r>
              <a:rPr lang="en-US" dirty="0" err="1"/>
              <a:t>operatorul</a:t>
            </a:r>
            <a:r>
              <a:rPr lang="en-US" dirty="0"/>
              <a:t> economic. (E.H.)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17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6E6531A-0776-43BA-A852-5FB5C77534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56085" y="533400"/>
            <a:ext cx="9079832" cy="5077326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8C5273F-2B84-46BF-A94F-1A20E13B3A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784605" y="763203"/>
            <a:ext cx="8622792" cy="461772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D455918-64B7-4FC2-B3BC-EF116FCD8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935" y="971530"/>
            <a:ext cx="8402130" cy="420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222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49E17D-6E4B-4153-8C53-05CCB766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Bibliografie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781CD4-A8C5-4DD0-BA9C-C2179A823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http://www.anpc.gov.ro/</a:t>
            </a:r>
            <a:endParaRPr lang="en-US" dirty="0"/>
          </a:p>
          <a:p>
            <a:r>
              <a:rPr lang="en-US" dirty="0">
                <a:hlinkClick r:id="rId3"/>
              </a:rPr>
              <a:t>https://ro.wikipedia.org/wiki/Autoritatea_Na%C8%9Bional%C4%83_pentru_Protec%C8%9Bia_Consumatorilor</a:t>
            </a:r>
            <a:endParaRPr lang="en-US" dirty="0"/>
          </a:p>
          <a:p>
            <a:r>
              <a:rPr lang="en-US" dirty="0">
                <a:hlinkClick r:id="rId4"/>
              </a:rPr>
              <a:t>https://www.gandul.info/stiri/cum-se-face-o-reclamatie-957832</a:t>
            </a:r>
            <a:endParaRPr lang="en-US" dirty="0"/>
          </a:p>
          <a:p>
            <a:r>
              <a:rPr lang="en-US" dirty="0">
                <a:hlinkClick r:id="rId5"/>
              </a:rPr>
              <a:t>https://www.infocons.ro/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911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279005-0567-4F43-A654-D5C2D409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1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</a:t>
            </a:r>
            <a:r>
              <a:rPr lang="ro-RO" sz="41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Ă MULȚUMESC PENTRU ATENȚIE !</a:t>
            </a:r>
            <a:endParaRPr lang="en-US" sz="41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 descr="Grinning Face with No Fill">
            <a:extLst>
              <a:ext uri="{FF2B5EF4-FFF2-40B4-BE49-F238E27FC236}">
                <a16:creationId xmlns:a16="http://schemas.microsoft.com/office/drawing/2014/main" xmlns="" id="{6E2E579D-89A7-4CBF-94DE-615FB6A96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567559" y="1477982"/>
            <a:ext cx="5056881" cy="5056881"/>
          </a:xfrm>
        </p:spPr>
      </p:pic>
    </p:spTree>
    <p:extLst>
      <p:ext uri="{BB962C8B-B14F-4D97-AF65-F5344CB8AC3E}">
        <p14:creationId xmlns:p14="http://schemas.microsoft.com/office/powerpoint/2010/main" val="409977224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1677</Words>
  <Application>Microsoft Office PowerPoint</Application>
  <PresentationFormat>Custom</PresentationFormat>
  <Paragraphs>156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Gallery</vt:lpstr>
      <vt:lpstr>Programul anpc</vt:lpstr>
      <vt:lpstr>Ce este anpc ?</vt:lpstr>
      <vt:lpstr>Istoricul anpc </vt:lpstr>
      <vt:lpstr>PowerPoint Presentation</vt:lpstr>
      <vt:lpstr>Președinți anpc din perioada 1992 – 2015 :</vt:lpstr>
      <vt:lpstr>În prezent :</vt:lpstr>
      <vt:lpstr>PowerPoint Presentation</vt:lpstr>
      <vt:lpstr>PowerPoint Presentation</vt:lpstr>
      <vt:lpstr>Atribuţiile ANPC în conformitate cu prevederile Hotărârii nr. 700/2012 privind organizarea şi funcţionarea Autorităţii Naţionale pentru Protecţia Consumatorilor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Reprezentantii asociatiilor de consumatori nu au drept de control </vt:lpstr>
      <vt:lpstr>Operatorii economici sunt sfatuiti:</vt:lpstr>
      <vt:lpstr> Comisarii Autoritatii Nationale pentru Protectia Consumatorilor au obligatia:</vt:lpstr>
      <vt:lpstr>Specimen legitimatie</vt:lpstr>
      <vt:lpstr>Entitati subordonate Anpc:</vt:lpstr>
      <vt:lpstr>LAREX </vt:lpstr>
      <vt:lpstr>Laborator pentru Analiza Calitatii Vinurilor si Bauturilor Alcoolice</vt:lpstr>
      <vt:lpstr>PowerPoint Presentation</vt:lpstr>
      <vt:lpstr>PowerPoint Presentation</vt:lpstr>
      <vt:lpstr>Metale Preţioase, Pietre Pretioase şi Proces Kimberley (DMPPPPK) </vt:lpstr>
      <vt:lpstr>Proiecte și campanii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ce situatii te poate ajuta ANPC? </vt:lpstr>
      <vt:lpstr>PowerPoint Presentation</vt:lpstr>
      <vt:lpstr>Ce este o reclamaţie / sesizare?</vt:lpstr>
      <vt:lpstr>Cine poate depune o reclamaţie la ANPC?</vt:lpstr>
      <vt:lpstr>Cum se depune o reclamatie la ANPC? </vt:lpstr>
      <vt:lpstr>PowerPoint Presentation</vt:lpstr>
      <vt:lpstr>PowerPoint Presentation</vt:lpstr>
      <vt:lpstr>Bibliografie</vt:lpstr>
      <vt:lpstr>VĂ MULȚUMESC PENTRU ATENȚIE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Programul anpc</dc:title>
  <dc:creator>Talida</dc:creator>
  <cp:lastModifiedBy>Windows User</cp:lastModifiedBy>
  <cp:revision>6</cp:revision>
  <dcterms:created xsi:type="dcterms:W3CDTF">2018-12-02T19:44:44Z</dcterms:created>
  <dcterms:modified xsi:type="dcterms:W3CDTF">2020-12-21T17:53:15Z</dcterms:modified>
</cp:coreProperties>
</file>